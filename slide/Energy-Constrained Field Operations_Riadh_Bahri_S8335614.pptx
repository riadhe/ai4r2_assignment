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1263" r:id="rId5"/>
    <p:sldId id="1123" r:id="rId6"/>
    <p:sldId id="1291" r:id="rId7"/>
    <p:sldId id="1293" r:id="rId8"/>
    <p:sldId id="1272" r:id="rId9"/>
    <p:sldId id="1292" r:id="rId10"/>
    <p:sldId id="1279" r:id="rId11"/>
    <p:sldId id="1276" r:id="rId12"/>
    <p:sldId id="1273" r:id="rId13"/>
    <p:sldId id="1296" r:id="rId14"/>
    <p:sldId id="1295" r:id="rId15"/>
    <p:sldId id="1281" r:id="rId16"/>
    <p:sldId id="1278" r:id="rId17"/>
    <p:sldId id="1294" r:id="rId18"/>
    <p:sldId id="536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FDB001F-9AA1-4EC1-8AC1-E7A51FB8FDB4}">
          <p14:sldIdLst>
            <p14:sldId id="1263"/>
          </p14:sldIdLst>
        </p14:section>
        <p14:section name="Project Framework" id="{9369463B-5C1F-4753-8E97-B79B897AD040}">
          <p14:sldIdLst>
            <p14:sldId id="1123"/>
            <p14:sldId id="1291"/>
            <p14:sldId id="1293"/>
            <p14:sldId id="1272"/>
            <p14:sldId id="1292"/>
            <p14:sldId id="1279"/>
            <p14:sldId id="1276"/>
            <p14:sldId id="1273"/>
            <p14:sldId id="1296"/>
            <p14:sldId id="1295"/>
            <p14:sldId id="1281"/>
            <p14:sldId id="1278"/>
            <p14:sldId id="1294"/>
            <p14:sldId id="5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B900"/>
    <a:srgbClr val="F2F2F2"/>
    <a:srgbClr val="1A1A1A"/>
    <a:srgbClr val="D2EEBF"/>
    <a:srgbClr val="E8E8E8"/>
    <a:srgbClr val="00ADB5"/>
    <a:srgbClr val="4472C4"/>
    <a:srgbClr val="3C9940"/>
    <a:srgbClr val="285691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111" autoAdjust="0"/>
  </p:normalViewPr>
  <p:slideViewPr>
    <p:cSldViewPr snapToGrid="0">
      <p:cViewPr varScale="1">
        <p:scale>
          <a:sx n="75" d="100"/>
          <a:sy n="75" d="100"/>
        </p:scale>
        <p:origin x="413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C707C8-80C2-9003-EB4F-D81DE9EF78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2B261-FF84-3A6A-3CEF-37E4D0BB87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837F9-B762-43A8-ABD8-5AE12275796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897B08-8207-4DC8-6A55-25A28ACB0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E886-C3D4-AE92-FAC9-ABDC9D55A7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24B0E-F977-4643-A272-BA14E8D052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134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52089-25C5-4BCD-9566-2ED35A3372EC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F8EAF-DD48-413F-8001-60FE000D7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312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45AA0-33B7-1351-DE69-8CBE2C24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9054E4-2CD5-13A2-40BC-29539E89A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536E053-DD46-55CB-2F3F-5A25045E7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75D773-9F68-BF06-8192-BF5BA6F19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2550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2334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22A8-DE51-E627-0A14-6F77079B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57BB2C-50F2-3B8B-87BA-969CC9ADE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5B27DF-CD73-F09C-5688-E6A726EC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F079AA-4C24-5A78-E98E-F67BCF77D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098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92E7E-3069-0812-3A22-3AD434A51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84E39DE-3B0D-7669-3CF1-FBA1EDF21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27DF08-6C7C-AB05-F6A5-DE68C2456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5077CD-8A82-DF40-921C-B3E4BE686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249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5D90-667F-FD35-CB7A-C021BBBD6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A17A898-D645-A73D-6508-A71A8D952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5DE9A79-2DDA-022B-C84F-C80221766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8BC445-5BB2-F3D1-89C5-5A9A9904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301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94D1E-FE7D-A94F-9D2A-DF9A6B22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499E67B-4B2E-1FD4-CCFC-6B23459E4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51A5647-0257-205D-E510-D66F6ACA1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CE89F1-4174-DD74-404B-0561393C7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8060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8506-0A6E-9E6C-B289-72AF2E5E3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86932B6-6FEA-921F-A737-5667C0911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1A61B8-29CE-60BB-E1CB-5EC260E4E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2182B5-C789-8680-885D-0F78C6EB4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8277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0233C-11D8-AB23-9883-BC0D8944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2421929-C159-4322-E31E-F5ABAC45F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9C4AD8D-6195-8B86-7F6C-8352A5985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D31DDE-8859-2C98-2053-D11591FC2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6302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DC9EE-A4EF-693A-4C18-192275854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C3B956-C89D-3B66-2383-A642BF2AF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436966B-5126-34D0-1DB3-A6674AB33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57FE20-1A3C-B283-34F3-F3AF22110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1625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746F2-340E-84FA-A5AF-64B6A6D36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B9035F4-681B-59DC-E2B5-1A3206182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737372F-A615-0F40-B7CE-340386D2F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47AC20-9B11-45FC-BE51-10F0FEDFA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324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E249B-94F5-54FD-01A3-0D85E2D7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677DB2-C243-B249-F2B2-8714AF50E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DCFDA53-6D49-177A-AFFB-1F928C276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0FC3BF-8C25-0594-B73D-831F754D5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9742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90B31-9C13-7EE3-FB82-EA56643F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E55B319-C19D-F58C-6663-E46CF2634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5EED30F-6B70-ACC9-4221-3B3349FE8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9B2F1A-A144-FD99-6EC1-787BA827E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950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AA9E5-3E27-4CFC-F37A-F648AB3F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53A32B4-2209-C0A0-1501-AF05BE3C4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163F7F5-1360-740B-F797-E9A591069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1460F6-84CE-8539-ECD7-10D9455CB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1073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E8111-D06B-6876-CB67-82BDD2C32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8E4416-7E5A-31B1-FBD6-2FE36E063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C3FF090-7747-E305-5B9D-5A638E910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3E6CAE-E41F-BA97-9F9B-4285AF8E5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70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attention 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F8EAF-DD48-413F-8001-60FE000D7EBD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1597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075D6A-0C98-E72A-D785-CE6682330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1577402-5CDC-10EF-8360-88A528CFE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D55BDA-6210-260E-C6E4-BB50BBB54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1EF2-AE39-47DD-A058-7FF36CA418C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CA6453-8F43-1246-16F1-DAE564926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DB7C30-DA08-A0F0-0858-4EDB6C3D0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493-39CC-4424-A555-6442197AE5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9618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F2C110-FBCB-DBB4-A96A-2606A221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6C35C6-2728-510E-0CA0-DC4834B5A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9A78D3-22FF-2831-FA8F-5F4BDCDC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1EF2-AE39-47DD-A058-7FF36CA418C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9D2643-2585-157F-C37F-1CC02268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EFB276-3D74-5255-987F-5BFDC1285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493-39CC-4424-A555-6442197AE5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595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D2DD67-C55D-82A1-EDC9-3E4617982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82CE2E-3B29-69BA-9590-FB47E494E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29426A-7D20-FE65-EBEB-C57348571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1EF2-AE39-47DD-A058-7FF36CA418C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F3E74A-FB13-007C-90FA-675BEE90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045CDB-C6EB-5DF3-7E2F-A854B01B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493-39CC-4424-A555-6442197AE5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968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DEF6B-D67D-BB6A-9D73-97840DB29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76AF33-CD3E-9719-9241-B8581F74C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D828E4-57A3-E598-71EE-4962167A7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FBB008-A548-8A0C-5F27-87414B6BC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1EF2-AE39-47DD-A058-7FF36CA418C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4FE0748-2B14-382C-E733-9E8451C8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17F650-AE46-1E3F-7718-35BB7912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493-39CC-4424-A555-6442197AE5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07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35EDFE-FCA4-D7E8-4EF6-24E86E12F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F3EACE-2D1D-AC3E-799B-9CF27A4C0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B3BDEC-B22F-E37A-88AE-79336B6AB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5FCB88-8B5F-682E-240B-6ACC5DE2A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FFAB679-8152-76F5-1413-613462BFF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C5BD00C-0F70-FE79-E20D-45F732846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1EF2-AE39-47DD-A058-7FF36CA418C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66B275D-C011-A35D-1BFD-ECF5D4F53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2B6DA46-9142-59B8-00ED-34B9303A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493-39CC-4424-A555-6442197AE5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173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A4858F-137D-C618-79DB-AC6F21C5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B8614C-F4C7-8DE6-5835-D09D1C59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1EF2-AE39-47DD-A058-7FF36CA418C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8A3D391-B7BA-62E8-AAF0-DF9A5B31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25BC59-BCBA-32B9-D53B-BE5B0ADA3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493-39CC-4424-A555-6442197AE5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798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9E88EFF-FA6A-9666-CF18-CD039E54D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1EF2-AE39-47DD-A058-7FF36CA418C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7653429-E490-7949-E2C4-176FED8B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0CE1D4-083D-31C0-B73B-D37961D1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493-39CC-4424-A555-6442197AE5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63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1E6071-7EC2-68AD-15F3-FE61AB0C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8C7F64-A021-8842-AA8B-08C77D6A8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9F6567B-8EBF-07BF-7E6D-E99AB3485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2E87A5-BED8-4218-9C0D-A37C4D3F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1EF2-AE39-47DD-A058-7FF36CA418C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8754F3D-72A2-6B33-99EC-C2A94C82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73D552-0FDF-752E-DC54-9C0ABA55D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493-39CC-4424-A555-6442197AE5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201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53FC0E-7EF2-F4CC-2537-D9EB7EC4F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FE734CE-603F-E03D-A901-2C8C45C48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CC4E1A-4029-37B2-4C3A-88E2E818B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9793970-8A6C-7AA2-2D6B-E31E90427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1EF2-AE39-47DD-A058-7FF36CA418C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749E5A-6FA2-51F2-0799-2A3CECB3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5CE168-9F8D-CF00-5923-8566594D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493-39CC-4424-A555-6442197AE5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167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3E155C-46E1-A6FB-C932-E59E3731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83578-E883-3B8B-B495-142B32259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E0C68B-AA6B-1A64-2D50-33EE81D0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1EF2-AE39-47DD-A058-7FF36CA418C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D18B9E-C1D1-7502-A235-44AE30C96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B25CFD-581E-9B52-EB9D-492FB497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493-39CC-4424-A555-6442197AE5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6299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57DA1F8-EDD5-2C52-AEF8-0A35A1543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784232-2745-CF75-A375-0AFECE280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0D38D2-EB57-1F49-8E95-675505086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1EF2-AE39-47DD-A058-7FF36CA418C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D5521-3F68-2E1B-B34E-2C079F4F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877F4B-3FC2-6A90-C19A-E095C30E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493-39CC-4424-A555-6442197AE5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7486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123F8437-F5DA-463B-B795-7D5B647804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648572"/>
            <a:ext cx="10363200" cy="1057333"/>
          </a:xfrm>
        </p:spPr>
        <p:txBody>
          <a:bodyPr anchor="t">
            <a:noAutofit/>
          </a:bodyPr>
          <a:lstStyle>
            <a:lvl1pPr algn="ctr">
              <a:defRPr sz="64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6" name="サブタイトル 2">
            <a:extLst>
              <a:ext uri="{FF2B5EF4-FFF2-40B4-BE49-F238E27FC236}">
                <a16:creationId xmlns:a16="http://schemas.microsoft.com/office/drawing/2014/main" id="{5C4B60FC-A41C-4C9D-BCE0-A891F4329B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0974" y="5685251"/>
            <a:ext cx="10370052" cy="1008112"/>
          </a:xfrm>
        </p:spPr>
        <p:txBody>
          <a:bodyPr>
            <a:normAutofit/>
          </a:bodyPr>
          <a:lstStyle>
            <a:lvl1pPr marL="0" indent="0" algn="ctr">
              <a:buNone/>
              <a:defRPr sz="1333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544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9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4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7" name="テキスト プレースホルダー 8">
            <a:extLst>
              <a:ext uri="{FF2B5EF4-FFF2-40B4-BE49-F238E27FC236}">
                <a16:creationId xmlns:a16="http://schemas.microsoft.com/office/drawing/2014/main" id="{C27D0DF6-12D7-4B68-90B6-7424E844A5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974" y="3669060"/>
            <a:ext cx="10370052" cy="576031"/>
          </a:xfrm>
        </p:spPr>
        <p:txBody>
          <a:bodyPr anchor="b">
            <a:noAutofit/>
          </a:bodyPr>
          <a:lstStyle>
            <a:lvl1pPr algn="ctr">
              <a:defRPr sz="2667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3338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9546A53-E046-9B0E-0448-2CB39BA1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538F2B-E521-0DF0-C723-04AD82AB6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E58CC2-3761-C8CB-CA2D-8EE939285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01EF2-AE39-47DD-A058-7FF36CA418C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FA90F9-B78E-3EB9-9287-941D520F5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B770F4-79C2-6983-30C9-AF09D19BD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DD493-39CC-4424-A555-6442197AE5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5625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gi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gif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239EF-53B8-7672-AF2E-7255E92F2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93305C9-DC22-3AE2-B71F-C86EB1977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6" y="363646"/>
            <a:ext cx="2444748" cy="109335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507251D-12AB-3E83-211E-BAA13B829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560" y="4855090"/>
            <a:ext cx="1458715" cy="11883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6609406-3584-C5BE-8FE6-B916CF9858FF}"/>
              </a:ext>
            </a:extLst>
          </p:cNvPr>
          <p:cNvSpPr/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5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570E4A-6CF8-DB28-E821-61A260DA6385}"/>
              </a:ext>
            </a:extLst>
          </p:cNvPr>
          <p:cNvSpPr/>
          <p:nvPr/>
        </p:nvSpPr>
        <p:spPr>
          <a:xfrm>
            <a:off x="0" y="2425844"/>
            <a:ext cx="12192000" cy="182312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3C9940"/>
              </a:solidFill>
            </a:endParaRP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46B71CB0-1785-7DDE-F95E-221EC96C5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767" y="2883105"/>
            <a:ext cx="9970468" cy="134880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ja-JP" sz="4800" b="1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Energy-Constrained Field Operations</a:t>
            </a:r>
            <a:endParaRPr kumimoji="1" lang="ja-JP" altLang="en-US" sz="4800" b="1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AE381-C066-67EB-98E8-B6A5B419049F}"/>
              </a:ext>
            </a:extLst>
          </p:cNvPr>
          <p:cNvSpPr/>
          <p:nvPr/>
        </p:nvSpPr>
        <p:spPr>
          <a:xfrm>
            <a:off x="2299970" y="363646"/>
            <a:ext cx="7589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TN" sz="1200" dirty="0"/>
              <a:t>DEPARTMENT OF INFORMATICS, BIOENGINEERING</a:t>
            </a:r>
            <a:r>
              <a:rPr lang="fr-FR" sz="1200" dirty="0"/>
              <a:t> ,</a:t>
            </a:r>
          </a:p>
          <a:p>
            <a:pPr algn="ctr"/>
            <a:r>
              <a:rPr lang="fr-TN" sz="1200" dirty="0"/>
              <a:t> ROBOTICS AND SYSTEM ENGINEERING</a:t>
            </a:r>
            <a:endParaRPr lang="fr-FR" sz="1200" dirty="0"/>
          </a:p>
          <a:p>
            <a:pPr algn="ctr"/>
            <a:r>
              <a:rPr lang="fr-TN" sz="1200" dirty="0"/>
              <a:t>DIBRIS</a:t>
            </a:r>
            <a:endParaRPr lang="fr-FR" sz="1200" dirty="0"/>
          </a:p>
          <a:p>
            <a:pPr algn="ctr"/>
            <a:r>
              <a:rPr lang="fr-FR" sz="1200" dirty="0"/>
              <a:t>UNIVERSITY OF GENOVA 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8D954F3D-3685-177F-8DF1-35ABAC6E5DCF}"/>
              </a:ext>
            </a:extLst>
          </p:cNvPr>
          <p:cNvSpPr txBox="1"/>
          <p:nvPr/>
        </p:nvSpPr>
        <p:spPr>
          <a:xfrm>
            <a:off x="3120335" y="4248966"/>
            <a:ext cx="5845163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>
              <a:lnSpc>
                <a:spcPct val="150000"/>
              </a:lnSpc>
              <a:defRPr/>
            </a:pPr>
            <a:r>
              <a:rPr lang="fr-TN" sz="2400" b="1" dirty="0"/>
              <a:t> ARTIFICIAL INTELLIGENCE FOR ROBOTICS II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FAFA1-3475-DDBD-BC09-8F4534388D09}"/>
              </a:ext>
            </a:extLst>
          </p:cNvPr>
          <p:cNvSpPr/>
          <p:nvPr/>
        </p:nvSpPr>
        <p:spPr>
          <a:xfrm>
            <a:off x="1973179" y="1433360"/>
            <a:ext cx="79163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TN" sz="2400" b="1" dirty="0"/>
              <a:t>TEAM </a:t>
            </a:r>
            <a:r>
              <a:rPr lang="fr-FR" sz="2400" b="1" dirty="0"/>
              <a:t>D8 </a:t>
            </a:r>
            <a:r>
              <a:rPr lang="fr-TN" sz="2400" dirty="0"/>
              <a:t>: </a:t>
            </a:r>
            <a:r>
              <a:rPr lang="fr-FR" sz="2400" dirty="0"/>
              <a:t>Agricultural </a:t>
            </a:r>
            <a:r>
              <a:rPr lang="fr-FR" sz="2400" dirty="0" err="1"/>
              <a:t>Robotics</a:t>
            </a:r>
            <a:endParaRPr lang="fr-TN" sz="2400" dirty="0"/>
          </a:p>
          <a:p>
            <a:pPr algn="ctr"/>
            <a:r>
              <a:rPr lang="fr-TN" sz="2400" dirty="0"/>
              <a:t> </a:t>
            </a:r>
            <a:r>
              <a:rPr lang="fr-TN" sz="2400" b="1" dirty="0" err="1"/>
              <a:t>Assignment</a:t>
            </a:r>
            <a:r>
              <a:rPr lang="fr-TN" sz="2400" b="1" dirty="0"/>
              <a:t> </a:t>
            </a:r>
            <a:r>
              <a:rPr lang="fr-FR" sz="2400" b="1" dirty="0"/>
              <a:t>5</a:t>
            </a:r>
            <a:r>
              <a:rPr lang="fr-TN" sz="2400" b="1" dirty="0"/>
              <a:t>:</a:t>
            </a:r>
            <a:endParaRPr lang="fr-FR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49CA6-79A4-C810-FA8F-D1F5D6BE8875}"/>
              </a:ext>
            </a:extLst>
          </p:cNvPr>
          <p:cNvSpPr/>
          <p:nvPr/>
        </p:nvSpPr>
        <p:spPr>
          <a:xfrm>
            <a:off x="2299970" y="6526987"/>
            <a:ext cx="758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0" i="0" dirty="0">
                <a:effectLst/>
              </a:rPr>
              <a:t>2025 - 2026</a:t>
            </a:r>
            <a:endParaRPr lang="fr-FR" sz="1200" dirty="0"/>
          </a:p>
        </p:txBody>
      </p:sp>
      <p:sp>
        <p:nvSpPr>
          <p:cNvPr id="4" name="テキスト プレースホルダー 6">
            <a:extLst>
              <a:ext uri="{FF2B5EF4-FFF2-40B4-BE49-F238E27FC236}">
                <a16:creationId xmlns:a16="http://schemas.microsoft.com/office/drawing/2014/main" id="{FA202882-6896-AB4C-BC8C-C3FF05AC538F}"/>
              </a:ext>
            </a:extLst>
          </p:cNvPr>
          <p:cNvSpPr txBox="1">
            <a:spLocks/>
          </p:cNvSpPr>
          <p:nvPr/>
        </p:nvSpPr>
        <p:spPr>
          <a:xfrm>
            <a:off x="1110764" y="4810455"/>
            <a:ext cx="2444747" cy="1477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60963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fr-FR" sz="1800" b="1" kern="0" dirty="0">
                <a:cs typeface="Arial" panose="020B0604020202020204" pitchFamily="34" charset="0"/>
                <a:sym typeface="Arial"/>
              </a:rPr>
              <a:t>Professor : </a:t>
            </a:r>
          </a:p>
          <a:p>
            <a:pPr marL="0" indent="0" algn="just" defTabSz="60963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fr-FR" sz="1800" kern="0" dirty="0">
                <a:cs typeface="Arial" panose="020B0604020202020204" pitchFamily="34" charset="0"/>
                <a:sym typeface="Arial"/>
              </a:rPr>
              <a:t>FULVIO MASTROGIOVANNI </a:t>
            </a:r>
          </a:p>
          <a:p>
            <a:pPr marL="0" indent="0" algn="just" defTabSz="60963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endParaRPr lang="fr-FR" sz="18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  <a:sym typeface="Arial"/>
            </a:endParaRPr>
          </a:p>
          <a:p>
            <a:pPr marL="0" indent="0" algn="just" defTabSz="60963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fr-FR" sz="1800" b="1" kern="0" dirty="0">
                <a:cs typeface="Arial" panose="020B0604020202020204" pitchFamily="34" charset="0"/>
                <a:sym typeface="Arial"/>
              </a:rPr>
              <a:t>Tutor : </a:t>
            </a:r>
          </a:p>
          <a:p>
            <a:pPr marL="0" indent="0" algn="just" defTabSz="60963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fr-FR" sz="1800" kern="0" dirty="0">
                <a:cs typeface="Arial" panose="020B0604020202020204" pitchFamily="34" charset="0"/>
                <a:sym typeface="Arial"/>
              </a:rPr>
              <a:t>OMAR KASHMAR</a:t>
            </a:r>
            <a:endParaRPr lang="ja-JP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  <a:p>
            <a:pPr algn="r"/>
            <a:endParaRPr lang="en-US" altLang="ja-JP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8C257F9-A2E6-C7CB-6738-28CA498F4AAF}"/>
              </a:ext>
            </a:extLst>
          </p:cNvPr>
          <p:cNvSpPr txBox="1"/>
          <p:nvPr/>
        </p:nvSpPr>
        <p:spPr>
          <a:xfrm>
            <a:off x="8633949" y="4810455"/>
            <a:ext cx="24472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b="1" dirty="0"/>
              <a:t>Author :</a:t>
            </a:r>
          </a:p>
          <a:p>
            <a:r>
              <a:rPr lang="fr-FR" dirty="0"/>
              <a:t>RIADH BAHRI  </a:t>
            </a:r>
          </a:p>
          <a:p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fr-FR" b="1" dirty="0"/>
              <a:t>Student ID:</a:t>
            </a:r>
          </a:p>
          <a:p>
            <a:r>
              <a:rPr lang="fr-FR" dirty="0"/>
              <a:t>S8335614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8CD0C99-8FF4-EF34-499D-CA98E8DC97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855" y="335572"/>
            <a:ext cx="1348809" cy="134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56686"/>
      </p:ext>
    </p:extLst>
  </p:cSld>
  <p:clrMapOvr>
    <a:masterClrMapping/>
  </p:clrMapOvr>
  <p:transition spd="slow" advTm="2145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5286F0-BB21-8922-8A8E-4538E0F8B9D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kern="0" spc="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PROBLEM &amp; DOMAIN 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399F0-F259-7E43-6884-124F9ABD15D8}"/>
              </a:ext>
            </a:extLst>
          </p:cNvPr>
          <p:cNvSpPr txBox="1"/>
          <p:nvPr/>
        </p:nvSpPr>
        <p:spPr>
          <a:xfrm>
            <a:off x="5565131" y="1851645"/>
            <a:ext cx="870751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900" dirty="0">
                <a:latin typeface="Bahnschrift SemiBold Condensed" panose="020B0502040204020203" pitchFamily="34" charset="0"/>
              </a:rPr>
              <a:t>1</a:t>
            </a:r>
          </a:p>
        </p:txBody>
      </p:sp>
      <p:sp>
        <p:nvSpPr>
          <p:cNvPr id="11" name="Espace réservé du numéro de diapositive 2">
            <a:extLst>
              <a:ext uri="{FF2B5EF4-FFF2-40B4-BE49-F238E27FC236}">
                <a16:creationId xmlns:a16="http://schemas.microsoft.com/office/drawing/2014/main" id="{C451D4B3-37FD-2867-EF5D-CD884099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56EB41-D803-01B6-1493-C2D17B7C37A3}"/>
              </a:ext>
            </a:extLst>
          </p:cNvPr>
          <p:cNvSpPr/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172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7494">
        <p14:flythrough/>
      </p:transition>
    </mc:Choice>
    <mc:Fallback xmlns="">
      <p:transition spd="slow" advTm="749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15E3-25C9-46FB-D97A-4622427C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F3EB89DF-3F0E-38D9-D2B3-B45145B0950D}"/>
              </a:ext>
            </a:extLst>
          </p:cNvPr>
          <p:cNvSpPr/>
          <p:nvPr/>
        </p:nvSpPr>
        <p:spPr>
          <a:xfrm>
            <a:off x="6682613" y="1642275"/>
            <a:ext cx="5306180" cy="37398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>
            <a:solidFill>
              <a:srgbClr val="76B900"/>
            </a:solidFill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A3C83D-EECA-5DD3-3759-0C4D2F17D680}"/>
              </a:ext>
            </a:extLst>
          </p:cNvPr>
          <p:cNvSpPr/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CB25A8-4B16-6737-177F-658FDBA7748B}"/>
              </a:ext>
            </a:extLst>
          </p:cNvPr>
          <p:cNvSpPr txBox="1"/>
          <p:nvPr/>
        </p:nvSpPr>
        <p:spPr>
          <a:xfrm>
            <a:off x="946779" y="999264"/>
            <a:ext cx="3552905" cy="408623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2A1F"/>
                </a:solidFill>
                <a:ea typeface="Cambria" pitchFamily="34" charset="-122"/>
                <a:cs typeface="Cambria" pitchFamily="34" charset="-120"/>
              </a:rPr>
              <a:t>One robot, four jobs, one battery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D89211-9CFB-54EE-AD3F-1500B0FBE6E3}"/>
              </a:ext>
            </a:extLst>
          </p:cNvPr>
          <p:cNvSpPr/>
          <p:nvPr/>
        </p:nvSpPr>
        <p:spPr>
          <a:xfrm>
            <a:off x="2724759" y="94647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9683041-E318-B74F-C34C-3E05DF57E9F2}"/>
              </a:ext>
            </a:extLst>
          </p:cNvPr>
          <p:cNvSpPr/>
          <p:nvPr/>
        </p:nvSpPr>
        <p:spPr>
          <a:xfrm>
            <a:off x="2724759" y="91064"/>
            <a:ext cx="509907" cy="340519"/>
          </a:xfrm>
          <a:prstGeom prst="roundRect">
            <a:avLst/>
          </a:prstGeom>
          <a:solidFill>
            <a:srgbClr val="76B9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7E8BC09-6E75-8DDC-B18C-C94BFFC6A8D1}"/>
              </a:ext>
            </a:extLst>
          </p:cNvPr>
          <p:cNvSpPr/>
          <p:nvPr/>
        </p:nvSpPr>
        <p:spPr>
          <a:xfrm>
            <a:off x="3989842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2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54A6981-DC4B-2FD0-D7B2-4A66C40AA18D}"/>
              </a:ext>
            </a:extLst>
          </p:cNvPr>
          <p:cNvSpPr/>
          <p:nvPr/>
        </p:nvSpPr>
        <p:spPr>
          <a:xfrm>
            <a:off x="5254861" y="89602"/>
            <a:ext cx="509907" cy="340519"/>
          </a:xfrm>
          <a:prstGeom prst="round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56683C7-9879-0323-8455-62094D10D206}"/>
              </a:ext>
            </a:extLst>
          </p:cNvPr>
          <p:cNvSpPr/>
          <p:nvPr/>
        </p:nvSpPr>
        <p:spPr>
          <a:xfrm>
            <a:off x="6335017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B3331A-75BE-C5D8-6DF5-61F70F35F445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-13253" y="259862"/>
            <a:ext cx="2738012" cy="14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2B1A62F0-0326-C786-6983-EAAF1D12E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2330F6-BBE6-0E96-5BD2-2DA44A799517}"/>
              </a:ext>
            </a:extLst>
          </p:cNvPr>
          <p:cNvSpPr txBox="1"/>
          <p:nvPr/>
        </p:nvSpPr>
        <p:spPr>
          <a:xfrm>
            <a:off x="2288150" y="437997"/>
            <a:ext cx="13382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Problem</a:t>
            </a:r>
            <a:r>
              <a:rPr lang="fr-FR" sz="1000" dirty="0"/>
              <a:t> &amp; Domain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D3A3A9-0C8F-A903-3CA4-5A2D2045CF58}"/>
              </a:ext>
            </a:extLst>
          </p:cNvPr>
          <p:cNvSpPr txBox="1"/>
          <p:nvPr/>
        </p:nvSpPr>
        <p:spPr>
          <a:xfrm>
            <a:off x="5989739" y="446564"/>
            <a:ext cx="11831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Reflections</a:t>
            </a:r>
            <a:endParaRPr lang="fr-FR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9A9AF9-174B-F42D-8853-94965B304D61}"/>
              </a:ext>
            </a:extLst>
          </p:cNvPr>
          <p:cNvSpPr txBox="1"/>
          <p:nvPr/>
        </p:nvSpPr>
        <p:spPr>
          <a:xfrm>
            <a:off x="3626372" y="446564"/>
            <a:ext cx="1083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Design </a:t>
            </a:r>
            <a:r>
              <a:rPr lang="fr-FR" sz="1000" dirty="0" err="1"/>
              <a:t>choices</a:t>
            </a:r>
            <a:r>
              <a:rPr lang="fr-FR" sz="10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6FAE0C-7774-4D95-421E-6316E16810E2}"/>
              </a:ext>
            </a:extLst>
          </p:cNvPr>
          <p:cNvSpPr txBox="1"/>
          <p:nvPr/>
        </p:nvSpPr>
        <p:spPr>
          <a:xfrm>
            <a:off x="4671553" y="446564"/>
            <a:ext cx="15559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Results</a:t>
            </a:r>
            <a:endParaRPr lang="fr-FR" sz="1000" dirty="0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35449666-ED2B-BC7B-212F-AEBF8FC8B39E}"/>
              </a:ext>
            </a:extLst>
          </p:cNvPr>
          <p:cNvCxnSpPr>
            <a:cxnSpLocks/>
          </p:cNvCxnSpPr>
          <p:nvPr/>
        </p:nvCxnSpPr>
        <p:spPr>
          <a:xfrm>
            <a:off x="3234666" y="247256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239277CF-5F8D-C645-1354-9E43D6E4B962}"/>
              </a:ext>
            </a:extLst>
          </p:cNvPr>
          <p:cNvCxnSpPr>
            <a:cxnSpLocks/>
          </p:cNvCxnSpPr>
          <p:nvPr/>
        </p:nvCxnSpPr>
        <p:spPr>
          <a:xfrm>
            <a:off x="4499685" y="259862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31">
            <a:extLst>
              <a:ext uri="{FF2B5EF4-FFF2-40B4-BE49-F238E27FC236}">
                <a16:creationId xmlns:a16="http://schemas.microsoft.com/office/drawing/2014/main" id="{B9AD1C36-FFF0-1567-800F-0C3509D3CD06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5764768" y="255658"/>
            <a:ext cx="570249" cy="5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: Rounded Corners 4">
            <a:extLst>
              <a:ext uri="{FF2B5EF4-FFF2-40B4-BE49-F238E27FC236}">
                <a16:creationId xmlns:a16="http://schemas.microsoft.com/office/drawing/2014/main" id="{01CBBC82-B7F4-E211-D49F-45BE156EF0F6}"/>
              </a:ext>
            </a:extLst>
          </p:cNvPr>
          <p:cNvSpPr/>
          <p:nvPr/>
        </p:nvSpPr>
        <p:spPr>
          <a:xfrm>
            <a:off x="946780" y="1642275"/>
            <a:ext cx="5388238" cy="820669"/>
          </a:xfrm>
          <a:prstGeom prst="roundRect">
            <a:avLst/>
          </a:prstGeom>
          <a:gradFill flip="none" rotWithShape="1">
            <a:gsLst>
              <a:gs pos="0">
                <a:srgbClr val="76B900">
                  <a:tint val="66000"/>
                  <a:satMod val="160000"/>
                </a:srgbClr>
              </a:gs>
              <a:gs pos="50000">
                <a:srgbClr val="76B900">
                  <a:tint val="44500"/>
                  <a:satMod val="160000"/>
                </a:srgbClr>
              </a:gs>
              <a:gs pos="100000">
                <a:srgbClr val="76B9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5F209A54-161B-8D83-44C7-47848E03CCB8}"/>
              </a:ext>
            </a:extLst>
          </p:cNvPr>
          <p:cNvSpPr/>
          <p:nvPr/>
        </p:nvSpPr>
        <p:spPr>
          <a:xfrm>
            <a:off x="2752983" y="1801906"/>
            <a:ext cx="34934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dock (D) and four plots (P1–P4) on a connected graph.</a:t>
            </a:r>
            <a:endParaRPr lang="en-US" dirty="0"/>
          </a:p>
        </p:txBody>
      </p:sp>
      <p:pic>
        <p:nvPicPr>
          <p:cNvPr id="5" name="Image 0" descr="img/fig_q1_topology.png">
            <a:extLst>
              <a:ext uri="{FF2B5EF4-FFF2-40B4-BE49-F238E27FC236}">
                <a16:creationId xmlns:a16="http://schemas.microsoft.com/office/drawing/2014/main" id="{3E2F983F-168C-5473-3739-6508DCCBE2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883" t="9825" r="10373" b="16"/>
          <a:stretch>
            <a:fillRect/>
          </a:stretch>
        </p:blipFill>
        <p:spPr>
          <a:xfrm>
            <a:off x="5989739" y="1438007"/>
            <a:ext cx="6143616" cy="3944136"/>
          </a:xfrm>
          <a:prstGeom prst="rect">
            <a:avLst/>
          </a:prstGeom>
        </p:spPr>
      </p:pic>
      <p:sp>
        <p:nvSpPr>
          <p:cNvPr id="15" name="Text 28">
            <a:extLst>
              <a:ext uri="{FF2B5EF4-FFF2-40B4-BE49-F238E27FC236}">
                <a16:creationId xmlns:a16="http://schemas.microsoft.com/office/drawing/2014/main" id="{539A577C-F6DC-0751-F13A-00B38A90F012}"/>
              </a:ext>
            </a:extLst>
          </p:cNvPr>
          <p:cNvSpPr/>
          <p:nvPr/>
        </p:nvSpPr>
        <p:spPr>
          <a:xfrm>
            <a:off x="1633422" y="1956122"/>
            <a:ext cx="2277134" cy="191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ea typeface="Georgia" pitchFamily="34" charset="-122"/>
                <a:cs typeface="Georgia" pitchFamily="34" charset="-120"/>
              </a:rPr>
              <a:t>1 – Field </a:t>
            </a:r>
            <a:endParaRPr lang="en-US" sz="2000" b="1" dirty="0"/>
          </a:p>
        </p:txBody>
      </p:sp>
      <p:sp>
        <p:nvSpPr>
          <p:cNvPr id="16" name="Rectangle: Rounded Corners 4">
            <a:extLst>
              <a:ext uri="{FF2B5EF4-FFF2-40B4-BE49-F238E27FC236}">
                <a16:creationId xmlns:a16="http://schemas.microsoft.com/office/drawing/2014/main" id="{BBBA6ED0-C017-BECB-B8C0-15DED985DCAE}"/>
              </a:ext>
            </a:extLst>
          </p:cNvPr>
          <p:cNvSpPr/>
          <p:nvPr/>
        </p:nvSpPr>
        <p:spPr>
          <a:xfrm>
            <a:off x="946779" y="2796958"/>
            <a:ext cx="5388238" cy="820669"/>
          </a:xfrm>
          <a:prstGeom prst="roundRect">
            <a:avLst/>
          </a:prstGeom>
          <a:gradFill flip="none" rotWithShape="1">
            <a:gsLst>
              <a:gs pos="0">
                <a:srgbClr val="76B900">
                  <a:tint val="66000"/>
                  <a:satMod val="160000"/>
                </a:srgbClr>
              </a:gs>
              <a:gs pos="50000">
                <a:srgbClr val="76B900">
                  <a:tint val="44500"/>
                  <a:satMod val="160000"/>
                </a:srgbClr>
              </a:gs>
              <a:gs pos="100000">
                <a:srgbClr val="76B9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3FF70087-1B46-2B3A-81A0-6F22081D361B}"/>
              </a:ext>
            </a:extLst>
          </p:cNvPr>
          <p:cNvSpPr/>
          <p:nvPr/>
        </p:nvSpPr>
        <p:spPr>
          <a:xfrm>
            <a:off x="2771989" y="2952875"/>
            <a:ext cx="34934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plot needs one task: monitor, water, fertilize, harvest.</a:t>
            </a:r>
            <a:endParaRPr lang="en-US" dirty="0"/>
          </a:p>
        </p:txBody>
      </p:sp>
      <p:sp>
        <p:nvSpPr>
          <p:cNvPr id="18" name="Text 28">
            <a:extLst>
              <a:ext uri="{FF2B5EF4-FFF2-40B4-BE49-F238E27FC236}">
                <a16:creationId xmlns:a16="http://schemas.microsoft.com/office/drawing/2014/main" id="{690D82C2-6BCE-AEEA-A823-E7BE6DC1BEA9}"/>
              </a:ext>
            </a:extLst>
          </p:cNvPr>
          <p:cNvSpPr/>
          <p:nvPr/>
        </p:nvSpPr>
        <p:spPr>
          <a:xfrm>
            <a:off x="1633422" y="2935530"/>
            <a:ext cx="2831867" cy="47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ea typeface="Cambria" pitchFamily="34" charset="-122"/>
                <a:cs typeface="Cambria" pitchFamily="34" charset="-120"/>
              </a:rPr>
              <a:t>2 - Jobs</a:t>
            </a:r>
            <a:endParaRPr lang="en-US" sz="2000" dirty="0"/>
          </a:p>
        </p:txBody>
      </p:sp>
      <p:sp>
        <p:nvSpPr>
          <p:cNvPr id="19" name="Rectangle: Rounded Corners 4">
            <a:extLst>
              <a:ext uri="{FF2B5EF4-FFF2-40B4-BE49-F238E27FC236}">
                <a16:creationId xmlns:a16="http://schemas.microsoft.com/office/drawing/2014/main" id="{2B19EE91-11EC-FF54-FE8E-CC38569A9084}"/>
              </a:ext>
            </a:extLst>
          </p:cNvPr>
          <p:cNvSpPr/>
          <p:nvPr/>
        </p:nvSpPr>
        <p:spPr>
          <a:xfrm>
            <a:off x="946779" y="4009349"/>
            <a:ext cx="5388238" cy="820669"/>
          </a:xfrm>
          <a:prstGeom prst="roundRect">
            <a:avLst/>
          </a:prstGeom>
          <a:gradFill flip="none" rotWithShape="1">
            <a:gsLst>
              <a:gs pos="0">
                <a:srgbClr val="76B900">
                  <a:tint val="66000"/>
                  <a:satMod val="160000"/>
                </a:srgbClr>
              </a:gs>
              <a:gs pos="50000">
                <a:srgbClr val="76B900">
                  <a:tint val="44500"/>
                  <a:satMod val="160000"/>
                </a:srgbClr>
              </a:gs>
              <a:gs pos="100000">
                <a:srgbClr val="76B9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300DD224-6926-7110-7FE7-3E790CE81CA7}"/>
              </a:ext>
            </a:extLst>
          </p:cNvPr>
          <p:cNvSpPr/>
          <p:nvPr/>
        </p:nvSpPr>
        <p:spPr>
          <a:xfrm>
            <a:off x="2718589" y="4153928"/>
            <a:ext cx="34934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move and task drains a 100-unit battery; only the dock recharges.</a:t>
            </a:r>
            <a:endParaRPr lang="en-US" dirty="0"/>
          </a:p>
        </p:txBody>
      </p:sp>
      <p:sp>
        <p:nvSpPr>
          <p:cNvPr id="21" name="Text 28">
            <a:extLst>
              <a:ext uri="{FF2B5EF4-FFF2-40B4-BE49-F238E27FC236}">
                <a16:creationId xmlns:a16="http://schemas.microsoft.com/office/drawing/2014/main" id="{0C16632F-0387-24F7-B008-9E0C870F97EF}"/>
              </a:ext>
            </a:extLst>
          </p:cNvPr>
          <p:cNvSpPr/>
          <p:nvPr/>
        </p:nvSpPr>
        <p:spPr>
          <a:xfrm>
            <a:off x="1562667" y="4168223"/>
            <a:ext cx="2682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ea typeface="Georgia" pitchFamily="34" charset="-122"/>
                <a:cs typeface="Georgia" pitchFamily="34" charset="-120"/>
              </a:rPr>
              <a:t>3 - Energy</a:t>
            </a:r>
            <a:endParaRPr lang="en-US" sz="2000" b="1" dirty="0"/>
          </a:p>
        </p:txBody>
      </p:sp>
      <p:sp>
        <p:nvSpPr>
          <p:cNvPr id="23" name="Rectangle: Rounded Corners 4">
            <a:extLst>
              <a:ext uri="{FF2B5EF4-FFF2-40B4-BE49-F238E27FC236}">
                <a16:creationId xmlns:a16="http://schemas.microsoft.com/office/drawing/2014/main" id="{0BB89A6F-7290-4A87-AB43-9290D95BD94A}"/>
              </a:ext>
            </a:extLst>
          </p:cNvPr>
          <p:cNvSpPr/>
          <p:nvPr/>
        </p:nvSpPr>
        <p:spPr>
          <a:xfrm>
            <a:off x="946779" y="5212894"/>
            <a:ext cx="5388238" cy="820669"/>
          </a:xfrm>
          <a:prstGeom prst="roundRect">
            <a:avLst/>
          </a:prstGeom>
          <a:gradFill flip="none" rotWithShape="1">
            <a:gsLst>
              <a:gs pos="0">
                <a:srgbClr val="76B900">
                  <a:tint val="66000"/>
                  <a:satMod val="160000"/>
                </a:srgbClr>
              </a:gs>
              <a:gs pos="50000">
                <a:srgbClr val="76B900">
                  <a:tint val="44500"/>
                  <a:satMod val="160000"/>
                </a:srgbClr>
              </a:gs>
              <a:gs pos="100000">
                <a:srgbClr val="76B9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E80DE5A0-103E-8906-4B29-C34D3A35B9C8}"/>
              </a:ext>
            </a:extLst>
          </p:cNvPr>
          <p:cNvSpPr/>
          <p:nvPr/>
        </p:nvSpPr>
        <p:spPr>
          <a:xfrm>
            <a:off x="2752983" y="5361125"/>
            <a:ext cx="34934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Find an action sequence that finishes all jobs without hitting zero.</a:t>
            </a:r>
            <a:endParaRPr lang="en-US" dirty="0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BDA972D0-74EF-6024-34B1-D073756F377D}"/>
              </a:ext>
            </a:extLst>
          </p:cNvPr>
          <p:cNvSpPr/>
          <p:nvPr/>
        </p:nvSpPr>
        <p:spPr>
          <a:xfrm>
            <a:off x="1519048" y="5369726"/>
            <a:ext cx="2682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ea typeface="Georgia" pitchFamily="34" charset="-122"/>
                <a:cs typeface="Georgia" pitchFamily="34" charset="-120"/>
              </a:rPr>
              <a:t> 4 - Goal</a:t>
            </a:r>
            <a:endParaRPr lang="en-US" sz="2000" b="1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C6C7BBDA-3496-DDC8-13C3-931D544BC69C}"/>
              </a:ext>
            </a:extLst>
          </p:cNvPr>
          <p:cNvSpPr/>
          <p:nvPr/>
        </p:nvSpPr>
        <p:spPr>
          <a:xfrm>
            <a:off x="6736080" y="5455206"/>
            <a:ext cx="5199246" cy="50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field as a cost graph — edges priced, load added on top.</a:t>
            </a:r>
            <a:endParaRPr lang="en-US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C473AC6-247A-EC4F-5ADF-4F4167CC5F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38" y="1799609"/>
            <a:ext cx="484965" cy="484965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8A71B08A-1E0D-624F-EAB9-A4C582B645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916" y="2922731"/>
            <a:ext cx="550401" cy="550401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0904E93E-548C-4875-E6DE-9F12606BDD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916" y="4213251"/>
            <a:ext cx="432887" cy="432887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6667FEFE-79EB-CA4F-B3CD-712947D808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889" y="5399290"/>
            <a:ext cx="419035" cy="4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5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339"/>
    </mc:Choice>
    <mc:Fallback xmlns="">
      <p:transition advTm="5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51" grpId="0" animBg="1"/>
      <p:bldP spid="27" grpId="0" animBg="1"/>
      <p:bldP spid="2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5" grpId="0" animBg="1"/>
      <p:bldP spid="26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CC961-A269-6B91-89D2-BFD2DFD3D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347F149B-E5E3-9119-4C91-5883078D75C1}"/>
              </a:ext>
            </a:extLst>
          </p:cNvPr>
          <p:cNvSpPr/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9ACCE3-3C34-608F-B90B-54C99E307CEF}"/>
              </a:ext>
            </a:extLst>
          </p:cNvPr>
          <p:cNvSpPr txBox="1"/>
          <p:nvPr/>
        </p:nvSpPr>
        <p:spPr>
          <a:xfrm>
            <a:off x="946780" y="999264"/>
            <a:ext cx="3745655" cy="408623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2A1F"/>
                </a:solidFill>
                <a:ea typeface="Cambria" pitchFamily="34" charset="-122"/>
                <a:cs typeface="Cambria" pitchFamily="34" charset="-120"/>
              </a:rPr>
              <a:t>Two models of the same field</a:t>
            </a:r>
            <a:endParaRPr lang="en-US" dirty="0"/>
          </a:p>
        </p:txBody>
      </p: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468D4CA0-A7FE-CD48-3B3C-9FDF4817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3</a:t>
            </a:r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37FF5B38-0FEF-AE45-8FE8-EBB4D49E62AD}"/>
              </a:ext>
            </a:extLst>
          </p:cNvPr>
          <p:cNvSpPr txBox="1"/>
          <p:nvPr/>
        </p:nvSpPr>
        <p:spPr>
          <a:xfrm>
            <a:off x="1125545" y="1551762"/>
            <a:ext cx="1041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TN" dirty="0"/>
              <a:t>Both </a:t>
            </a:r>
            <a:r>
              <a:rPr lang="fr-TN" dirty="0" err="1"/>
              <a:t>models</a:t>
            </a:r>
            <a:r>
              <a:rPr lang="fr-TN" dirty="0"/>
              <a:t> plan on the </a:t>
            </a:r>
            <a:r>
              <a:rPr lang="fr-TN" dirty="0" err="1"/>
              <a:t>same</a:t>
            </a:r>
            <a:r>
              <a:rPr lang="fr-TN" dirty="0"/>
              <a:t> </a:t>
            </a:r>
            <a:r>
              <a:rPr lang="fr-TN" dirty="0" err="1"/>
              <a:t>field</a:t>
            </a:r>
            <a:r>
              <a:rPr lang="fr-TN" dirty="0"/>
              <a:t>; </a:t>
            </a:r>
            <a:r>
              <a:rPr lang="fr-TN" dirty="0" err="1"/>
              <a:t>they</a:t>
            </a:r>
            <a:r>
              <a:rPr lang="fr-TN" dirty="0"/>
              <a:t> </a:t>
            </a:r>
            <a:r>
              <a:rPr lang="fr-TN" dirty="0" err="1"/>
              <a:t>differ</a:t>
            </a:r>
            <a:r>
              <a:rPr lang="fr-TN" dirty="0"/>
              <a:t> </a:t>
            </a:r>
            <a:r>
              <a:rPr lang="fr-TN" dirty="0" err="1"/>
              <a:t>only</a:t>
            </a:r>
            <a:r>
              <a:rPr lang="fr-TN" dirty="0"/>
              <a:t> in how </a:t>
            </a:r>
            <a:r>
              <a:rPr lang="fr-TN" dirty="0" err="1"/>
              <a:t>energy</a:t>
            </a:r>
            <a:r>
              <a:rPr lang="fr-TN" dirty="0"/>
              <a:t> </a:t>
            </a:r>
            <a:r>
              <a:rPr lang="fr-TN" dirty="0" err="1"/>
              <a:t>is</a:t>
            </a:r>
            <a:r>
              <a:rPr lang="fr-TN" dirty="0"/>
              <a:t> </a:t>
            </a:r>
            <a:r>
              <a:rPr lang="fr-TN" dirty="0" err="1"/>
              <a:t>counted</a:t>
            </a:r>
            <a:r>
              <a:rPr lang="fr-TN" dirty="0"/>
              <a:t>.</a:t>
            </a: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1610C2-F9F2-F536-4C41-0D063E388C9C}"/>
              </a:ext>
            </a:extLst>
          </p:cNvPr>
          <p:cNvSpPr/>
          <p:nvPr/>
        </p:nvSpPr>
        <p:spPr>
          <a:xfrm>
            <a:off x="1649967" y="2159893"/>
            <a:ext cx="4160755" cy="3650597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>
            <a:solidFill>
              <a:srgbClr val="76B900"/>
            </a:solidFill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A2C0D056-6B8A-AF3E-DEBF-4CEE3CCEFB3A}"/>
              </a:ext>
            </a:extLst>
          </p:cNvPr>
          <p:cNvSpPr/>
          <p:nvPr/>
        </p:nvSpPr>
        <p:spPr>
          <a:xfrm>
            <a:off x="1924288" y="2388494"/>
            <a:ext cx="3676946" cy="588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6B900"/>
                </a:solidFill>
                <a:ea typeface="Cambria" pitchFamily="34" charset="-122"/>
                <a:cs typeface="Cambria" pitchFamily="34" charset="-120"/>
              </a:rPr>
              <a:t>Q1 — Discrete (PDDL)</a:t>
            </a:r>
            <a:endParaRPr lang="en-US" sz="2000" dirty="0">
              <a:solidFill>
                <a:srgbClr val="76B900"/>
              </a:solidFill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BEE1D884-13C8-1592-8932-776EEA4B24D0}"/>
              </a:ext>
            </a:extLst>
          </p:cNvPr>
          <p:cNvSpPr/>
          <p:nvPr/>
        </p:nvSpPr>
        <p:spPr>
          <a:xfrm>
            <a:off x="1970007" y="2937133"/>
            <a:ext cx="3580185" cy="2472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1F"/>
                </a:solidFill>
                <a:ea typeface="Calibri" pitchFamily="34" charset="-122"/>
                <a:cs typeface="Calibri" pitchFamily="34" charset="-120"/>
              </a:rPr>
              <a:t>Energy is a number that drops one jump per action.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1F"/>
                </a:solidFill>
                <a:ea typeface="Calibri" pitchFamily="34" charset="-122"/>
                <a:cs typeface="Calibri" pitchFamily="34" charset="-120"/>
              </a:rPr>
              <a:t>Recharge is instant (assign to full).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fr-TN" sz="1600" dirty="0"/>
              <a:t>Move </a:t>
            </a:r>
            <a:r>
              <a:rPr lang="fr-TN" sz="1600" dirty="0" err="1"/>
              <a:t>cost</a:t>
            </a:r>
            <a:r>
              <a:rPr lang="fr-TN" sz="1600" dirty="0"/>
              <a:t> = </a:t>
            </a:r>
            <a:r>
              <a:rPr lang="fr-TN" sz="1600" dirty="0" err="1"/>
              <a:t>edge</a:t>
            </a:r>
            <a:r>
              <a:rPr lang="fr-TN" sz="1600" dirty="0"/>
              <a:t> </a:t>
            </a:r>
            <a:r>
              <a:rPr lang="fr-TN" sz="1600" dirty="0" err="1"/>
              <a:t>cost</a:t>
            </a:r>
            <a:r>
              <a:rPr lang="fr-TN" sz="1600" dirty="0"/>
              <a:t> + </a:t>
            </a:r>
            <a:r>
              <a:rPr lang="fr-TN" sz="1600" dirty="0" err="1"/>
              <a:t>current</a:t>
            </a:r>
            <a:r>
              <a:rPr lang="fr-TN" sz="1600" dirty="0"/>
              <a:t> </a:t>
            </a:r>
            <a:r>
              <a:rPr lang="fr-TN" sz="1600" dirty="0" err="1"/>
              <a:t>load</a:t>
            </a:r>
            <a:r>
              <a:rPr lang="fr-TN" sz="1600" dirty="0"/>
              <a:t>.</a:t>
            </a:r>
            <a:endParaRPr lang="fr-FR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fr-TN" sz="1600" dirty="0"/>
              <a:t>Operations change the </a:t>
            </a:r>
            <a:r>
              <a:rPr lang="fr-TN" sz="1600" dirty="0" err="1"/>
              <a:t>load</a:t>
            </a:r>
            <a:r>
              <a:rPr lang="fr-TN" sz="1600" dirty="0"/>
              <a:t>: water/</a:t>
            </a:r>
            <a:r>
              <a:rPr lang="fr-TN" sz="1600" dirty="0" err="1"/>
              <a:t>fertilize</a:t>
            </a:r>
            <a:r>
              <a:rPr lang="fr-TN" sz="1600" dirty="0"/>
              <a:t> −5, </a:t>
            </a:r>
            <a:r>
              <a:rPr lang="fr-TN" sz="1600" dirty="0" err="1"/>
              <a:t>harvest</a:t>
            </a:r>
            <a:r>
              <a:rPr lang="fr-TN" sz="1600" dirty="0"/>
              <a:t> +5. </a:t>
            </a:r>
            <a:endParaRPr lang="fr-FR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1F"/>
                </a:solidFill>
                <a:ea typeface="Calibri" pitchFamily="34" charset="-122"/>
                <a:cs typeface="Calibri" pitchFamily="34" charset="-120"/>
              </a:rPr>
              <a:t>Fast, easy to verify by hand.</a:t>
            </a:r>
            <a:endParaRPr lang="en-US" sz="1600" dirty="0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84FD2705-F7DD-EEE2-4903-56780FA8ADA9}"/>
              </a:ext>
            </a:extLst>
          </p:cNvPr>
          <p:cNvGrpSpPr/>
          <p:nvPr/>
        </p:nvGrpSpPr>
        <p:grpSpPr>
          <a:xfrm>
            <a:off x="6788895" y="2159893"/>
            <a:ext cx="4160755" cy="3650598"/>
            <a:chOff x="6788896" y="2102267"/>
            <a:chExt cx="3931920" cy="2834640"/>
          </a:xfrm>
          <a:solidFill>
            <a:srgbClr val="76B900"/>
          </a:solidFill>
        </p:grpSpPr>
        <p:sp>
          <p:nvSpPr>
            <p:cNvPr id="20" name="Shape 5">
              <a:extLst>
                <a:ext uri="{FF2B5EF4-FFF2-40B4-BE49-F238E27FC236}">
                  <a16:creationId xmlns:a16="http://schemas.microsoft.com/office/drawing/2014/main" id="{CF8B35EC-321B-7022-FF18-B3C38F51972E}"/>
                </a:ext>
              </a:extLst>
            </p:cNvPr>
            <p:cNvSpPr/>
            <p:nvPr/>
          </p:nvSpPr>
          <p:spPr>
            <a:xfrm>
              <a:off x="6788896" y="2102267"/>
              <a:ext cx="3931920" cy="2834640"/>
            </a:xfrm>
            <a:prstGeom prst="roundRect">
              <a:avLst>
                <a:gd name="adj" fmla="val 3226"/>
              </a:avLst>
            </a:prstGeom>
            <a:grpFill/>
            <a:ln>
              <a:solidFill>
                <a:schemeClr val="tx1"/>
              </a:solidFill>
            </a:ln>
            <a:effectLst>
              <a:outerShdw blurRad="88900" dist="38100" dir="54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6FC0D39B-998A-3AF1-BD2D-15E45E024957}"/>
                </a:ext>
              </a:extLst>
            </p:cNvPr>
            <p:cNvSpPr/>
            <p:nvPr/>
          </p:nvSpPr>
          <p:spPr>
            <a:xfrm>
              <a:off x="7063216" y="2330867"/>
              <a:ext cx="3474720" cy="45720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ea typeface="Cambria" pitchFamily="34" charset="-122"/>
                  <a:cs typeface="Cambria" pitchFamily="34" charset="-120"/>
                </a:rPr>
                <a:t>Q2 — Continuous (PDDL+)</a:t>
              </a:r>
              <a:endParaRPr lang="en-US" sz="2000" dirty="0"/>
            </a:p>
          </p:txBody>
        </p:sp>
        <p:sp>
          <p:nvSpPr>
            <p:cNvPr id="25" name="Text 7">
              <a:extLst>
                <a:ext uri="{FF2B5EF4-FFF2-40B4-BE49-F238E27FC236}">
                  <a16:creationId xmlns:a16="http://schemas.microsoft.com/office/drawing/2014/main" id="{B5322709-2EDE-0731-0984-A58FDAF56A57}"/>
                </a:ext>
              </a:extLst>
            </p:cNvPr>
            <p:cNvSpPr/>
            <p:nvPr/>
          </p:nvSpPr>
          <p:spPr>
            <a:xfrm>
              <a:off x="7108936" y="2879507"/>
              <a:ext cx="3383280" cy="192024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spcAft>
                  <a:spcPts val="800"/>
                </a:spcAft>
                <a:buSzPct val="10000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Energy drains over time via processes.</a:t>
              </a:r>
              <a:endParaRPr lang="en-US" sz="1600" dirty="0">
                <a:solidFill>
                  <a:schemeClr val="bg1"/>
                </a:solidFill>
              </a:endParaRPr>
            </a:p>
            <a:p>
              <a:pPr marL="342900" indent="-342900">
                <a:spcAft>
                  <a:spcPts val="800"/>
                </a:spcAft>
                <a:buSzPct val="10000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Recharge takes real seconds — the robot waits.</a:t>
              </a:r>
              <a:endParaRPr lang="en-US" sz="1600" dirty="0">
                <a:solidFill>
                  <a:schemeClr val="bg1"/>
                </a:solidFill>
              </a:endParaRPr>
            </a:p>
            <a:p>
              <a:pPr marL="342900" indent="-342900">
                <a:spcAft>
                  <a:spcPts val="800"/>
                </a:spcAft>
                <a:buSzPct val="100000"/>
                <a:buChar char="•"/>
              </a:pPr>
              <a:r>
                <a:rPr lang="fr-TN" sz="1600" dirty="0">
                  <a:solidFill>
                    <a:schemeClr val="bg1"/>
                  </a:solidFill>
                </a:rPr>
                <a:t>Move </a:t>
              </a:r>
              <a:r>
                <a:rPr lang="fr-TN" sz="1600" dirty="0" err="1">
                  <a:solidFill>
                    <a:schemeClr val="bg1"/>
                  </a:solidFill>
                </a:rPr>
                <a:t>cost</a:t>
              </a:r>
              <a:r>
                <a:rPr lang="fr-TN" sz="1600" dirty="0">
                  <a:solidFill>
                    <a:schemeClr val="bg1"/>
                  </a:solidFill>
                </a:rPr>
                <a:t> = </a:t>
              </a:r>
              <a:r>
                <a:rPr lang="fr-TN" sz="1600" dirty="0" err="1">
                  <a:solidFill>
                    <a:schemeClr val="bg1"/>
                  </a:solidFill>
                </a:rPr>
                <a:t>Δt</a:t>
              </a:r>
              <a:r>
                <a:rPr lang="fr-TN" sz="1600" dirty="0">
                  <a:solidFill>
                    <a:schemeClr val="bg1"/>
                  </a:solidFill>
                </a:rPr>
                <a:t> × (terrain rate + </a:t>
              </a:r>
              <a:r>
                <a:rPr lang="fr-TN" sz="1600" dirty="0" err="1">
                  <a:solidFill>
                    <a:schemeClr val="bg1"/>
                  </a:solidFill>
                </a:rPr>
                <a:t>load</a:t>
              </a:r>
              <a:r>
                <a:rPr lang="fr-TN" sz="1600" dirty="0">
                  <a:solidFill>
                    <a:schemeClr val="bg1"/>
                  </a:solidFill>
                </a:rPr>
                <a:t>). </a:t>
              </a:r>
              <a:endParaRPr lang="fr-FR" sz="1600" dirty="0">
                <a:solidFill>
                  <a:schemeClr val="bg1"/>
                </a:solidFill>
              </a:endParaRPr>
            </a:p>
            <a:p>
              <a:pPr marL="342900" indent="-342900">
                <a:spcAft>
                  <a:spcPts val="800"/>
                </a:spcAft>
                <a:buSzPct val="100000"/>
                <a:buChar char="•"/>
              </a:pPr>
              <a:r>
                <a:rPr lang="fr-TN" sz="1600" dirty="0">
                  <a:solidFill>
                    <a:schemeClr val="bg1"/>
                  </a:solidFill>
                </a:rPr>
                <a:t>Start/stop actions </a:t>
              </a:r>
              <a:r>
                <a:rPr lang="fr-TN" sz="1600" dirty="0" err="1">
                  <a:solidFill>
                    <a:schemeClr val="bg1"/>
                  </a:solidFill>
                </a:rPr>
                <a:t>with</a:t>
              </a:r>
              <a:r>
                <a:rPr lang="fr-TN" sz="1600" dirty="0">
                  <a:solidFill>
                    <a:schemeClr val="bg1"/>
                  </a:solidFill>
                </a:rPr>
                <a:t> a </a:t>
              </a:r>
              <a:r>
                <a:rPr lang="fr-TN" sz="1600" dirty="0" err="1">
                  <a:solidFill>
                    <a:schemeClr val="bg1"/>
                  </a:solidFill>
                </a:rPr>
                <a:t>timer</a:t>
              </a:r>
              <a:r>
                <a:rPr lang="fr-TN" sz="1600" dirty="0">
                  <a:solidFill>
                    <a:schemeClr val="bg1"/>
                  </a:solidFill>
                </a:rPr>
                <a:t> </a:t>
              </a:r>
              <a:r>
                <a:rPr lang="fr-TN" sz="1600" dirty="0" err="1">
                  <a:solidFill>
                    <a:schemeClr val="bg1"/>
                  </a:solidFill>
                </a:rPr>
                <a:t>make</a:t>
              </a:r>
              <a:r>
                <a:rPr lang="fr-TN" sz="1600" dirty="0">
                  <a:solidFill>
                    <a:schemeClr val="bg1"/>
                  </a:solidFill>
                </a:rPr>
                <a:t> duration </a:t>
              </a:r>
              <a:r>
                <a:rPr lang="fr-TN" sz="1600" dirty="0" err="1">
                  <a:solidFill>
                    <a:schemeClr val="bg1"/>
                  </a:solidFill>
                </a:rPr>
                <a:t>matter</a:t>
              </a:r>
              <a:r>
                <a:rPr lang="fr-TN" sz="1600" dirty="0">
                  <a:solidFill>
                    <a:schemeClr val="bg1"/>
                  </a:solidFill>
                </a:rPr>
                <a:t>. </a:t>
              </a:r>
              <a:endParaRPr lang="fr-FR" sz="1600" dirty="0">
                <a:solidFill>
                  <a:schemeClr val="bg1"/>
                </a:solidFill>
              </a:endParaRPr>
            </a:p>
            <a:p>
              <a:pPr marL="342900" indent="-342900">
                <a:spcAft>
                  <a:spcPts val="800"/>
                </a:spcAft>
                <a:buSzPct val="10000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Events guard depletion and overcharge.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Rectangle: Rounded Corners 5">
            <a:extLst>
              <a:ext uri="{FF2B5EF4-FFF2-40B4-BE49-F238E27FC236}">
                <a16:creationId xmlns:a16="http://schemas.microsoft.com/office/drawing/2014/main" id="{9654B923-C855-199B-316E-0F360C8AB2F3}"/>
              </a:ext>
            </a:extLst>
          </p:cNvPr>
          <p:cNvSpPr/>
          <p:nvPr/>
        </p:nvSpPr>
        <p:spPr>
          <a:xfrm>
            <a:off x="2724759" y="94647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30" name="Rectangle: Rounded Corners 47">
            <a:extLst>
              <a:ext uri="{FF2B5EF4-FFF2-40B4-BE49-F238E27FC236}">
                <a16:creationId xmlns:a16="http://schemas.microsoft.com/office/drawing/2014/main" id="{E8DBB564-EE53-8865-5961-5E7F31774A28}"/>
              </a:ext>
            </a:extLst>
          </p:cNvPr>
          <p:cNvSpPr/>
          <p:nvPr/>
        </p:nvSpPr>
        <p:spPr>
          <a:xfrm>
            <a:off x="2724759" y="91064"/>
            <a:ext cx="509907" cy="340519"/>
          </a:xfrm>
          <a:prstGeom prst="roundRect">
            <a:avLst/>
          </a:prstGeom>
          <a:solidFill>
            <a:srgbClr val="76B9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31" name="Rectangle: Rounded Corners 48">
            <a:extLst>
              <a:ext uri="{FF2B5EF4-FFF2-40B4-BE49-F238E27FC236}">
                <a16:creationId xmlns:a16="http://schemas.microsoft.com/office/drawing/2014/main" id="{2A71404C-C691-46DD-7E56-CB99CDA6968E}"/>
              </a:ext>
            </a:extLst>
          </p:cNvPr>
          <p:cNvSpPr/>
          <p:nvPr/>
        </p:nvSpPr>
        <p:spPr>
          <a:xfrm>
            <a:off x="3989842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2</a:t>
            </a:r>
          </a:p>
        </p:txBody>
      </p:sp>
      <p:sp>
        <p:nvSpPr>
          <p:cNvPr id="32" name="Rectangle: Rounded Corners 49">
            <a:extLst>
              <a:ext uri="{FF2B5EF4-FFF2-40B4-BE49-F238E27FC236}">
                <a16:creationId xmlns:a16="http://schemas.microsoft.com/office/drawing/2014/main" id="{2BC662E9-918F-5FAE-3229-F30442024564}"/>
              </a:ext>
            </a:extLst>
          </p:cNvPr>
          <p:cNvSpPr/>
          <p:nvPr/>
        </p:nvSpPr>
        <p:spPr>
          <a:xfrm>
            <a:off x="5254861" y="89602"/>
            <a:ext cx="509907" cy="340519"/>
          </a:xfrm>
          <a:prstGeom prst="round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3</a:t>
            </a:r>
          </a:p>
        </p:txBody>
      </p:sp>
      <p:sp>
        <p:nvSpPr>
          <p:cNvPr id="33" name="Rectangle: Rounded Corners 50">
            <a:extLst>
              <a:ext uri="{FF2B5EF4-FFF2-40B4-BE49-F238E27FC236}">
                <a16:creationId xmlns:a16="http://schemas.microsoft.com/office/drawing/2014/main" id="{4D78A023-BFB8-698F-43E2-78F6C96DB654}"/>
              </a:ext>
            </a:extLst>
          </p:cNvPr>
          <p:cNvSpPr/>
          <p:nvPr/>
        </p:nvSpPr>
        <p:spPr>
          <a:xfrm>
            <a:off x="6335017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4</a:t>
            </a:r>
          </a:p>
        </p:txBody>
      </p:sp>
      <p:cxnSp>
        <p:nvCxnSpPr>
          <p:cNvPr id="35" name="Straight Connector 2">
            <a:extLst>
              <a:ext uri="{FF2B5EF4-FFF2-40B4-BE49-F238E27FC236}">
                <a16:creationId xmlns:a16="http://schemas.microsoft.com/office/drawing/2014/main" id="{2E345A10-930C-F02E-48FE-379041673B46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-13253" y="259862"/>
            <a:ext cx="2738012" cy="14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6">
            <a:extLst>
              <a:ext uri="{FF2B5EF4-FFF2-40B4-BE49-F238E27FC236}">
                <a16:creationId xmlns:a16="http://schemas.microsoft.com/office/drawing/2014/main" id="{DEA23845-FBA9-E331-2A60-EF45AD5063EC}"/>
              </a:ext>
            </a:extLst>
          </p:cNvPr>
          <p:cNvSpPr txBox="1"/>
          <p:nvPr/>
        </p:nvSpPr>
        <p:spPr>
          <a:xfrm>
            <a:off x="2288150" y="437997"/>
            <a:ext cx="13382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Problem</a:t>
            </a:r>
            <a:r>
              <a:rPr lang="fr-FR" sz="1000" dirty="0"/>
              <a:t> &amp; Domain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DDAF58DB-C549-B4FC-8CF7-0D356E260A4A}"/>
              </a:ext>
            </a:extLst>
          </p:cNvPr>
          <p:cNvSpPr txBox="1"/>
          <p:nvPr/>
        </p:nvSpPr>
        <p:spPr>
          <a:xfrm>
            <a:off x="5989739" y="446564"/>
            <a:ext cx="11831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Reflections</a:t>
            </a:r>
            <a:endParaRPr lang="fr-FR" sz="1000" dirty="0"/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5522847C-B76B-AF98-6393-D6A1F6EB2006}"/>
              </a:ext>
            </a:extLst>
          </p:cNvPr>
          <p:cNvSpPr txBox="1"/>
          <p:nvPr/>
        </p:nvSpPr>
        <p:spPr>
          <a:xfrm>
            <a:off x="3626372" y="446564"/>
            <a:ext cx="1083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Design </a:t>
            </a:r>
            <a:r>
              <a:rPr lang="fr-FR" sz="1000" dirty="0" err="1"/>
              <a:t>choices</a:t>
            </a:r>
            <a:r>
              <a:rPr lang="fr-FR" sz="1000" dirty="0"/>
              <a:t> </a:t>
            </a:r>
          </a:p>
        </p:txBody>
      </p:sp>
      <p:sp>
        <p:nvSpPr>
          <p:cNvPr id="41" name="TextBox 13">
            <a:extLst>
              <a:ext uri="{FF2B5EF4-FFF2-40B4-BE49-F238E27FC236}">
                <a16:creationId xmlns:a16="http://schemas.microsoft.com/office/drawing/2014/main" id="{BAE5DA87-132C-2EFE-99FA-AE522568DFD4}"/>
              </a:ext>
            </a:extLst>
          </p:cNvPr>
          <p:cNvSpPr txBox="1"/>
          <p:nvPr/>
        </p:nvSpPr>
        <p:spPr>
          <a:xfrm>
            <a:off x="4671553" y="446564"/>
            <a:ext cx="15559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Results</a:t>
            </a:r>
            <a:endParaRPr lang="fr-FR" sz="1000" dirty="0"/>
          </a:p>
        </p:txBody>
      </p:sp>
      <p:cxnSp>
        <p:nvCxnSpPr>
          <p:cNvPr id="42" name="Straight Connector 31">
            <a:extLst>
              <a:ext uri="{FF2B5EF4-FFF2-40B4-BE49-F238E27FC236}">
                <a16:creationId xmlns:a16="http://schemas.microsoft.com/office/drawing/2014/main" id="{52C7A1D1-3B6E-423D-36A8-3633104C25B4}"/>
              </a:ext>
            </a:extLst>
          </p:cNvPr>
          <p:cNvCxnSpPr>
            <a:cxnSpLocks/>
          </p:cNvCxnSpPr>
          <p:nvPr/>
        </p:nvCxnSpPr>
        <p:spPr>
          <a:xfrm>
            <a:off x="3234666" y="247256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31">
            <a:extLst>
              <a:ext uri="{FF2B5EF4-FFF2-40B4-BE49-F238E27FC236}">
                <a16:creationId xmlns:a16="http://schemas.microsoft.com/office/drawing/2014/main" id="{37FBF50E-B52F-D578-D306-668BF49B35CF}"/>
              </a:ext>
            </a:extLst>
          </p:cNvPr>
          <p:cNvCxnSpPr>
            <a:cxnSpLocks/>
          </p:cNvCxnSpPr>
          <p:nvPr/>
        </p:nvCxnSpPr>
        <p:spPr>
          <a:xfrm>
            <a:off x="4499685" y="259862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31">
            <a:extLst>
              <a:ext uri="{FF2B5EF4-FFF2-40B4-BE49-F238E27FC236}">
                <a16:creationId xmlns:a16="http://schemas.microsoft.com/office/drawing/2014/main" id="{DAB65D1B-7F3C-FCE9-9AC3-7E1C5678D244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5764768" y="255658"/>
            <a:ext cx="570249" cy="5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21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339"/>
    </mc:Choice>
    <mc:Fallback xmlns="">
      <p:transition advTm="5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9" grpId="0"/>
      <p:bldP spid="4" grpId="0" animBg="1"/>
      <p:bldP spid="16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46A2-7AA2-9780-7069-DDEC55F49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C06BBE-7FCF-7628-30D6-6E70BF5B9287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DESIGN CHOICES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E10468-5134-CB8D-DC34-3D0F37FF335A}"/>
              </a:ext>
            </a:extLst>
          </p:cNvPr>
          <p:cNvSpPr txBox="1"/>
          <p:nvPr/>
        </p:nvSpPr>
        <p:spPr>
          <a:xfrm>
            <a:off x="5565131" y="1851645"/>
            <a:ext cx="1205779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900" dirty="0">
                <a:latin typeface="Bahnschrift SemiBold Condensed" panose="020B0502040204020203" pitchFamily="34" charset="0"/>
              </a:rPr>
              <a:t>2</a:t>
            </a:r>
          </a:p>
        </p:txBody>
      </p:sp>
      <p:sp>
        <p:nvSpPr>
          <p:cNvPr id="11" name="Espace réservé du numéro de diapositive 2">
            <a:extLst>
              <a:ext uri="{FF2B5EF4-FFF2-40B4-BE49-F238E27FC236}">
                <a16:creationId xmlns:a16="http://schemas.microsoft.com/office/drawing/2014/main" id="{D1F10E8D-438A-5B24-A476-70387818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1BA6AA-ED59-6209-3240-9A3207820EB1}"/>
              </a:ext>
            </a:extLst>
          </p:cNvPr>
          <p:cNvSpPr/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5059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7494">
        <p14:flythrough/>
      </p:transition>
    </mc:Choice>
    <mc:Fallback xmlns="">
      <p:transition spd="slow" advTm="749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5BF31-D62D-61BB-CE8D-16C6FD219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D1B337E7-4F02-9704-9B2C-6F0B834B0388}"/>
              </a:ext>
            </a:extLst>
          </p:cNvPr>
          <p:cNvSpPr/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0C86B-3C67-4CD9-140D-EDAF76654FA9}"/>
              </a:ext>
            </a:extLst>
          </p:cNvPr>
          <p:cNvSpPr txBox="1"/>
          <p:nvPr/>
        </p:nvSpPr>
        <p:spPr>
          <a:xfrm>
            <a:off x="946780" y="999264"/>
            <a:ext cx="4098654" cy="442674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/>
              <a:t>Numeric </a:t>
            </a:r>
            <a:r>
              <a:rPr lang="en-US" sz="2000" b="1" dirty="0" err="1"/>
              <a:t>fluents</a:t>
            </a:r>
            <a:r>
              <a:rPr lang="en-US" sz="2000" b="1" dirty="0"/>
              <a:t> &amp; the load coupling </a:t>
            </a:r>
          </a:p>
        </p:txBody>
      </p: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A40F1B8F-54F7-18E3-2D54-AED5BBCC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5</a:t>
            </a:r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125DA939-3D6D-5D8C-1E30-ADC2506983CA}"/>
              </a:ext>
            </a:extLst>
          </p:cNvPr>
          <p:cNvSpPr txBox="1"/>
          <p:nvPr/>
        </p:nvSpPr>
        <p:spPr>
          <a:xfrm>
            <a:off x="1155376" y="1550889"/>
            <a:ext cx="1041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rgbClr val="2C5F2D"/>
                </a:solidFill>
                <a:ea typeface="Calibri" pitchFamily="34" charset="-122"/>
                <a:cs typeface="Calibri" pitchFamily="34" charset="-120"/>
              </a:rPr>
              <a:t>Fluents</a:t>
            </a:r>
            <a:r>
              <a:rPr lang="en-US" b="1" u="sng" dirty="0">
                <a:solidFill>
                  <a:srgbClr val="2C5F2D"/>
                </a:solidFill>
                <a:ea typeface="Calibri" pitchFamily="34" charset="-122"/>
                <a:cs typeface="Calibri" pitchFamily="34" charset="-120"/>
              </a:rPr>
              <a:t>:  </a:t>
            </a:r>
            <a:r>
              <a:rPr lang="en-US" dirty="0">
                <a:solidFill>
                  <a:srgbClr val="1F2A1F"/>
                </a:solidFill>
                <a:ea typeface="Courier New" pitchFamily="34" charset="-122"/>
                <a:cs typeface="Courier New" pitchFamily="34" charset="-120"/>
              </a:rPr>
              <a:t>battery, capacity, load</a:t>
            </a:r>
            <a:r>
              <a:rPr lang="en-US" dirty="0">
                <a:solidFill>
                  <a:srgbClr val="1F2A1F"/>
                </a:solidFill>
                <a:ea typeface="Calibri" pitchFamily="34" charset="-122"/>
                <a:cs typeface="Calibri" pitchFamily="34" charset="-120"/>
              </a:rPr>
              <a:t>  , energy is a hard number, not </a:t>
            </a:r>
            <a:r>
              <a:rPr lang="en-US" dirty="0" err="1">
                <a:solidFill>
                  <a:srgbClr val="1F2A1F"/>
                </a:solidFill>
                <a:ea typeface="Calibri" pitchFamily="34" charset="-122"/>
                <a:cs typeface="Calibri" pitchFamily="34" charset="-120"/>
              </a:rPr>
              <a:t>boolean</a:t>
            </a:r>
            <a:r>
              <a:rPr lang="en-US" dirty="0">
                <a:solidFill>
                  <a:srgbClr val="1F2A1F"/>
                </a:solidFill>
                <a:ea typeface="Calibri" pitchFamily="34" charset="-122"/>
                <a:cs typeface="Calibri" pitchFamily="34" charset="-120"/>
              </a:rPr>
              <a:t> states.</a:t>
            </a:r>
            <a:endParaRPr lang="en-US" dirty="0"/>
          </a:p>
        </p:txBody>
      </p:sp>
      <p:grpSp>
        <p:nvGrpSpPr>
          <p:cNvPr id="111" name="Groupe 110">
            <a:extLst>
              <a:ext uri="{FF2B5EF4-FFF2-40B4-BE49-F238E27FC236}">
                <a16:creationId xmlns:a16="http://schemas.microsoft.com/office/drawing/2014/main" id="{B4D208AA-7C23-86E3-329B-730E24798027}"/>
              </a:ext>
            </a:extLst>
          </p:cNvPr>
          <p:cNvGrpSpPr/>
          <p:nvPr/>
        </p:nvGrpSpPr>
        <p:grpSpPr>
          <a:xfrm>
            <a:off x="7630620" y="2059950"/>
            <a:ext cx="3943699" cy="4145944"/>
            <a:chOff x="1215668" y="2296768"/>
            <a:chExt cx="2774174" cy="2244752"/>
          </a:xfrm>
        </p:grpSpPr>
        <p:sp>
          <p:nvSpPr>
            <p:cNvPr id="112" name="Shape 14">
              <a:extLst>
                <a:ext uri="{FF2B5EF4-FFF2-40B4-BE49-F238E27FC236}">
                  <a16:creationId xmlns:a16="http://schemas.microsoft.com/office/drawing/2014/main" id="{67094566-6EDF-226C-A998-CAA758C7F68A}"/>
                </a:ext>
              </a:extLst>
            </p:cNvPr>
            <p:cNvSpPr/>
            <p:nvPr/>
          </p:nvSpPr>
          <p:spPr>
            <a:xfrm>
              <a:off x="1215668" y="2296768"/>
              <a:ext cx="2774174" cy="2244752"/>
            </a:xfrm>
            <a:prstGeom prst="roundRect">
              <a:avLst>
                <a:gd name="adj" fmla="val 1449"/>
              </a:avLst>
            </a:prstGeom>
            <a:solidFill>
              <a:srgbClr val="F6F8F2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fr-TN" dirty="0"/>
            </a:p>
          </p:txBody>
        </p:sp>
        <p:sp>
          <p:nvSpPr>
            <p:cNvPr id="113" name="Shape 15">
              <a:extLst>
                <a:ext uri="{FF2B5EF4-FFF2-40B4-BE49-F238E27FC236}">
                  <a16:creationId xmlns:a16="http://schemas.microsoft.com/office/drawing/2014/main" id="{9F9C6F6D-6947-AFF0-0F9A-AD764373C650}"/>
                </a:ext>
              </a:extLst>
            </p:cNvPr>
            <p:cNvSpPr/>
            <p:nvPr/>
          </p:nvSpPr>
          <p:spPr>
            <a:xfrm>
              <a:off x="1215668" y="2296768"/>
              <a:ext cx="2774174" cy="45719"/>
            </a:xfrm>
            <a:prstGeom prst="rect">
              <a:avLst/>
            </a:prstGeom>
            <a:solidFill>
              <a:srgbClr val="76B900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fr-TN"/>
            </a:p>
          </p:txBody>
        </p:sp>
        <p:sp>
          <p:nvSpPr>
            <p:cNvPr id="114" name="Shape 18">
              <a:extLst>
                <a:ext uri="{FF2B5EF4-FFF2-40B4-BE49-F238E27FC236}">
                  <a16:creationId xmlns:a16="http://schemas.microsoft.com/office/drawing/2014/main" id="{1C0006B0-7E2C-B6BE-14C9-3E78652E0C00}"/>
                </a:ext>
              </a:extLst>
            </p:cNvPr>
            <p:cNvSpPr/>
            <p:nvPr/>
          </p:nvSpPr>
          <p:spPr>
            <a:xfrm>
              <a:off x="1352852" y="2859695"/>
              <a:ext cx="2499805" cy="0"/>
            </a:xfrm>
            <a:prstGeom prst="line">
              <a:avLst/>
            </a:prstGeom>
            <a:noFill/>
            <a:ln w="12700">
              <a:solidFill>
                <a:srgbClr val="E2E2E2"/>
              </a:solidFill>
              <a:prstDash val="solid"/>
            </a:ln>
          </p:spPr>
          <p:txBody>
            <a:bodyPr/>
            <a:lstStyle/>
            <a:p>
              <a:endParaRPr lang="fr-TN"/>
            </a:p>
          </p:txBody>
        </p:sp>
      </p:grpSp>
      <p:sp>
        <p:nvSpPr>
          <p:cNvPr id="132" name="TextBox 19">
            <a:extLst>
              <a:ext uri="{FF2B5EF4-FFF2-40B4-BE49-F238E27FC236}">
                <a16:creationId xmlns:a16="http://schemas.microsoft.com/office/drawing/2014/main" id="{50D8BC76-D23B-B677-14C0-1C5226A47ABE}"/>
              </a:ext>
            </a:extLst>
          </p:cNvPr>
          <p:cNvSpPr txBox="1"/>
          <p:nvPr/>
        </p:nvSpPr>
        <p:spPr>
          <a:xfrm>
            <a:off x="7966599" y="2405177"/>
            <a:ext cx="3651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Calibri (Corps)"/>
              </a:rPr>
              <a:t>Move </a:t>
            </a:r>
            <a:r>
              <a:rPr lang="fr-FR" sz="2000" b="1" dirty="0" err="1">
                <a:latin typeface="Calibri (Corps)"/>
              </a:rPr>
              <a:t>cost</a:t>
            </a:r>
            <a:r>
              <a:rPr lang="fr-FR" sz="2000" b="1" dirty="0">
                <a:latin typeface="Calibri (Corps)"/>
              </a:rPr>
              <a:t> </a:t>
            </a:r>
            <a:r>
              <a:rPr lang="fr-FR" sz="2000" dirty="0">
                <a:latin typeface="Calibri (Corps)"/>
              </a:rPr>
              <a:t>= </a:t>
            </a:r>
            <a:r>
              <a:rPr lang="fr-FR" sz="2000" dirty="0" err="1">
                <a:latin typeface="Calibri (Corps)"/>
              </a:rPr>
              <a:t>edge</a:t>
            </a:r>
            <a:r>
              <a:rPr lang="fr-FR" sz="2000" dirty="0">
                <a:latin typeface="Calibri (Corps)"/>
              </a:rPr>
              <a:t> </a:t>
            </a:r>
            <a:r>
              <a:rPr lang="fr-FR" sz="2000" dirty="0" err="1">
                <a:latin typeface="Calibri (Corps)"/>
              </a:rPr>
              <a:t>cost</a:t>
            </a:r>
            <a:r>
              <a:rPr lang="fr-FR" sz="2000" dirty="0">
                <a:latin typeface="Calibri (Corps)"/>
              </a:rPr>
              <a:t> + </a:t>
            </a:r>
            <a:r>
              <a:rPr lang="fr-FR" sz="2000" dirty="0" err="1">
                <a:latin typeface="Calibri (Corps)"/>
              </a:rPr>
              <a:t>load</a:t>
            </a:r>
            <a:r>
              <a:rPr lang="fr-FR" sz="2000" dirty="0">
                <a:latin typeface="Calibri (Corps)"/>
              </a:rPr>
              <a:t>  </a:t>
            </a:r>
          </a:p>
        </p:txBody>
      </p:sp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ECD68BF1-633D-9881-00B1-A34413D15733}"/>
              </a:ext>
            </a:extLst>
          </p:cNvPr>
          <p:cNvSpPr/>
          <p:nvPr/>
        </p:nvSpPr>
        <p:spPr>
          <a:xfrm>
            <a:off x="2724759" y="94647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4" name="Rectangle: Rounded Corners 47">
            <a:extLst>
              <a:ext uri="{FF2B5EF4-FFF2-40B4-BE49-F238E27FC236}">
                <a16:creationId xmlns:a16="http://schemas.microsoft.com/office/drawing/2014/main" id="{B626BD82-08DE-B8A0-3CEA-A6F93C57508B}"/>
              </a:ext>
            </a:extLst>
          </p:cNvPr>
          <p:cNvSpPr/>
          <p:nvPr/>
        </p:nvSpPr>
        <p:spPr>
          <a:xfrm>
            <a:off x="2724759" y="91064"/>
            <a:ext cx="509907" cy="340519"/>
          </a:xfrm>
          <a:prstGeom prst="round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15" name="Rectangle: Rounded Corners 48">
            <a:extLst>
              <a:ext uri="{FF2B5EF4-FFF2-40B4-BE49-F238E27FC236}">
                <a16:creationId xmlns:a16="http://schemas.microsoft.com/office/drawing/2014/main" id="{4658C9FB-ADA5-2FAC-065B-35440393B0DF}"/>
              </a:ext>
            </a:extLst>
          </p:cNvPr>
          <p:cNvSpPr/>
          <p:nvPr/>
        </p:nvSpPr>
        <p:spPr>
          <a:xfrm>
            <a:off x="3989842" y="91064"/>
            <a:ext cx="509907" cy="340519"/>
          </a:xfrm>
          <a:prstGeom prst="roundRect">
            <a:avLst/>
          </a:prstGeom>
          <a:solidFill>
            <a:srgbClr val="76B9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2</a:t>
            </a:r>
          </a:p>
        </p:txBody>
      </p:sp>
      <p:sp>
        <p:nvSpPr>
          <p:cNvPr id="16" name="Rectangle: Rounded Corners 49">
            <a:extLst>
              <a:ext uri="{FF2B5EF4-FFF2-40B4-BE49-F238E27FC236}">
                <a16:creationId xmlns:a16="http://schemas.microsoft.com/office/drawing/2014/main" id="{FBAF5802-69AC-245B-7806-D045D07CD358}"/>
              </a:ext>
            </a:extLst>
          </p:cNvPr>
          <p:cNvSpPr/>
          <p:nvPr/>
        </p:nvSpPr>
        <p:spPr>
          <a:xfrm>
            <a:off x="5254861" y="89602"/>
            <a:ext cx="509907" cy="340519"/>
          </a:xfrm>
          <a:prstGeom prst="round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3</a:t>
            </a:r>
          </a:p>
        </p:txBody>
      </p:sp>
      <p:sp>
        <p:nvSpPr>
          <p:cNvPr id="17" name="Rectangle: Rounded Corners 50">
            <a:extLst>
              <a:ext uri="{FF2B5EF4-FFF2-40B4-BE49-F238E27FC236}">
                <a16:creationId xmlns:a16="http://schemas.microsoft.com/office/drawing/2014/main" id="{24B6AA56-FC09-050F-CBB2-24E4AFD0CD26}"/>
              </a:ext>
            </a:extLst>
          </p:cNvPr>
          <p:cNvSpPr/>
          <p:nvPr/>
        </p:nvSpPr>
        <p:spPr>
          <a:xfrm>
            <a:off x="6335017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4</a:t>
            </a:r>
          </a:p>
        </p:txBody>
      </p:sp>
      <p:cxnSp>
        <p:nvCxnSpPr>
          <p:cNvPr id="18" name="Straight Connector 2">
            <a:extLst>
              <a:ext uri="{FF2B5EF4-FFF2-40B4-BE49-F238E27FC236}">
                <a16:creationId xmlns:a16="http://schemas.microsoft.com/office/drawing/2014/main" id="{60C7A61E-FF2B-AF80-9B6C-1AB139C551BA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-13253" y="259862"/>
            <a:ext cx="2738012" cy="14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6">
            <a:extLst>
              <a:ext uri="{FF2B5EF4-FFF2-40B4-BE49-F238E27FC236}">
                <a16:creationId xmlns:a16="http://schemas.microsoft.com/office/drawing/2014/main" id="{6773B7ED-B951-DC01-2501-1CCD4607B0CE}"/>
              </a:ext>
            </a:extLst>
          </p:cNvPr>
          <p:cNvSpPr txBox="1"/>
          <p:nvPr/>
        </p:nvSpPr>
        <p:spPr>
          <a:xfrm>
            <a:off x="2288150" y="437997"/>
            <a:ext cx="13382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Problem</a:t>
            </a:r>
            <a:r>
              <a:rPr lang="fr-FR" sz="1000" dirty="0"/>
              <a:t> &amp; Domain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8AA8FA7B-DCA1-9C3F-FEBA-BB12E9336A85}"/>
              </a:ext>
            </a:extLst>
          </p:cNvPr>
          <p:cNvSpPr txBox="1"/>
          <p:nvPr/>
        </p:nvSpPr>
        <p:spPr>
          <a:xfrm>
            <a:off x="5989739" y="446564"/>
            <a:ext cx="11831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Reflections</a:t>
            </a:r>
            <a:endParaRPr lang="fr-FR" sz="1000" dirty="0"/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C6D86C85-D99E-D7E2-74A8-60C43F0F700D}"/>
              </a:ext>
            </a:extLst>
          </p:cNvPr>
          <p:cNvSpPr txBox="1"/>
          <p:nvPr/>
        </p:nvSpPr>
        <p:spPr>
          <a:xfrm>
            <a:off x="3626372" y="446564"/>
            <a:ext cx="1083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Design </a:t>
            </a:r>
            <a:r>
              <a:rPr lang="fr-FR" sz="1000" dirty="0" err="1"/>
              <a:t>choices</a:t>
            </a:r>
            <a:r>
              <a:rPr lang="fr-FR" sz="1000" dirty="0"/>
              <a:t> 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D869EA0C-F0D3-45D9-DC8E-A58C2107586C}"/>
              </a:ext>
            </a:extLst>
          </p:cNvPr>
          <p:cNvSpPr txBox="1"/>
          <p:nvPr/>
        </p:nvSpPr>
        <p:spPr>
          <a:xfrm>
            <a:off x="4671553" y="446564"/>
            <a:ext cx="15559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Results</a:t>
            </a:r>
            <a:endParaRPr lang="fr-FR" sz="1000" dirty="0"/>
          </a:p>
        </p:txBody>
      </p:sp>
      <p:cxnSp>
        <p:nvCxnSpPr>
          <p:cNvPr id="23" name="Straight Connector 31">
            <a:extLst>
              <a:ext uri="{FF2B5EF4-FFF2-40B4-BE49-F238E27FC236}">
                <a16:creationId xmlns:a16="http://schemas.microsoft.com/office/drawing/2014/main" id="{82D0A5AB-B1A0-25E2-DAFE-291DA533575E}"/>
              </a:ext>
            </a:extLst>
          </p:cNvPr>
          <p:cNvCxnSpPr>
            <a:cxnSpLocks/>
          </p:cNvCxnSpPr>
          <p:nvPr/>
        </p:nvCxnSpPr>
        <p:spPr>
          <a:xfrm>
            <a:off x="3234666" y="247256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31">
            <a:extLst>
              <a:ext uri="{FF2B5EF4-FFF2-40B4-BE49-F238E27FC236}">
                <a16:creationId xmlns:a16="http://schemas.microsoft.com/office/drawing/2014/main" id="{5F9BAA7D-E9FF-63D3-6EAB-696EC565D98C}"/>
              </a:ext>
            </a:extLst>
          </p:cNvPr>
          <p:cNvCxnSpPr>
            <a:cxnSpLocks/>
          </p:cNvCxnSpPr>
          <p:nvPr/>
        </p:nvCxnSpPr>
        <p:spPr>
          <a:xfrm>
            <a:off x="4499685" y="259862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31">
            <a:extLst>
              <a:ext uri="{FF2B5EF4-FFF2-40B4-BE49-F238E27FC236}">
                <a16:creationId xmlns:a16="http://schemas.microsoft.com/office/drawing/2014/main" id="{9C09E86D-8E14-EBD0-494E-EC37624C1AD1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5764768" y="255658"/>
            <a:ext cx="570249" cy="5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Shape 18">
            <a:extLst>
              <a:ext uri="{FF2B5EF4-FFF2-40B4-BE49-F238E27FC236}">
                <a16:creationId xmlns:a16="http://schemas.microsoft.com/office/drawing/2014/main" id="{2006DAE5-E4A7-C30B-37F8-19CFE7B068AD}"/>
              </a:ext>
            </a:extLst>
          </p:cNvPr>
          <p:cNvSpPr/>
          <p:nvPr/>
        </p:nvSpPr>
        <p:spPr>
          <a:xfrm>
            <a:off x="7838052" y="4201953"/>
            <a:ext cx="3943698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2C2F8611-60BC-8C7E-7733-1B5820EA96C3}"/>
              </a:ext>
            </a:extLst>
          </p:cNvPr>
          <p:cNvSpPr txBox="1"/>
          <p:nvPr/>
        </p:nvSpPr>
        <p:spPr>
          <a:xfrm>
            <a:off x="7966596" y="3278544"/>
            <a:ext cx="3651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Calibri (Corps)"/>
              </a:rPr>
              <a:t>Water / </a:t>
            </a:r>
            <a:r>
              <a:rPr lang="fr-FR" sz="2000" b="1" dirty="0" err="1">
                <a:latin typeface="Calibri (Corps)"/>
              </a:rPr>
              <a:t>Fertilize</a:t>
            </a:r>
            <a:r>
              <a:rPr lang="fr-FR" sz="2000" b="1" dirty="0">
                <a:latin typeface="Calibri (Corps)"/>
              </a:rPr>
              <a:t> </a:t>
            </a:r>
            <a:r>
              <a:rPr lang="fr-FR" sz="2000" dirty="0">
                <a:latin typeface="Calibri (Corps)"/>
              </a:rPr>
              <a:t>: - 5 </a:t>
            </a:r>
            <a:r>
              <a:rPr lang="fr-FR" sz="2000" dirty="0" err="1">
                <a:latin typeface="Calibri (Corps)"/>
              </a:rPr>
              <a:t>units</a:t>
            </a:r>
            <a:endParaRPr lang="fr-FR" sz="2000" dirty="0">
              <a:latin typeface="Calibri (Corps)"/>
            </a:endParaRPr>
          </a:p>
          <a:p>
            <a:r>
              <a:rPr lang="fr-FR" sz="2000" b="1" dirty="0">
                <a:latin typeface="Calibri (Corps)"/>
              </a:rPr>
              <a:t>Harvest </a:t>
            </a:r>
            <a:r>
              <a:rPr lang="fr-FR" sz="2000" dirty="0">
                <a:latin typeface="Calibri (Corps)"/>
              </a:rPr>
              <a:t>: +5 </a:t>
            </a:r>
            <a:r>
              <a:rPr lang="fr-FR" sz="2000" dirty="0" err="1">
                <a:latin typeface="Calibri (Corps)"/>
              </a:rPr>
              <a:t>units</a:t>
            </a:r>
            <a:r>
              <a:rPr lang="fr-FR" sz="2000" dirty="0">
                <a:latin typeface="Calibri (Corps)"/>
              </a:rPr>
              <a:t>    </a:t>
            </a:r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486B8793-9967-478D-1F04-D9EFD767A1EF}"/>
              </a:ext>
            </a:extLst>
          </p:cNvPr>
          <p:cNvSpPr txBox="1"/>
          <p:nvPr/>
        </p:nvSpPr>
        <p:spPr>
          <a:xfrm>
            <a:off x="7966596" y="4288688"/>
            <a:ext cx="3651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Calibri (Corps)"/>
              </a:rPr>
              <a:t>Other </a:t>
            </a:r>
            <a:r>
              <a:rPr lang="fr-FR" sz="2000" b="1" dirty="0" err="1">
                <a:latin typeface="Calibri (Corps)"/>
              </a:rPr>
              <a:t>Choices</a:t>
            </a:r>
            <a:r>
              <a:rPr lang="fr-FR" sz="2000" b="1" dirty="0">
                <a:latin typeface="Calibri (Corps)"/>
              </a:rPr>
              <a:t> : </a:t>
            </a:r>
            <a:r>
              <a:rPr lang="fr-FR" sz="2000" dirty="0">
                <a:latin typeface="Calibri (Corps)"/>
              </a:rPr>
              <a:t>    </a:t>
            </a:r>
          </a:p>
        </p:txBody>
      </p:sp>
      <p:sp>
        <p:nvSpPr>
          <p:cNvPr id="40" name="TextBox 19">
            <a:extLst>
              <a:ext uri="{FF2B5EF4-FFF2-40B4-BE49-F238E27FC236}">
                <a16:creationId xmlns:a16="http://schemas.microsoft.com/office/drawing/2014/main" id="{B96605CD-3E12-CE22-15EE-A5636A6031A2}"/>
              </a:ext>
            </a:extLst>
          </p:cNvPr>
          <p:cNvSpPr txBox="1"/>
          <p:nvPr/>
        </p:nvSpPr>
        <p:spPr>
          <a:xfrm>
            <a:off x="8017808" y="4590248"/>
            <a:ext cx="3651188" cy="138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uses assign (true reset to full, not +1).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robot-at, not at — ENHSP reserves at.</a:t>
            </a:r>
            <a:endParaRPr lang="en-US" sz="2000" dirty="0"/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FC554C6D-1FAA-045D-5DEA-062B0AFC95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22" y="2144391"/>
            <a:ext cx="5824146" cy="3489977"/>
          </a:xfrm>
          <a:prstGeom prst="rect">
            <a:avLst/>
          </a:prstGeom>
        </p:spPr>
      </p:pic>
      <p:sp>
        <p:nvSpPr>
          <p:cNvPr id="46" name="Text 27">
            <a:extLst>
              <a:ext uri="{FF2B5EF4-FFF2-40B4-BE49-F238E27FC236}">
                <a16:creationId xmlns:a16="http://schemas.microsoft.com/office/drawing/2014/main" id="{591AC209-9774-5B5B-58F7-3F7E6F9FF1E8}"/>
              </a:ext>
            </a:extLst>
          </p:cNvPr>
          <p:cNvSpPr/>
          <p:nvPr/>
        </p:nvSpPr>
        <p:spPr>
          <a:xfrm>
            <a:off x="1332722" y="5634368"/>
            <a:ext cx="6090467" cy="861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C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i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move reads load, but operations write it , so the order of jobs decides energy feasibility, not just the route.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3038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339"/>
    </mc:Choice>
    <mc:Fallback xmlns="">
      <p:transition advTm="5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9" grpId="0"/>
      <p:bldP spid="132" grpId="0"/>
      <p:bldP spid="31" grpId="0" animBg="1"/>
      <p:bldP spid="33" grpId="0"/>
      <p:bldP spid="36" grpId="0"/>
      <p:bldP spid="40" grpId="0"/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81932-7B87-09E3-69EE-3064E25D9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:a16="http://schemas.microsoft.com/office/drawing/2014/main" id="{B5F9DAFB-9BEC-9BAD-E7E3-7011A21BA667}"/>
              </a:ext>
            </a:extLst>
          </p:cNvPr>
          <p:cNvSpPr/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9B73A8-50F9-4B44-A522-E3043ACFEE7C}"/>
              </a:ext>
            </a:extLst>
          </p:cNvPr>
          <p:cNvSpPr txBox="1"/>
          <p:nvPr/>
        </p:nvSpPr>
        <p:spPr>
          <a:xfrm>
            <a:off x="946779" y="999264"/>
            <a:ext cx="4308081" cy="442674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F2A1F"/>
                </a:solidFill>
                <a:ea typeface="Cambria" pitchFamily="34" charset="-122"/>
                <a:cs typeface="Cambria" pitchFamily="34" charset="-120"/>
              </a:rPr>
              <a:t>Processes &amp; events: the PDDL+ core</a:t>
            </a:r>
            <a:endParaRPr lang="en-US" sz="2000" dirty="0"/>
          </a:p>
        </p:txBody>
      </p: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6305BD63-CE88-4AB6-52EC-A75CC8AD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6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1C645C8B-C8CE-9940-B66B-1DE2F2EE4AED}"/>
              </a:ext>
            </a:extLst>
          </p:cNvPr>
          <p:cNvGrpSpPr/>
          <p:nvPr/>
        </p:nvGrpSpPr>
        <p:grpSpPr>
          <a:xfrm>
            <a:off x="1045844" y="1649396"/>
            <a:ext cx="10343197" cy="673620"/>
            <a:chOff x="1320072" y="3514135"/>
            <a:chExt cx="9534497" cy="673620"/>
          </a:xfrm>
        </p:grpSpPr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DD6E6DDE-0ED5-10D1-6D02-A7491D5169AD}"/>
                </a:ext>
              </a:extLst>
            </p:cNvPr>
            <p:cNvSpPr/>
            <p:nvPr/>
          </p:nvSpPr>
          <p:spPr>
            <a:xfrm>
              <a:off x="1320072" y="3514135"/>
              <a:ext cx="9534497" cy="650375"/>
            </a:xfrm>
            <a:prstGeom prst="roundRect">
              <a:avLst/>
            </a:prstGeom>
            <a:gradFill flip="none" rotWithShape="1">
              <a:gsLst>
                <a:gs pos="0">
                  <a:srgbClr val="76B900">
                    <a:tint val="66000"/>
                    <a:satMod val="160000"/>
                  </a:srgbClr>
                </a:gs>
                <a:gs pos="50000">
                  <a:srgbClr val="76B900">
                    <a:tint val="44500"/>
                    <a:satMod val="160000"/>
                  </a:srgbClr>
                </a:gs>
                <a:gs pos="100000">
                  <a:srgbClr val="76B900">
                    <a:tint val="23500"/>
                    <a:satMod val="16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 24">
              <a:extLst>
                <a:ext uri="{FF2B5EF4-FFF2-40B4-BE49-F238E27FC236}">
                  <a16:creationId xmlns:a16="http://schemas.microsoft.com/office/drawing/2014/main" id="{B424688A-6000-FA3B-FF00-B88F1E2D2E59}"/>
                </a:ext>
              </a:extLst>
            </p:cNvPr>
            <p:cNvSpPr/>
            <p:nvPr/>
          </p:nvSpPr>
          <p:spPr>
            <a:xfrm>
              <a:off x="7938003" y="3617029"/>
              <a:ext cx="2506531" cy="47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F0000"/>
                  </a:solidFill>
                  <a:ea typeface="Consolas" pitchFamily="34" charset="-122"/>
                  <a:cs typeface="Consolas" pitchFamily="34" charset="-120"/>
                </a:rPr>
                <a:t>WHY ? </a:t>
              </a:r>
              <a:r>
                <a:rPr lang="en-US" sz="1600" dirty="0">
                  <a:ea typeface="Consolas" pitchFamily="34" charset="-122"/>
                  <a:cs typeface="Consolas" pitchFamily="34" charset="-120"/>
                </a:rPr>
                <a:t>No durative </a:t>
              </a:r>
              <a:r>
                <a:rPr lang="en-US" sz="1600" dirty="0" err="1">
                  <a:ea typeface="Consolas" pitchFamily="34" charset="-122"/>
                  <a:cs typeface="Consolas" pitchFamily="34" charset="-120"/>
                </a:rPr>
                <a:t>actions,this</a:t>
              </a:r>
              <a:r>
                <a:rPr lang="en-US" sz="1600" dirty="0">
                  <a:ea typeface="Consolas" pitchFamily="34" charset="-122"/>
                  <a:cs typeface="Consolas" pitchFamily="34" charset="-120"/>
                </a:rPr>
                <a:t> makes time real</a:t>
              </a:r>
              <a:endParaRPr lang="en-US" sz="1600" b="1" dirty="0"/>
            </a:p>
          </p:txBody>
        </p:sp>
        <p:sp>
          <p:nvSpPr>
            <p:cNvPr id="18" name="Text 28">
              <a:extLst>
                <a:ext uri="{FF2B5EF4-FFF2-40B4-BE49-F238E27FC236}">
                  <a16:creationId xmlns:a16="http://schemas.microsoft.com/office/drawing/2014/main" id="{18796A22-5449-7995-8070-DBE73C629229}"/>
                </a:ext>
              </a:extLst>
            </p:cNvPr>
            <p:cNvSpPr/>
            <p:nvPr/>
          </p:nvSpPr>
          <p:spPr>
            <a:xfrm>
              <a:off x="2100868" y="3684835"/>
              <a:ext cx="150814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ea typeface="Georgia" pitchFamily="34" charset="-122"/>
                  <a:cs typeface="Georgia" pitchFamily="34" charset="-120"/>
                </a:rPr>
                <a:t> </a:t>
              </a:r>
              <a:r>
                <a:rPr lang="en-US" sz="2000" b="1" dirty="0">
                  <a:ea typeface="Courier New" pitchFamily="34" charset="-122"/>
                  <a:cs typeface="Courier New" pitchFamily="34" charset="-120"/>
                </a:rPr>
                <a:t>start / stop</a:t>
              </a:r>
              <a:endParaRPr lang="en-US" sz="2000" b="1" dirty="0"/>
            </a:p>
            <a:p>
              <a:pPr marL="0" indent="0">
                <a:buNone/>
              </a:pPr>
              <a:endParaRPr lang="en-US" b="1" dirty="0"/>
            </a:p>
          </p:txBody>
        </p:sp>
      </p:grpSp>
      <p:sp>
        <p:nvSpPr>
          <p:cNvPr id="31" name="Text 28">
            <a:extLst>
              <a:ext uri="{FF2B5EF4-FFF2-40B4-BE49-F238E27FC236}">
                <a16:creationId xmlns:a16="http://schemas.microsoft.com/office/drawing/2014/main" id="{0205E069-32DE-8418-8712-1D3845CC915D}"/>
              </a:ext>
            </a:extLst>
          </p:cNvPr>
          <p:cNvSpPr/>
          <p:nvPr/>
        </p:nvSpPr>
        <p:spPr>
          <a:xfrm>
            <a:off x="3598453" y="1830299"/>
            <a:ext cx="15081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u="sng" dirty="0">
                <a:ea typeface="Georgia" pitchFamily="34" charset="-122"/>
                <a:cs typeface="Georgia" pitchFamily="34" charset="-120"/>
              </a:rPr>
              <a:t> </a:t>
            </a:r>
            <a:r>
              <a:rPr lang="en-US" sz="2000" u="sng" dirty="0">
                <a:ea typeface="Georgia" pitchFamily="34" charset="-122"/>
                <a:cs typeface="Courier New" pitchFamily="34" charset="-120"/>
              </a:rPr>
              <a:t>Action</a:t>
            </a:r>
            <a:endParaRPr lang="en-US" sz="2000" u="sng" dirty="0"/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9123FBAB-32B3-64DF-1151-B83D7F1CF8A9}"/>
              </a:ext>
            </a:extLst>
          </p:cNvPr>
          <p:cNvSpPr/>
          <p:nvPr/>
        </p:nvSpPr>
        <p:spPr>
          <a:xfrm>
            <a:off x="4644174" y="1777198"/>
            <a:ext cx="3133329" cy="47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ea typeface="Consolas" pitchFamily="34" charset="-122"/>
                <a:cs typeface="Consolas" pitchFamily="34" charset="-120"/>
              </a:rPr>
              <a:t>Split each move/task : a timer gates the stop</a:t>
            </a:r>
            <a:endParaRPr lang="en-US" sz="1600" dirty="0"/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302CA24B-0A74-FCD8-BEEB-4899F0D28BB8}"/>
              </a:ext>
            </a:extLst>
          </p:cNvPr>
          <p:cNvGrpSpPr/>
          <p:nvPr/>
        </p:nvGrpSpPr>
        <p:grpSpPr>
          <a:xfrm>
            <a:off x="1045844" y="2519662"/>
            <a:ext cx="10343197" cy="673620"/>
            <a:chOff x="1320072" y="3514135"/>
            <a:chExt cx="9534497" cy="673620"/>
          </a:xfrm>
        </p:grpSpPr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84421DAE-082B-76DB-9367-86C899A57ED9}"/>
                </a:ext>
              </a:extLst>
            </p:cNvPr>
            <p:cNvSpPr/>
            <p:nvPr/>
          </p:nvSpPr>
          <p:spPr>
            <a:xfrm>
              <a:off x="1320072" y="3514135"/>
              <a:ext cx="9534497" cy="650375"/>
            </a:xfrm>
            <a:prstGeom prst="roundRect">
              <a:avLst/>
            </a:prstGeom>
            <a:gradFill flip="none" rotWithShape="1">
              <a:gsLst>
                <a:gs pos="0">
                  <a:srgbClr val="76B900">
                    <a:tint val="66000"/>
                    <a:satMod val="160000"/>
                  </a:srgbClr>
                </a:gs>
                <a:gs pos="50000">
                  <a:srgbClr val="76B900">
                    <a:tint val="44500"/>
                    <a:satMod val="160000"/>
                  </a:srgbClr>
                </a:gs>
                <a:gs pos="100000">
                  <a:srgbClr val="76B900">
                    <a:tint val="23500"/>
                    <a:satMod val="16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38" name="Text 24">
              <a:extLst>
                <a:ext uri="{FF2B5EF4-FFF2-40B4-BE49-F238E27FC236}">
                  <a16:creationId xmlns:a16="http://schemas.microsoft.com/office/drawing/2014/main" id="{0DD525CE-F0E1-7DA4-9BFE-E05E77686C07}"/>
                </a:ext>
              </a:extLst>
            </p:cNvPr>
            <p:cNvSpPr/>
            <p:nvPr/>
          </p:nvSpPr>
          <p:spPr>
            <a:xfrm>
              <a:off x="7938003" y="3617029"/>
              <a:ext cx="2506530" cy="47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FF0000"/>
                  </a:solidFill>
                  <a:ea typeface="Consolas" pitchFamily="34" charset="-122"/>
                  <a:cs typeface="Consolas" pitchFamily="34" charset="-120"/>
                </a:rPr>
                <a:t>WHY ? </a:t>
              </a:r>
              <a:r>
                <a:rPr lang="en-US" sz="1600" b="1" dirty="0">
                  <a:solidFill>
                    <a:srgbClr val="C053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</a:t>
              </a: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continuous drain, not a fixed step cost</a:t>
              </a:r>
              <a:endParaRPr lang="en-US" sz="1600" b="1" dirty="0"/>
            </a:p>
          </p:txBody>
        </p:sp>
        <p:sp>
          <p:nvSpPr>
            <p:cNvPr id="40" name="Text 28">
              <a:extLst>
                <a:ext uri="{FF2B5EF4-FFF2-40B4-BE49-F238E27FC236}">
                  <a16:creationId xmlns:a16="http://schemas.microsoft.com/office/drawing/2014/main" id="{4709FC5F-9775-EB89-71C5-D9DF2714FE73}"/>
                </a:ext>
              </a:extLst>
            </p:cNvPr>
            <p:cNvSpPr/>
            <p:nvPr/>
          </p:nvSpPr>
          <p:spPr>
            <a:xfrm>
              <a:off x="2100868" y="3684835"/>
              <a:ext cx="150814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ea typeface="Georgia" pitchFamily="34" charset="-122"/>
                  <a:cs typeface="Georgia" pitchFamily="34" charset="-120"/>
                </a:rPr>
                <a:t> </a:t>
              </a:r>
              <a:r>
                <a:rPr lang="en-US" sz="2000" b="1" dirty="0">
                  <a:ea typeface="Courier New" pitchFamily="34" charset="-122"/>
                  <a:cs typeface="Courier New" pitchFamily="34" charset="-120"/>
                </a:rPr>
                <a:t>Discharge</a:t>
              </a:r>
              <a:endParaRPr lang="en-US" sz="2000" b="1" dirty="0"/>
            </a:p>
            <a:p>
              <a:pPr marL="0" indent="0">
                <a:buNone/>
              </a:pPr>
              <a:endParaRPr lang="en-US" b="1" dirty="0"/>
            </a:p>
          </p:txBody>
        </p:sp>
      </p:grpSp>
      <p:sp>
        <p:nvSpPr>
          <p:cNvPr id="42" name="Text 28">
            <a:extLst>
              <a:ext uri="{FF2B5EF4-FFF2-40B4-BE49-F238E27FC236}">
                <a16:creationId xmlns:a16="http://schemas.microsoft.com/office/drawing/2014/main" id="{D5924256-1A33-7749-A086-8CDB70577BC8}"/>
              </a:ext>
            </a:extLst>
          </p:cNvPr>
          <p:cNvSpPr/>
          <p:nvPr/>
        </p:nvSpPr>
        <p:spPr>
          <a:xfrm>
            <a:off x="3598453" y="2700565"/>
            <a:ext cx="15081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u="sng" dirty="0">
                <a:ea typeface="Georgia" pitchFamily="34" charset="-122"/>
                <a:cs typeface="Georgia" pitchFamily="34" charset="-120"/>
              </a:rPr>
              <a:t> </a:t>
            </a:r>
            <a:r>
              <a:rPr lang="en-US" sz="2000" u="sng" dirty="0">
                <a:ea typeface="Georgia" pitchFamily="34" charset="-122"/>
                <a:cs typeface="Courier New" pitchFamily="34" charset="-120"/>
              </a:rPr>
              <a:t>Process</a:t>
            </a:r>
            <a:endParaRPr lang="en-US" sz="2000" u="sng" dirty="0"/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D47C60C7-2404-4E1E-4658-AFE9339F965D}"/>
              </a:ext>
            </a:extLst>
          </p:cNvPr>
          <p:cNvSpPr/>
          <p:nvPr/>
        </p:nvSpPr>
        <p:spPr>
          <a:xfrm>
            <a:off x="4644174" y="2647464"/>
            <a:ext cx="3133329" cy="47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drains </a:t>
            </a:r>
            <a:r>
              <a:rPr lang="en-US" sz="1600" dirty="0" err="1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</a:t>
            </a:r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(rate + load) while active.</a:t>
            </a:r>
            <a:endParaRPr lang="en-US" sz="1600" dirty="0"/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2A0EB2AB-CEE6-9B23-5A1D-7207630FC160}"/>
              </a:ext>
            </a:extLst>
          </p:cNvPr>
          <p:cNvGrpSpPr/>
          <p:nvPr/>
        </p:nvGrpSpPr>
        <p:grpSpPr>
          <a:xfrm>
            <a:off x="1045844" y="3388722"/>
            <a:ext cx="10343197" cy="673620"/>
            <a:chOff x="1320072" y="3514135"/>
            <a:chExt cx="9534497" cy="673620"/>
          </a:xfrm>
        </p:grpSpPr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BD1D362E-14EF-7E31-03A2-B0CAD0972784}"/>
                </a:ext>
              </a:extLst>
            </p:cNvPr>
            <p:cNvSpPr/>
            <p:nvPr/>
          </p:nvSpPr>
          <p:spPr>
            <a:xfrm>
              <a:off x="1320072" y="3514135"/>
              <a:ext cx="9534497" cy="650375"/>
            </a:xfrm>
            <a:prstGeom prst="roundRect">
              <a:avLst/>
            </a:prstGeom>
            <a:gradFill flip="none" rotWithShape="1">
              <a:gsLst>
                <a:gs pos="0">
                  <a:srgbClr val="76B900">
                    <a:tint val="66000"/>
                    <a:satMod val="160000"/>
                  </a:srgbClr>
                </a:gs>
                <a:gs pos="50000">
                  <a:srgbClr val="76B900">
                    <a:tint val="44500"/>
                    <a:satMod val="160000"/>
                  </a:srgbClr>
                </a:gs>
                <a:gs pos="100000">
                  <a:srgbClr val="76B900">
                    <a:tint val="23500"/>
                    <a:satMod val="16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54" name="Text 24">
              <a:extLst>
                <a:ext uri="{FF2B5EF4-FFF2-40B4-BE49-F238E27FC236}">
                  <a16:creationId xmlns:a16="http://schemas.microsoft.com/office/drawing/2014/main" id="{5875814A-3015-BFCE-B866-FDD89A505B29}"/>
                </a:ext>
              </a:extLst>
            </p:cNvPr>
            <p:cNvSpPr/>
            <p:nvPr/>
          </p:nvSpPr>
          <p:spPr>
            <a:xfrm>
              <a:off x="7938004" y="3617029"/>
              <a:ext cx="2598725" cy="47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FF0000"/>
                  </a:solidFill>
                  <a:ea typeface="Consolas" pitchFamily="34" charset="-122"/>
                  <a:cs typeface="Consolas" pitchFamily="34" charset="-120"/>
                </a:rPr>
                <a:t>WHY </a:t>
              </a:r>
              <a:r>
                <a:rPr lang="en-US" sz="1600" b="1" dirty="0">
                  <a:solidFill>
                    <a:srgbClr val="C053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</a:t>
              </a: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recharging costs time, like real charging.</a:t>
              </a:r>
              <a:endParaRPr lang="en-US" sz="1600" b="1" dirty="0"/>
            </a:p>
          </p:txBody>
        </p:sp>
        <p:sp>
          <p:nvSpPr>
            <p:cNvPr id="58" name="Text 28">
              <a:extLst>
                <a:ext uri="{FF2B5EF4-FFF2-40B4-BE49-F238E27FC236}">
                  <a16:creationId xmlns:a16="http://schemas.microsoft.com/office/drawing/2014/main" id="{F0587C58-DD24-B8DA-E662-16DFA9210F72}"/>
                </a:ext>
              </a:extLst>
            </p:cNvPr>
            <p:cNvSpPr/>
            <p:nvPr/>
          </p:nvSpPr>
          <p:spPr>
            <a:xfrm>
              <a:off x="2100868" y="3684835"/>
              <a:ext cx="150814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ea typeface="Georgia" pitchFamily="34" charset="-122"/>
                  <a:cs typeface="Georgia" pitchFamily="34" charset="-120"/>
                </a:rPr>
                <a:t>Recharge</a:t>
              </a:r>
              <a:endParaRPr lang="en-US" sz="2000" b="1" dirty="0"/>
            </a:p>
            <a:p>
              <a:pPr marL="0" indent="0">
                <a:buNone/>
              </a:pPr>
              <a:endParaRPr lang="en-US" b="1" dirty="0"/>
            </a:p>
          </p:txBody>
        </p:sp>
      </p:grpSp>
      <p:sp>
        <p:nvSpPr>
          <p:cNvPr id="60" name="Text 28">
            <a:extLst>
              <a:ext uri="{FF2B5EF4-FFF2-40B4-BE49-F238E27FC236}">
                <a16:creationId xmlns:a16="http://schemas.microsoft.com/office/drawing/2014/main" id="{0664EF12-1D9D-78E8-7431-147960CB73F4}"/>
              </a:ext>
            </a:extLst>
          </p:cNvPr>
          <p:cNvSpPr/>
          <p:nvPr/>
        </p:nvSpPr>
        <p:spPr>
          <a:xfrm>
            <a:off x="3598453" y="3569625"/>
            <a:ext cx="15081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u="sng" dirty="0">
                <a:ea typeface="Georgia" pitchFamily="34" charset="-122"/>
                <a:cs typeface="Georgia" pitchFamily="34" charset="-120"/>
              </a:rPr>
              <a:t>Process</a:t>
            </a:r>
            <a:endParaRPr lang="en-US" sz="2000" u="sng" dirty="0"/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92BC3082-A4DE-3ABF-DC88-25EEBE5766D4}"/>
              </a:ext>
            </a:extLst>
          </p:cNvPr>
          <p:cNvSpPr/>
          <p:nvPr/>
        </p:nvSpPr>
        <p:spPr>
          <a:xfrm>
            <a:off x="4644174" y="3516524"/>
            <a:ext cx="3133329" cy="47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dock, +25/s — the robot must wait.</a:t>
            </a:r>
            <a:endParaRPr lang="en-US" sz="1600" dirty="0"/>
          </a:p>
        </p:txBody>
      </p: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9477C7F0-1A49-4F53-56E0-FB794A54AA25}"/>
              </a:ext>
            </a:extLst>
          </p:cNvPr>
          <p:cNvGrpSpPr/>
          <p:nvPr/>
        </p:nvGrpSpPr>
        <p:grpSpPr>
          <a:xfrm>
            <a:off x="1045844" y="4313662"/>
            <a:ext cx="10343197" cy="673620"/>
            <a:chOff x="1320072" y="3514135"/>
            <a:chExt cx="9534497" cy="673620"/>
          </a:xfrm>
        </p:grpSpPr>
        <p:sp>
          <p:nvSpPr>
            <p:cNvPr id="66" name="Rectangle: Rounded Corners 4">
              <a:extLst>
                <a:ext uri="{FF2B5EF4-FFF2-40B4-BE49-F238E27FC236}">
                  <a16:creationId xmlns:a16="http://schemas.microsoft.com/office/drawing/2014/main" id="{F86C49D3-7FCD-C05E-E51B-0D770560B8E9}"/>
                </a:ext>
              </a:extLst>
            </p:cNvPr>
            <p:cNvSpPr/>
            <p:nvPr/>
          </p:nvSpPr>
          <p:spPr>
            <a:xfrm>
              <a:off x="1320072" y="3514135"/>
              <a:ext cx="9534497" cy="650375"/>
            </a:xfrm>
            <a:prstGeom prst="roundRect">
              <a:avLst/>
            </a:prstGeom>
            <a:gradFill flip="none" rotWithShape="1">
              <a:gsLst>
                <a:gs pos="0">
                  <a:srgbClr val="76B900">
                    <a:tint val="66000"/>
                    <a:satMod val="160000"/>
                  </a:srgbClr>
                </a:gs>
                <a:gs pos="50000">
                  <a:srgbClr val="76B900">
                    <a:tint val="44500"/>
                    <a:satMod val="160000"/>
                  </a:srgbClr>
                </a:gs>
                <a:gs pos="100000">
                  <a:srgbClr val="76B900">
                    <a:tint val="23500"/>
                    <a:satMod val="16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68" name="Text 24">
              <a:extLst>
                <a:ext uri="{FF2B5EF4-FFF2-40B4-BE49-F238E27FC236}">
                  <a16:creationId xmlns:a16="http://schemas.microsoft.com/office/drawing/2014/main" id="{B360379A-B29D-50E7-568A-7957EEBE8970}"/>
                </a:ext>
              </a:extLst>
            </p:cNvPr>
            <p:cNvSpPr/>
            <p:nvPr/>
          </p:nvSpPr>
          <p:spPr>
            <a:xfrm>
              <a:off x="7938004" y="3617029"/>
              <a:ext cx="2598725" cy="47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FF0000"/>
                  </a:solidFill>
                  <a:ea typeface="Consolas" pitchFamily="34" charset="-122"/>
                  <a:cs typeface="Consolas" pitchFamily="34" charset="-120"/>
                </a:rPr>
                <a:t>WHY ? </a:t>
              </a: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enforce limits the planner can't violate</a:t>
              </a:r>
              <a:endParaRPr lang="en-US" sz="1600" b="1" dirty="0"/>
            </a:p>
          </p:txBody>
        </p:sp>
        <p:sp>
          <p:nvSpPr>
            <p:cNvPr id="72" name="Text 28">
              <a:extLst>
                <a:ext uri="{FF2B5EF4-FFF2-40B4-BE49-F238E27FC236}">
                  <a16:creationId xmlns:a16="http://schemas.microsoft.com/office/drawing/2014/main" id="{9A9412CD-4A06-4318-4AF1-38C756A4F6A4}"/>
                </a:ext>
              </a:extLst>
            </p:cNvPr>
            <p:cNvSpPr/>
            <p:nvPr/>
          </p:nvSpPr>
          <p:spPr>
            <a:xfrm>
              <a:off x="2100868" y="3684835"/>
              <a:ext cx="150814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ea typeface="Georgia" pitchFamily="34" charset="-122"/>
                  <a:cs typeface="Georgia" pitchFamily="34" charset="-120"/>
                </a:rPr>
                <a:t>Events</a:t>
              </a:r>
              <a:endParaRPr lang="en-US" sz="2000" b="1" dirty="0"/>
            </a:p>
            <a:p>
              <a:pPr marL="0" indent="0">
                <a:buNone/>
              </a:pPr>
              <a:endParaRPr lang="en-US" b="1" dirty="0"/>
            </a:p>
          </p:txBody>
        </p:sp>
      </p:grpSp>
      <p:sp>
        <p:nvSpPr>
          <p:cNvPr id="74" name="Text 28">
            <a:extLst>
              <a:ext uri="{FF2B5EF4-FFF2-40B4-BE49-F238E27FC236}">
                <a16:creationId xmlns:a16="http://schemas.microsoft.com/office/drawing/2014/main" id="{BE8FE03B-D876-781D-6F44-B86814568023}"/>
              </a:ext>
            </a:extLst>
          </p:cNvPr>
          <p:cNvSpPr/>
          <p:nvPr/>
        </p:nvSpPr>
        <p:spPr>
          <a:xfrm>
            <a:off x="3598453" y="4494565"/>
            <a:ext cx="15081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u="sng" dirty="0">
                <a:ea typeface="Georgia" pitchFamily="34" charset="-122"/>
                <a:cs typeface="Georgia" pitchFamily="34" charset="-120"/>
              </a:rPr>
              <a:t> </a:t>
            </a:r>
            <a:r>
              <a:rPr lang="en-US" sz="2000" u="sng" dirty="0">
                <a:ea typeface="Georgia" pitchFamily="34" charset="-122"/>
                <a:cs typeface="Courier New" pitchFamily="34" charset="-120"/>
              </a:rPr>
              <a:t>Auto</a:t>
            </a:r>
            <a:endParaRPr lang="en-US" sz="2000" u="sng" dirty="0"/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3AB4AD8C-AC4B-09E3-C9A1-008F4CBB0E36}"/>
              </a:ext>
            </a:extLst>
          </p:cNvPr>
          <p:cNvSpPr/>
          <p:nvPr/>
        </p:nvSpPr>
        <p:spPr>
          <a:xfrm>
            <a:off x="4644174" y="4441464"/>
            <a:ext cx="3133329" cy="47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ea typeface="Courier New" pitchFamily="34" charset="-122"/>
                <a:cs typeface="Courier New" pitchFamily="34" charset="-120"/>
              </a:rPr>
              <a:t>depletion: </a:t>
            </a:r>
            <a:r>
              <a:rPr lang="en-US" sz="1600" dirty="0">
                <a:ea typeface="Calibri" pitchFamily="34" charset="-122"/>
                <a:cs typeface="Calibri" pitchFamily="34" charset="-120"/>
              </a:rPr>
              <a:t>Fail at battery 0</a:t>
            </a:r>
            <a:endParaRPr lang="en-US" sz="1600" dirty="0"/>
          </a:p>
          <a:p>
            <a:pPr>
              <a:spcAft>
                <a:spcPts val="667"/>
              </a:spcAft>
            </a:pPr>
            <a:r>
              <a:rPr lang="en-US" sz="1600" dirty="0">
                <a:ea typeface="Courier New" pitchFamily="34" charset="-122"/>
                <a:cs typeface="Courier New" pitchFamily="34" charset="-120"/>
              </a:rPr>
              <a:t>overcharge: </a:t>
            </a:r>
            <a:r>
              <a:rPr lang="en-US" sz="1600" dirty="0">
                <a:ea typeface="Calibri" pitchFamily="34" charset="-122"/>
                <a:cs typeface="Calibri" pitchFamily="34" charset="-120"/>
              </a:rPr>
              <a:t> clip at capacity 100.</a:t>
            </a:r>
            <a:endParaRPr lang="en-US" sz="1600" dirty="0"/>
          </a:p>
        </p:txBody>
      </p: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E2DD6D12-0C7C-8328-A9E7-FE8D956168BF}"/>
              </a:ext>
            </a:extLst>
          </p:cNvPr>
          <p:cNvGrpSpPr/>
          <p:nvPr/>
        </p:nvGrpSpPr>
        <p:grpSpPr>
          <a:xfrm>
            <a:off x="1045844" y="5215357"/>
            <a:ext cx="10343197" cy="673620"/>
            <a:chOff x="1320072" y="3514135"/>
            <a:chExt cx="9534497" cy="673620"/>
          </a:xfrm>
        </p:grpSpPr>
        <p:sp>
          <p:nvSpPr>
            <p:cNvPr id="79" name="Rectangle: Rounded Corners 4">
              <a:extLst>
                <a:ext uri="{FF2B5EF4-FFF2-40B4-BE49-F238E27FC236}">
                  <a16:creationId xmlns:a16="http://schemas.microsoft.com/office/drawing/2014/main" id="{5F1174D9-830B-8792-4C4A-E1A28C549A57}"/>
                </a:ext>
              </a:extLst>
            </p:cNvPr>
            <p:cNvSpPr/>
            <p:nvPr/>
          </p:nvSpPr>
          <p:spPr>
            <a:xfrm>
              <a:off x="1320072" y="3514135"/>
              <a:ext cx="9534497" cy="650375"/>
            </a:xfrm>
            <a:prstGeom prst="roundRect">
              <a:avLst/>
            </a:prstGeom>
            <a:gradFill flip="none" rotWithShape="1">
              <a:gsLst>
                <a:gs pos="0">
                  <a:srgbClr val="76B900">
                    <a:tint val="66000"/>
                    <a:satMod val="160000"/>
                  </a:srgbClr>
                </a:gs>
                <a:gs pos="50000">
                  <a:srgbClr val="76B900">
                    <a:tint val="44500"/>
                    <a:satMod val="160000"/>
                  </a:srgbClr>
                </a:gs>
                <a:gs pos="100000">
                  <a:srgbClr val="76B900">
                    <a:tint val="23500"/>
                    <a:satMod val="16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80" name="Text 24">
              <a:extLst>
                <a:ext uri="{FF2B5EF4-FFF2-40B4-BE49-F238E27FC236}">
                  <a16:creationId xmlns:a16="http://schemas.microsoft.com/office/drawing/2014/main" id="{F7E75DA3-ACD0-1FEA-F8D4-4AC747C84B5C}"/>
                </a:ext>
              </a:extLst>
            </p:cNvPr>
            <p:cNvSpPr/>
            <p:nvPr/>
          </p:nvSpPr>
          <p:spPr>
            <a:xfrm>
              <a:off x="7938004" y="3617029"/>
              <a:ext cx="2598723" cy="47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FF0000"/>
                  </a:solidFill>
                  <a:ea typeface="Consolas" pitchFamily="34" charset="-122"/>
                  <a:cs typeface="Consolas" pitchFamily="34" charset="-120"/>
                </a:rPr>
                <a:t>WHY ? </a:t>
              </a: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edge, different cost by time &amp; load</a:t>
              </a:r>
              <a:endParaRPr lang="en-US" sz="1600" b="1" dirty="0"/>
            </a:p>
          </p:txBody>
        </p:sp>
        <p:sp>
          <p:nvSpPr>
            <p:cNvPr id="82" name="Text 28">
              <a:extLst>
                <a:ext uri="{FF2B5EF4-FFF2-40B4-BE49-F238E27FC236}">
                  <a16:creationId xmlns:a16="http://schemas.microsoft.com/office/drawing/2014/main" id="{22298082-0A83-3625-500E-CBE1F6D071CB}"/>
                </a:ext>
              </a:extLst>
            </p:cNvPr>
            <p:cNvSpPr/>
            <p:nvPr/>
          </p:nvSpPr>
          <p:spPr>
            <a:xfrm>
              <a:off x="2100868" y="3684835"/>
              <a:ext cx="150814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ea typeface="Georgia" pitchFamily="34" charset="-122"/>
                  <a:cs typeface="Georgia" pitchFamily="34" charset="-120"/>
                </a:rPr>
                <a:t>Terrain</a:t>
              </a:r>
              <a:endParaRPr lang="en-US" sz="2000" b="1" dirty="0"/>
            </a:p>
            <a:p>
              <a:pPr marL="0" indent="0">
                <a:buNone/>
              </a:pPr>
              <a:endParaRPr lang="en-US" b="1" dirty="0"/>
            </a:p>
          </p:txBody>
        </p:sp>
      </p:grpSp>
      <p:sp>
        <p:nvSpPr>
          <p:cNvPr id="83" name="Text 28">
            <a:extLst>
              <a:ext uri="{FF2B5EF4-FFF2-40B4-BE49-F238E27FC236}">
                <a16:creationId xmlns:a16="http://schemas.microsoft.com/office/drawing/2014/main" id="{3231C8CC-93EB-BBCE-B7BA-377EAE8B5420}"/>
              </a:ext>
            </a:extLst>
          </p:cNvPr>
          <p:cNvSpPr/>
          <p:nvPr/>
        </p:nvSpPr>
        <p:spPr>
          <a:xfrm>
            <a:off x="3598453" y="5396260"/>
            <a:ext cx="15081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u="sng" dirty="0">
                <a:ea typeface="Georgia" pitchFamily="34" charset="-122"/>
                <a:cs typeface="Georgia" pitchFamily="34" charset="-120"/>
              </a:rPr>
              <a:t> </a:t>
            </a:r>
            <a:r>
              <a:rPr lang="en-US" sz="2000" u="sng" dirty="0">
                <a:ea typeface="Georgia" pitchFamily="34" charset="-122"/>
                <a:cs typeface="Courier New" pitchFamily="34" charset="-120"/>
              </a:rPr>
              <a:t>Rate</a:t>
            </a:r>
            <a:endParaRPr lang="en-US" sz="2000" u="sng" dirty="0"/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45FFB049-7AF8-3B7E-699B-0BBE927DB6E6}"/>
              </a:ext>
            </a:extLst>
          </p:cNvPr>
          <p:cNvSpPr/>
          <p:nvPr/>
        </p:nvSpPr>
        <p:spPr>
          <a:xfrm>
            <a:off x="4644174" y="5343159"/>
            <a:ext cx="3133329" cy="47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5/s vs muddy 15/s, load on top.</a:t>
            </a:r>
            <a:endParaRPr lang="en-US" sz="1600" dirty="0"/>
          </a:p>
        </p:txBody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1BA1A125-1D13-DC6B-039A-F9B043675695}"/>
              </a:ext>
            </a:extLst>
          </p:cNvPr>
          <p:cNvSpPr/>
          <p:nvPr/>
        </p:nvSpPr>
        <p:spPr>
          <a:xfrm>
            <a:off x="2868842" y="5985339"/>
            <a:ext cx="6463052" cy="53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Together: actions decide what to do; processes and events model the physics that happens on its own.</a:t>
            </a:r>
            <a:endParaRPr lang="en-US" sz="2000" dirty="0"/>
          </a:p>
        </p:txBody>
      </p:sp>
      <p:pic>
        <p:nvPicPr>
          <p:cNvPr id="88" name="Image 87">
            <a:extLst>
              <a:ext uri="{FF2B5EF4-FFF2-40B4-BE49-F238E27FC236}">
                <a16:creationId xmlns:a16="http://schemas.microsoft.com/office/drawing/2014/main" id="{53EE54FD-7F61-9F9E-82DD-0ACB6ECBE5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972" y="5933986"/>
            <a:ext cx="604926" cy="604926"/>
          </a:xfrm>
          <a:prstGeom prst="rect">
            <a:avLst/>
          </a:prstGeom>
        </p:spPr>
      </p:pic>
      <p:sp>
        <p:nvSpPr>
          <p:cNvPr id="89" name="Rectangle: Rounded Corners 5">
            <a:extLst>
              <a:ext uri="{FF2B5EF4-FFF2-40B4-BE49-F238E27FC236}">
                <a16:creationId xmlns:a16="http://schemas.microsoft.com/office/drawing/2014/main" id="{231A3259-5018-A6A7-D829-B93143541D8E}"/>
              </a:ext>
            </a:extLst>
          </p:cNvPr>
          <p:cNvSpPr/>
          <p:nvPr/>
        </p:nvSpPr>
        <p:spPr>
          <a:xfrm>
            <a:off x="2724759" y="94647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90" name="Rectangle: Rounded Corners 47">
            <a:extLst>
              <a:ext uri="{FF2B5EF4-FFF2-40B4-BE49-F238E27FC236}">
                <a16:creationId xmlns:a16="http://schemas.microsoft.com/office/drawing/2014/main" id="{3ACB8C7C-7159-4E28-7679-9951238C4492}"/>
              </a:ext>
            </a:extLst>
          </p:cNvPr>
          <p:cNvSpPr/>
          <p:nvPr/>
        </p:nvSpPr>
        <p:spPr>
          <a:xfrm>
            <a:off x="2724759" y="91064"/>
            <a:ext cx="509907" cy="340519"/>
          </a:xfrm>
          <a:prstGeom prst="round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91" name="Rectangle: Rounded Corners 48">
            <a:extLst>
              <a:ext uri="{FF2B5EF4-FFF2-40B4-BE49-F238E27FC236}">
                <a16:creationId xmlns:a16="http://schemas.microsoft.com/office/drawing/2014/main" id="{300F558B-8692-9A30-6B11-A29BED7D305B}"/>
              </a:ext>
            </a:extLst>
          </p:cNvPr>
          <p:cNvSpPr/>
          <p:nvPr/>
        </p:nvSpPr>
        <p:spPr>
          <a:xfrm>
            <a:off x="3989842" y="91064"/>
            <a:ext cx="509907" cy="340519"/>
          </a:xfrm>
          <a:prstGeom prst="roundRect">
            <a:avLst/>
          </a:prstGeom>
          <a:solidFill>
            <a:srgbClr val="76B9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2</a:t>
            </a:r>
          </a:p>
        </p:txBody>
      </p:sp>
      <p:sp>
        <p:nvSpPr>
          <p:cNvPr id="92" name="Rectangle: Rounded Corners 49">
            <a:extLst>
              <a:ext uri="{FF2B5EF4-FFF2-40B4-BE49-F238E27FC236}">
                <a16:creationId xmlns:a16="http://schemas.microsoft.com/office/drawing/2014/main" id="{A7C60AB0-025C-D35D-48F8-8C337BBB25DF}"/>
              </a:ext>
            </a:extLst>
          </p:cNvPr>
          <p:cNvSpPr/>
          <p:nvPr/>
        </p:nvSpPr>
        <p:spPr>
          <a:xfrm>
            <a:off x="5254861" y="89602"/>
            <a:ext cx="509907" cy="340519"/>
          </a:xfrm>
          <a:prstGeom prst="round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3</a:t>
            </a:r>
          </a:p>
        </p:txBody>
      </p:sp>
      <p:sp>
        <p:nvSpPr>
          <p:cNvPr id="93" name="Rectangle: Rounded Corners 50">
            <a:extLst>
              <a:ext uri="{FF2B5EF4-FFF2-40B4-BE49-F238E27FC236}">
                <a16:creationId xmlns:a16="http://schemas.microsoft.com/office/drawing/2014/main" id="{9705C8D5-0585-1C93-B689-5AAFFEDBA943}"/>
              </a:ext>
            </a:extLst>
          </p:cNvPr>
          <p:cNvSpPr/>
          <p:nvPr/>
        </p:nvSpPr>
        <p:spPr>
          <a:xfrm>
            <a:off x="6335017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4</a:t>
            </a:r>
          </a:p>
        </p:txBody>
      </p:sp>
      <p:cxnSp>
        <p:nvCxnSpPr>
          <p:cNvPr id="94" name="Straight Connector 2">
            <a:extLst>
              <a:ext uri="{FF2B5EF4-FFF2-40B4-BE49-F238E27FC236}">
                <a16:creationId xmlns:a16="http://schemas.microsoft.com/office/drawing/2014/main" id="{8EE0CA26-8006-58F4-B8CC-1A4FB9B208A1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-13253" y="259862"/>
            <a:ext cx="2738012" cy="14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6">
            <a:extLst>
              <a:ext uri="{FF2B5EF4-FFF2-40B4-BE49-F238E27FC236}">
                <a16:creationId xmlns:a16="http://schemas.microsoft.com/office/drawing/2014/main" id="{B3224B24-38B9-9914-0378-1E325275B2EA}"/>
              </a:ext>
            </a:extLst>
          </p:cNvPr>
          <p:cNvSpPr txBox="1"/>
          <p:nvPr/>
        </p:nvSpPr>
        <p:spPr>
          <a:xfrm>
            <a:off x="2288150" y="437997"/>
            <a:ext cx="13382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Problem</a:t>
            </a:r>
            <a:r>
              <a:rPr lang="fr-FR" sz="1000" dirty="0"/>
              <a:t> &amp; Domain</a:t>
            </a:r>
          </a:p>
        </p:txBody>
      </p:sp>
      <p:sp>
        <p:nvSpPr>
          <p:cNvPr id="96" name="TextBox 7">
            <a:extLst>
              <a:ext uri="{FF2B5EF4-FFF2-40B4-BE49-F238E27FC236}">
                <a16:creationId xmlns:a16="http://schemas.microsoft.com/office/drawing/2014/main" id="{F5218439-C4C8-405B-59C2-B278F8922BC9}"/>
              </a:ext>
            </a:extLst>
          </p:cNvPr>
          <p:cNvSpPr txBox="1"/>
          <p:nvPr/>
        </p:nvSpPr>
        <p:spPr>
          <a:xfrm>
            <a:off x="5989739" y="446564"/>
            <a:ext cx="11831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Reflections</a:t>
            </a:r>
            <a:endParaRPr lang="fr-FR" sz="1000" dirty="0"/>
          </a:p>
        </p:txBody>
      </p:sp>
      <p:sp>
        <p:nvSpPr>
          <p:cNvPr id="97" name="TextBox 11">
            <a:extLst>
              <a:ext uri="{FF2B5EF4-FFF2-40B4-BE49-F238E27FC236}">
                <a16:creationId xmlns:a16="http://schemas.microsoft.com/office/drawing/2014/main" id="{780E501A-B089-417F-6AE2-C5FA4E02D4D8}"/>
              </a:ext>
            </a:extLst>
          </p:cNvPr>
          <p:cNvSpPr txBox="1"/>
          <p:nvPr/>
        </p:nvSpPr>
        <p:spPr>
          <a:xfrm>
            <a:off x="3626372" y="446564"/>
            <a:ext cx="1083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Design </a:t>
            </a:r>
            <a:r>
              <a:rPr lang="fr-FR" sz="1000" dirty="0" err="1"/>
              <a:t>choices</a:t>
            </a:r>
            <a:r>
              <a:rPr lang="fr-FR" sz="1000" dirty="0"/>
              <a:t> </a:t>
            </a:r>
          </a:p>
        </p:txBody>
      </p:sp>
      <p:sp>
        <p:nvSpPr>
          <p:cNvPr id="98" name="TextBox 13">
            <a:extLst>
              <a:ext uri="{FF2B5EF4-FFF2-40B4-BE49-F238E27FC236}">
                <a16:creationId xmlns:a16="http://schemas.microsoft.com/office/drawing/2014/main" id="{189919F5-F5B1-CF6A-653C-20EF87EAB130}"/>
              </a:ext>
            </a:extLst>
          </p:cNvPr>
          <p:cNvSpPr txBox="1"/>
          <p:nvPr/>
        </p:nvSpPr>
        <p:spPr>
          <a:xfrm>
            <a:off x="4671553" y="446564"/>
            <a:ext cx="15559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Results</a:t>
            </a:r>
            <a:endParaRPr lang="fr-FR" sz="1000" dirty="0"/>
          </a:p>
        </p:txBody>
      </p:sp>
      <p:cxnSp>
        <p:nvCxnSpPr>
          <p:cNvPr id="99" name="Straight Connector 31">
            <a:extLst>
              <a:ext uri="{FF2B5EF4-FFF2-40B4-BE49-F238E27FC236}">
                <a16:creationId xmlns:a16="http://schemas.microsoft.com/office/drawing/2014/main" id="{37DC6348-7B88-9F68-54D4-1B31E14B6D7F}"/>
              </a:ext>
            </a:extLst>
          </p:cNvPr>
          <p:cNvCxnSpPr>
            <a:cxnSpLocks/>
          </p:cNvCxnSpPr>
          <p:nvPr/>
        </p:nvCxnSpPr>
        <p:spPr>
          <a:xfrm>
            <a:off x="3234666" y="247256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31">
            <a:extLst>
              <a:ext uri="{FF2B5EF4-FFF2-40B4-BE49-F238E27FC236}">
                <a16:creationId xmlns:a16="http://schemas.microsoft.com/office/drawing/2014/main" id="{391AA281-8A7C-B5FD-0E72-A8D469E427AE}"/>
              </a:ext>
            </a:extLst>
          </p:cNvPr>
          <p:cNvCxnSpPr>
            <a:cxnSpLocks/>
          </p:cNvCxnSpPr>
          <p:nvPr/>
        </p:nvCxnSpPr>
        <p:spPr>
          <a:xfrm>
            <a:off x="4499685" y="259862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31">
            <a:extLst>
              <a:ext uri="{FF2B5EF4-FFF2-40B4-BE49-F238E27FC236}">
                <a16:creationId xmlns:a16="http://schemas.microsoft.com/office/drawing/2014/main" id="{0644E6FF-F5C6-4F28-71FE-F00CD0E8BB9D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5764768" y="255658"/>
            <a:ext cx="570249" cy="5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" name="Image 102">
            <a:extLst>
              <a:ext uri="{FF2B5EF4-FFF2-40B4-BE49-F238E27FC236}">
                <a16:creationId xmlns:a16="http://schemas.microsoft.com/office/drawing/2014/main" id="{10AE9CF0-A0A3-F7B3-D59F-20C0D634F2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097" y="3411154"/>
            <a:ext cx="591191" cy="591191"/>
          </a:xfrm>
          <a:prstGeom prst="rect">
            <a:avLst/>
          </a:prstGeom>
        </p:spPr>
      </p:pic>
      <p:pic>
        <p:nvPicPr>
          <p:cNvPr id="105" name="Image 104">
            <a:extLst>
              <a:ext uri="{FF2B5EF4-FFF2-40B4-BE49-F238E27FC236}">
                <a16:creationId xmlns:a16="http://schemas.microsoft.com/office/drawing/2014/main" id="{0634EC9F-E089-BE85-B0C9-F916D9DDC2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85" y="2590547"/>
            <a:ext cx="519158" cy="519158"/>
          </a:xfrm>
          <a:prstGeom prst="rect">
            <a:avLst/>
          </a:prstGeom>
        </p:spPr>
      </p:pic>
      <p:pic>
        <p:nvPicPr>
          <p:cNvPr id="107" name="Image 106">
            <a:extLst>
              <a:ext uri="{FF2B5EF4-FFF2-40B4-BE49-F238E27FC236}">
                <a16:creationId xmlns:a16="http://schemas.microsoft.com/office/drawing/2014/main" id="{E8DCB51C-39CF-FE19-4DF2-B201701EA2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877" y="4368011"/>
            <a:ext cx="510411" cy="510411"/>
          </a:xfrm>
          <a:prstGeom prst="rect">
            <a:avLst/>
          </a:prstGeom>
        </p:spPr>
      </p:pic>
      <p:pic>
        <p:nvPicPr>
          <p:cNvPr id="109" name="Image 108">
            <a:extLst>
              <a:ext uri="{FF2B5EF4-FFF2-40B4-BE49-F238E27FC236}">
                <a16:creationId xmlns:a16="http://schemas.microsoft.com/office/drawing/2014/main" id="{E64DDE21-60FC-56D9-E35A-E7F768D9A3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710" y="5211674"/>
            <a:ext cx="599578" cy="599578"/>
          </a:xfrm>
          <a:prstGeom prst="rect">
            <a:avLst/>
          </a:prstGeom>
        </p:spPr>
      </p:pic>
      <p:pic>
        <p:nvPicPr>
          <p:cNvPr id="111" name="Image 110">
            <a:extLst>
              <a:ext uri="{FF2B5EF4-FFF2-40B4-BE49-F238E27FC236}">
                <a16:creationId xmlns:a16="http://schemas.microsoft.com/office/drawing/2014/main" id="{5EF3728F-519D-E2A2-0EAA-B2FF7E078C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877" y="1767077"/>
            <a:ext cx="502921" cy="50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4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339"/>
    </mc:Choice>
    <mc:Fallback xmlns="">
      <p:transition advTm="5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1" grpId="0" animBg="1"/>
      <p:bldP spid="33" grpId="0" animBg="1"/>
      <p:bldP spid="42" grpId="0" animBg="1"/>
      <p:bldP spid="43" grpId="0" animBg="1"/>
      <p:bldP spid="60" grpId="0" animBg="1"/>
      <p:bldP spid="62" grpId="0" animBg="1"/>
      <p:bldP spid="74" grpId="0" animBg="1"/>
      <p:bldP spid="76" grpId="0" animBg="1"/>
      <p:bldP spid="83" grpId="0" animBg="1"/>
      <p:bldP spid="84" grpId="0" animBg="1"/>
      <p:bldP spid="8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FAE81-3A8E-C212-B18C-F377BA12D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D9E9B3-D7B6-A5D0-8662-FC9871DB0E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1D3B4-777B-7069-89A0-5608ACFA5715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4D712-A695-8BB0-5596-34544E4BDF88}"/>
              </a:ext>
            </a:extLst>
          </p:cNvPr>
          <p:cNvSpPr txBox="1"/>
          <p:nvPr/>
        </p:nvSpPr>
        <p:spPr>
          <a:xfrm>
            <a:off x="5565131" y="1851645"/>
            <a:ext cx="1197764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900" dirty="0">
                <a:latin typeface="Bahnschrift SemiBold Condensed" panose="020B0502040204020203" pitchFamily="34" charset="0"/>
              </a:rPr>
              <a:t>3</a:t>
            </a:r>
          </a:p>
        </p:txBody>
      </p:sp>
      <p:sp>
        <p:nvSpPr>
          <p:cNvPr id="11" name="Espace réservé du numéro de diapositive 2">
            <a:extLst>
              <a:ext uri="{FF2B5EF4-FFF2-40B4-BE49-F238E27FC236}">
                <a16:creationId xmlns:a16="http://schemas.microsoft.com/office/drawing/2014/main" id="{54D47E66-98B4-714F-ED57-B2D87753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617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7494">
        <p14:flythrough/>
      </p:transition>
    </mc:Choice>
    <mc:Fallback xmlns="">
      <p:transition spd="slow" advTm="749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70655-CD76-6B7F-A9C0-F5FB50CE0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>
            <a:extLst>
              <a:ext uri="{FF2B5EF4-FFF2-40B4-BE49-F238E27FC236}">
                <a16:creationId xmlns:a16="http://schemas.microsoft.com/office/drawing/2014/main" id="{55BC4FF5-A7BF-993C-9AEF-A9D364CA61A9}"/>
              </a:ext>
            </a:extLst>
          </p:cNvPr>
          <p:cNvSpPr/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EB9B37-F981-AEA1-B680-F53669F2EA5F}"/>
              </a:ext>
            </a:extLst>
          </p:cNvPr>
          <p:cNvSpPr txBox="1"/>
          <p:nvPr/>
        </p:nvSpPr>
        <p:spPr>
          <a:xfrm>
            <a:off x="946780" y="999264"/>
            <a:ext cx="3169839" cy="442674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F2A1F"/>
                </a:solidFill>
                <a:ea typeface="Cambria" pitchFamily="34" charset="-122"/>
                <a:cs typeface="Cambria" pitchFamily="34" charset="-120"/>
              </a:rPr>
              <a:t>Q1 : The two chosen plans</a:t>
            </a:r>
            <a:endParaRPr lang="en-US" sz="2000" dirty="0"/>
          </a:p>
        </p:txBody>
      </p: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86A9493C-5B66-3519-CEFA-CFE0CB0F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8</a:t>
            </a:r>
          </a:p>
        </p:txBody>
      </p:sp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2952B7FC-457E-25B2-0443-686755E241CF}"/>
              </a:ext>
            </a:extLst>
          </p:cNvPr>
          <p:cNvSpPr/>
          <p:nvPr/>
        </p:nvSpPr>
        <p:spPr>
          <a:xfrm>
            <a:off x="2724759" y="94647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18" name="Rectangle: Rounded Corners 47">
            <a:extLst>
              <a:ext uri="{FF2B5EF4-FFF2-40B4-BE49-F238E27FC236}">
                <a16:creationId xmlns:a16="http://schemas.microsoft.com/office/drawing/2014/main" id="{DB86255F-ECA4-5410-EF05-ACB4F4E08D65}"/>
              </a:ext>
            </a:extLst>
          </p:cNvPr>
          <p:cNvSpPr/>
          <p:nvPr/>
        </p:nvSpPr>
        <p:spPr>
          <a:xfrm>
            <a:off x="2724759" y="91064"/>
            <a:ext cx="509907" cy="340519"/>
          </a:xfrm>
          <a:prstGeom prst="round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20" name="Rectangle: Rounded Corners 48">
            <a:extLst>
              <a:ext uri="{FF2B5EF4-FFF2-40B4-BE49-F238E27FC236}">
                <a16:creationId xmlns:a16="http://schemas.microsoft.com/office/drawing/2014/main" id="{78E78A1C-5453-D9D0-D9D9-B06D505A4FCE}"/>
              </a:ext>
            </a:extLst>
          </p:cNvPr>
          <p:cNvSpPr/>
          <p:nvPr/>
        </p:nvSpPr>
        <p:spPr>
          <a:xfrm>
            <a:off x="3989842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2</a:t>
            </a:r>
          </a:p>
        </p:txBody>
      </p:sp>
      <p:sp>
        <p:nvSpPr>
          <p:cNvPr id="22" name="Rectangle: Rounded Corners 49">
            <a:extLst>
              <a:ext uri="{FF2B5EF4-FFF2-40B4-BE49-F238E27FC236}">
                <a16:creationId xmlns:a16="http://schemas.microsoft.com/office/drawing/2014/main" id="{AF03493F-6217-293C-0309-F49ECED450CD}"/>
              </a:ext>
            </a:extLst>
          </p:cNvPr>
          <p:cNvSpPr/>
          <p:nvPr/>
        </p:nvSpPr>
        <p:spPr>
          <a:xfrm>
            <a:off x="5254861" y="89602"/>
            <a:ext cx="509907" cy="340519"/>
          </a:xfrm>
          <a:prstGeom prst="roundRect">
            <a:avLst/>
          </a:prstGeom>
          <a:solidFill>
            <a:srgbClr val="76B9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3</a:t>
            </a:r>
          </a:p>
        </p:txBody>
      </p:sp>
      <p:sp>
        <p:nvSpPr>
          <p:cNvPr id="27" name="Rectangle: Rounded Corners 50">
            <a:extLst>
              <a:ext uri="{FF2B5EF4-FFF2-40B4-BE49-F238E27FC236}">
                <a16:creationId xmlns:a16="http://schemas.microsoft.com/office/drawing/2014/main" id="{82CFEA47-7EA4-A73C-B7B3-48C21DA702DF}"/>
              </a:ext>
            </a:extLst>
          </p:cNvPr>
          <p:cNvSpPr/>
          <p:nvPr/>
        </p:nvSpPr>
        <p:spPr>
          <a:xfrm>
            <a:off x="6335017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4</a:t>
            </a:r>
          </a:p>
        </p:txBody>
      </p:sp>
      <p:cxnSp>
        <p:nvCxnSpPr>
          <p:cNvPr id="28" name="Straight Connector 2">
            <a:extLst>
              <a:ext uri="{FF2B5EF4-FFF2-40B4-BE49-F238E27FC236}">
                <a16:creationId xmlns:a16="http://schemas.microsoft.com/office/drawing/2014/main" id="{90AD948F-6E05-EFEE-5E34-172038E0212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-13253" y="259862"/>
            <a:ext cx="2738012" cy="14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6">
            <a:extLst>
              <a:ext uri="{FF2B5EF4-FFF2-40B4-BE49-F238E27FC236}">
                <a16:creationId xmlns:a16="http://schemas.microsoft.com/office/drawing/2014/main" id="{EDD4C508-F1D1-094F-2EB5-BFADD299CBBE}"/>
              </a:ext>
            </a:extLst>
          </p:cNvPr>
          <p:cNvSpPr txBox="1"/>
          <p:nvPr/>
        </p:nvSpPr>
        <p:spPr>
          <a:xfrm>
            <a:off x="2288150" y="437997"/>
            <a:ext cx="13382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Problem</a:t>
            </a:r>
            <a:r>
              <a:rPr lang="fr-FR" sz="1000" dirty="0"/>
              <a:t> &amp; Domain</a:t>
            </a: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BEF19991-4880-CA1C-593F-858F135BF7D2}"/>
              </a:ext>
            </a:extLst>
          </p:cNvPr>
          <p:cNvSpPr txBox="1"/>
          <p:nvPr/>
        </p:nvSpPr>
        <p:spPr>
          <a:xfrm>
            <a:off x="5989739" y="446564"/>
            <a:ext cx="11831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Reflections</a:t>
            </a:r>
            <a:endParaRPr lang="fr-FR" sz="1000" dirty="0"/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8AAA7688-94BC-B29F-FAB8-2DAD977270C2}"/>
              </a:ext>
            </a:extLst>
          </p:cNvPr>
          <p:cNvSpPr txBox="1"/>
          <p:nvPr/>
        </p:nvSpPr>
        <p:spPr>
          <a:xfrm>
            <a:off x="3626372" y="446564"/>
            <a:ext cx="1083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Design </a:t>
            </a:r>
            <a:r>
              <a:rPr lang="fr-FR" sz="1000" dirty="0" err="1"/>
              <a:t>choices</a:t>
            </a:r>
            <a:r>
              <a:rPr lang="fr-FR" sz="1000" dirty="0"/>
              <a:t> </a:t>
            </a: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E4308F58-9100-29DA-17E1-1D46ACA0B905}"/>
              </a:ext>
            </a:extLst>
          </p:cNvPr>
          <p:cNvSpPr txBox="1"/>
          <p:nvPr/>
        </p:nvSpPr>
        <p:spPr>
          <a:xfrm>
            <a:off x="4671553" y="446564"/>
            <a:ext cx="15559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Results</a:t>
            </a:r>
            <a:endParaRPr lang="fr-FR" sz="1000" dirty="0"/>
          </a:p>
        </p:txBody>
      </p:sp>
      <p:cxnSp>
        <p:nvCxnSpPr>
          <p:cNvPr id="43" name="Straight Connector 31">
            <a:extLst>
              <a:ext uri="{FF2B5EF4-FFF2-40B4-BE49-F238E27FC236}">
                <a16:creationId xmlns:a16="http://schemas.microsoft.com/office/drawing/2014/main" id="{719D519E-4276-3CC7-4C11-2152E2DBF8DA}"/>
              </a:ext>
            </a:extLst>
          </p:cNvPr>
          <p:cNvCxnSpPr>
            <a:cxnSpLocks/>
          </p:cNvCxnSpPr>
          <p:nvPr/>
        </p:nvCxnSpPr>
        <p:spPr>
          <a:xfrm>
            <a:off x="3234666" y="247256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31">
            <a:extLst>
              <a:ext uri="{FF2B5EF4-FFF2-40B4-BE49-F238E27FC236}">
                <a16:creationId xmlns:a16="http://schemas.microsoft.com/office/drawing/2014/main" id="{C2508FE9-F45A-DC45-62B3-2DA993B05C1C}"/>
              </a:ext>
            </a:extLst>
          </p:cNvPr>
          <p:cNvCxnSpPr>
            <a:cxnSpLocks/>
          </p:cNvCxnSpPr>
          <p:nvPr/>
        </p:nvCxnSpPr>
        <p:spPr>
          <a:xfrm>
            <a:off x="4499685" y="259862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31">
            <a:extLst>
              <a:ext uri="{FF2B5EF4-FFF2-40B4-BE49-F238E27FC236}">
                <a16:creationId xmlns:a16="http://schemas.microsoft.com/office/drawing/2014/main" id="{C7AF846A-AD44-7D42-2BC0-C0D8D3C070B4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764768" y="255658"/>
            <a:ext cx="570249" cy="5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oupe 4">
            <a:extLst>
              <a:ext uri="{FF2B5EF4-FFF2-40B4-BE49-F238E27FC236}">
                <a16:creationId xmlns:a16="http://schemas.microsoft.com/office/drawing/2014/main" id="{3B9C351E-212D-20A2-0E89-DA6164F61EE4}"/>
              </a:ext>
            </a:extLst>
          </p:cNvPr>
          <p:cNvGrpSpPr/>
          <p:nvPr/>
        </p:nvGrpSpPr>
        <p:grpSpPr>
          <a:xfrm>
            <a:off x="946780" y="1722933"/>
            <a:ext cx="10869300" cy="1650069"/>
            <a:chOff x="946780" y="1722933"/>
            <a:chExt cx="10869300" cy="1650069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541CCCB0-7B57-C0B6-E629-FEA4F40C9D78}"/>
                </a:ext>
              </a:extLst>
            </p:cNvPr>
            <p:cNvSpPr/>
            <p:nvPr/>
          </p:nvSpPr>
          <p:spPr>
            <a:xfrm>
              <a:off x="946780" y="1722933"/>
              <a:ext cx="10869300" cy="1650069"/>
            </a:xfrm>
            <a:prstGeom prst="roundRect">
              <a:avLst>
                <a:gd name="adj" fmla="val 4828"/>
              </a:avLst>
            </a:prstGeom>
            <a:solidFill>
              <a:srgbClr val="FFFFFF"/>
            </a:solidFill>
            <a:ln>
              <a:solidFill>
                <a:srgbClr val="76B900"/>
              </a:solidFill>
            </a:ln>
            <a:effectLst>
              <a:outerShdw blurRad="88900" dist="38100" dir="54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55" name="Text 3">
              <a:extLst>
                <a:ext uri="{FF2B5EF4-FFF2-40B4-BE49-F238E27FC236}">
                  <a16:creationId xmlns:a16="http://schemas.microsoft.com/office/drawing/2014/main" id="{526DD70D-2592-F08D-935F-650AFE7F0DE4}"/>
                </a:ext>
              </a:extLst>
            </p:cNvPr>
            <p:cNvSpPr/>
            <p:nvPr/>
          </p:nvSpPr>
          <p:spPr>
            <a:xfrm>
              <a:off x="1255567" y="1836731"/>
              <a:ext cx="6175739" cy="398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ea typeface="Cambria" pitchFamily="34" charset="-122"/>
                  <a:cs typeface="Cambria" pitchFamily="34" charset="-120"/>
                </a:rPr>
                <a:t>P1 — feasible on one charge</a:t>
              </a:r>
              <a:endParaRPr lang="en-US" dirty="0"/>
            </a:p>
          </p:txBody>
        </p:sp>
        <p:sp>
          <p:nvSpPr>
            <p:cNvPr id="57" name="Text 4">
              <a:extLst>
                <a:ext uri="{FF2B5EF4-FFF2-40B4-BE49-F238E27FC236}">
                  <a16:creationId xmlns:a16="http://schemas.microsoft.com/office/drawing/2014/main" id="{86154329-3FD5-61EB-3345-2D5DAD754D7F}"/>
                </a:ext>
              </a:extLst>
            </p:cNvPr>
            <p:cNvSpPr/>
            <p:nvPr/>
          </p:nvSpPr>
          <p:spPr>
            <a:xfrm>
              <a:off x="7122519" y="1836731"/>
              <a:ext cx="4446532" cy="398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00" i="1" dirty="0">
                  <a:solidFill>
                    <a:srgbClr val="5A6B5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recharge · ends 25/100</a:t>
              </a:r>
              <a:endParaRPr lang="en-US" sz="1100" dirty="0"/>
            </a:p>
          </p:txBody>
        </p:sp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0D50A863-40DC-F297-50F7-E599CF240A45}"/>
                </a:ext>
              </a:extLst>
            </p:cNvPr>
            <p:cNvGrpSpPr/>
            <p:nvPr/>
          </p:nvGrpSpPr>
          <p:grpSpPr>
            <a:xfrm>
              <a:off x="1255567" y="2348821"/>
              <a:ext cx="10251726" cy="523470"/>
              <a:chOff x="1255567" y="2348821"/>
              <a:chExt cx="10251727" cy="523470"/>
            </a:xfrm>
          </p:grpSpPr>
          <p:sp>
            <p:nvSpPr>
              <p:cNvPr id="59" name="Shape 5">
                <a:extLst>
                  <a:ext uri="{FF2B5EF4-FFF2-40B4-BE49-F238E27FC236}">
                    <a16:creationId xmlns:a16="http://schemas.microsoft.com/office/drawing/2014/main" id="{E8CEF285-C91B-6FF4-A9EC-155306C890B0}"/>
                  </a:ext>
                </a:extLst>
              </p:cNvPr>
              <p:cNvSpPr/>
              <p:nvPr/>
            </p:nvSpPr>
            <p:spPr>
              <a:xfrm>
                <a:off x="1255567" y="2348821"/>
                <a:ext cx="1585106" cy="523470"/>
              </a:xfrm>
              <a:prstGeom prst="roundRect">
                <a:avLst>
                  <a:gd name="adj" fmla="val 10870"/>
                </a:avLst>
              </a:prstGeom>
              <a:solidFill>
                <a:srgbClr val="FFFFFF"/>
              </a:solidFill>
              <a:ln w="12700">
                <a:solidFill>
                  <a:srgbClr val="D8DEC8"/>
                </a:solidFill>
                <a:prstDash val="solid"/>
              </a:ln>
            </p:spPr>
            <p:txBody>
              <a:bodyPr/>
              <a:lstStyle/>
              <a:p>
                <a:endParaRPr lang="fr-TN" sz="1200"/>
              </a:p>
            </p:txBody>
          </p:sp>
          <p:sp>
            <p:nvSpPr>
              <p:cNvPr id="61" name="Text 6">
                <a:extLst>
                  <a:ext uri="{FF2B5EF4-FFF2-40B4-BE49-F238E27FC236}">
                    <a16:creationId xmlns:a16="http://schemas.microsoft.com/office/drawing/2014/main" id="{CCA5EC04-4F68-2A75-BCF4-C48CB621D265}"/>
                  </a:ext>
                </a:extLst>
              </p:cNvPr>
              <p:cNvSpPr/>
              <p:nvPr/>
            </p:nvSpPr>
            <p:spPr>
              <a:xfrm>
                <a:off x="1255567" y="2348821"/>
                <a:ext cx="1585106" cy="5234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F2A1F"/>
                    </a:solidFill>
                    <a:ea typeface="Calibri" pitchFamily="34" charset="-122"/>
                    <a:cs typeface="Calibri" pitchFamily="34" charset="-120"/>
                  </a:rPr>
                  <a:t>D  →  P1</a:t>
                </a:r>
                <a:endParaRPr lang="en-US" sz="1200" dirty="0"/>
              </a:p>
            </p:txBody>
          </p:sp>
          <p:sp>
            <p:nvSpPr>
              <p:cNvPr id="63" name="Text 7">
                <a:extLst>
                  <a:ext uri="{FF2B5EF4-FFF2-40B4-BE49-F238E27FC236}">
                    <a16:creationId xmlns:a16="http://schemas.microsoft.com/office/drawing/2014/main" id="{D3B72049-9F43-3005-0E9C-6D92554639C1}"/>
                  </a:ext>
                </a:extLst>
              </p:cNvPr>
              <p:cNvSpPr/>
              <p:nvPr/>
            </p:nvSpPr>
            <p:spPr>
              <a:xfrm>
                <a:off x="2815970" y="2348821"/>
                <a:ext cx="197624" cy="5234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ea typeface="Calibri" pitchFamily="34" charset="-122"/>
                    <a:cs typeface="Calibri" pitchFamily="34" charset="-120"/>
                  </a:rPr>
                  <a:t>›</a:t>
                </a:r>
                <a:endParaRPr lang="en-US" sz="1200" dirty="0"/>
              </a:p>
            </p:txBody>
          </p:sp>
          <p:sp>
            <p:nvSpPr>
              <p:cNvPr id="65" name="Shape 8">
                <a:extLst>
                  <a:ext uri="{FF2B5EF4-FFF2-40B4-BE49-F238E27FC236}">
                    <a16:creationId xmlns:a16="http://schemas.microsoft.com/office/drawing/2014/main" id="{213A82C4-AB32-1242-088B-18E85305C660}"/>
                  </a:ext>
                </a:extLst>
              </p:cNvPr>
              <p:cNvSpPr/>
              <p:nvPr/>
            </p:nvSpPr>
            <p:spPr>
              <a:xfrm>
                <a:off x="2988891" y="2348821"/>
                <a:ext cx="1585106" cy="523470"/>
              </a:xfrm>
              <a:prstGeom prst="roundRect">
                <a:avLst>
                  <a:gd name="adj" fmla="val 10870"/>
                </a:avLst>
              </a:prstGeom>
              <a:solidFill>
                <a:srgbClr val="76B900"/>
              </a:solidFill>
              <a:ln w="12700">
                <a:solidFill>
                  <a:srgbClr val="2C5F2D"/>
                </a:solidFill>
                <a:prstDash val="solid"/>
              </a:ln>
            </p:spPr>
            <p:txBody>
              <a:bodyPr/>
              <a:lstStyle/>
              <a:p>
                <a:endParaRPr lang="fr-TN" sz="1200"/>
              </a:p>
            </p:txBody>
          </p:sp>
          <p:sp>
            <p:nvSpPr>
              <p:cNvPr id="67" name="Text 9">
                <a:extLst>
                  <a:ext uri="{FF2B5EF4-FFF2-40B4-BE49-F238E27FC236}">
                    <a16:creationId xmlns:a16="http://schemas.microsoft.com/office/drawing/2014/main" id="{764A3FC2-00D2-EA0A-29DE-48F88774DC15}"/>
                  </a:ext>
                </a:extLst>
              </p:cNvPr>
              <p:cNvSpPr/>
              <p:nvPr/>
            </p:nvSpPr>
            <p:spPr>
              <a:xfrm>
                <a:off x="2988891" y="2348821"/>
                <a:ext cx="1585106" cy="5234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ea typeface="Calibri" pitchFamily="34" charset="-122"/>
                    <a:cs typeface="Calibri" pitchFamily="34" charset="-120"/>
                  </a:rPr>
                  <a:t>monitor</a:t>
                </a:r>
                <a:endParaRPr lang="en-US" sz="1200" dirty="0"/>
              </a:p>
            </p:txBody>
          </p:sp>
          <p:sp>
            <p:nvSpPr>
              <p:cNvPr id="69" name="Text 10">
                <a:extLst>
                  <a:ext uri="{FF2B5EF4-FFF2-40B4-BE49-F238E27FC236}">
                    <a16:creationId xmlns:a16="http://schemas.microsoft.com/office/drawing/2014/main" id="{53954881-C5D7-39D2-3AF3-F8FC4C424368}"/>
                  </a:ext>
                </a:extLst>
              </p:cNvPr>
              <p:cNvSpPr/>
              <p:nvPr/>
            </p:nvSpPr>
            <p:spPr>
              <a:xfrm>
                <a:off x="4549294" y="2348821"/>
                <a:ext cx="197624" cy="5234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ea typeface="Calibri" pitchFamily="34" charset="-122"/>
                    <a:cs typeface="Calibri" pitchFamily="34" charset="-120"/>
                  </a:rPr>
                  <a:t>›</a:t>
                </a:r>
                <a:endParaRPr lang="en-US" sz="1200" dirty="0"/>
              </a:p>
            </p:txBody>
          </p:sp>
          <p:sp>
            <p:nvSpPr>
              <p:cNvPr id="71" name="Shape 11">
                <a:extLst>
                  <a:ext uri="{FF2B5EF4-FFF2-40B4-BE49-F238E27FC236}">
                    <a16:creationId xmlns:a16="http://schemas.microsoft.com/office/drawing/2014/main" id="{90B9DF24-7408-FB46-4C73-DDFF392D2A16}"/>
                  </a:ext>
                </a:extLst>
              </p:cNvPr>
              <p:cNvSpPr/>
              <p:nvPr/>
            </p:nvSpPr>
            <p:spPr>
              <a:xfrm>
                <a:off x="4722215" y="2348821"/>
                <a:ext cx="1585106" cy="523470"/>
              </a:xfrm>
              <a:prstGeom prst="roundRect">
                <a:avLst>
                  <a:gd name="adj" fmla="val 10870"/>
                </a:avLst>
              </a:prstGeom>
              <a:solidFill>
                <a:srgbClr val="FFFFFF"/>
              </a:solidFill>
              <a:ln w="12700">
                <a:solidFill>
                  <a:srgbClr val="D8DEC8"/>
                </a:solidFill>
                <a:prstDash val="solid"/>
              </a:ln>
            </p:spPr>
            <p:txBody>
              <a:bodyPr/>
              <a:lstStyle/>
              <a:p>
                <a:endParaRPr lang="fr-TN" sz="1200"/>
              </a:p>
            </p:txBody>
          </p:sp>
          <p:sp>
            <p:nvSpPr>
              <p:cNvPr id="73" name="Text 12">
                <a:extLst>
                  <a:ext uri="{FF2B5EF4-FFF2-40B4-BE49-F238E27FC236}">
                    <a16:creationId xmlns:a16="http://schemas.microsoft.com/office/drawing/2014/main" id="{9C0BABD3-FC87-918F-AA16-6BBEFF803AB2}"/>
                  </a:ext>
                </a:extLst>
              </p:cNvPr>
              <p:cNvSpPr/>
              <p:nvPr/>
            </p:nvSpPr>
            <p:spPr>
              <a:xfrm>
                <a:off x="4722215" y="2348821"/>
                <a:ext cx="1585106" cy="5234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F2A1F"/>
                    </a:solidFill>
                    <a:ea typeface="Calibri" pitchFamily="34" charset="-122"/>
                    <a:cs typeface="Calibri" pitchFamily="34" charset="-120"/>
                  </a:rPr>
                  <a:t>P1 → D</a:t>
                </a:r>
                <a:endParaRPr lang="en-US" sz="1200" dirty="0"/>
              </a:p>
            </p:txBody>
          </p:sp>
          <p:sp>
            <p:nvSpPr>
              <p:cNvPr id="75" name="Text 13">
                <a:extLst>
                  <a:ext uri="{FF2B5EF4-FFF2-40B4-BE49-F238E27FC236}">
                    <a16:creationId xmlns:a16="http://schemas.microsoft.com/office/drawing/2014/main" id="{0476E0C9-2D40-4482-3884-5D419A198B66}"/>
                  </a:ext>
                </a:extLst>
              </p:cNvPr>
              <p:cNvSpPr/>
              <p:nvPr/>
            </p:nvSpPr>
            <p:spPr>
              <a:xfrm>
                <a:off x="6282618" y="2348821"/>
                <a:ext cx="197624" cy="5234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ea typeface="Calibri" pitchFamily="34" charset="-122"/>
                    <a:cs typeface="Calibri" pitchFamily="34" charset="-120"/>
                  </a:rPr>
                  <a:t>›</a:t>
                </a:r>
                <a:endParaRPr lang="en-US" sz="1200" dirty="0"/>
              </a:p>
            </p:txBody>
          </p:sp>
          <p:sp>
            <p:nvSpPr>
              <p:cNvPr id="77" name="Shape 14">
                <a:extLst>
                  <a:ext uri="{FF2B5EF4-FFF2-40B4-BE49-F238E27FC236}">
                    <a16:creationId xmlns:a16="http://schemas.microsoft.com/office/drawing/2014/main" id="{BA87E173-DF5A-8444-A715-257C4E7062FA}"/>
                  </a:ext>
                </a:extLst>
              </p:cNvPr>
              <p:cNvSpPr/>
              <p:nvPr/>
            </p:nvSpPr>
            <p:spPr>
              <a:xfrm>
                <a:off x="6455539" y="2348821"/>
                <a:ext cx="1585106" cy="523470"/>
              </a:xfrm>
              <a:prstGeom prst="roundRect">
                <a:avLst>
                  <a:gd name="adj" fmla="val 10870"/>
                </a:avLst>
              </a:prstGeom>
              <a:solidFill>
                <a:srgbClr val="FFFFFF"/>
              </a:solidFill>
              <a:ln w="12700">
                <a:solidFill>
                  <a:srgbClr val="D8DEC8"/>
                </a:solidFill>
                <a:prstDash val="solid"/>
              </a:ln>
            </p:spPr>
            <p:txBody>
              <a:bodyPr/>
              <a:lstStyle/>
              <a:p>
                <a:endParaRPr lang="fr-TN" sz="1200"/>
              </a:p>
            </p:txBody>
          </p:sp>
          <p:sp>
            <p:nvSpPr>
              <p:cNvPr id="79" name="Text 15">
                <a:extLst>
                  <a:ext uri="{FF2B5EF4-FFF2-40B4-BE49-F238E27FC236}">
                    <a16:creationId xmlns:a16="http://schemas.microsoft.com/office/drawing/2014/main" id="{323385B0-2E1C-6BF2-ADCE-3EED68E0833D}"/>
                  </a:ext>
                </a:extLst>
              </p:cNvPr>
              <p:cNvSpPr/>
              <p:nvPr/>
            </p:nvSpPr>
            <p:spPr>
              <a:xfrm>
                <a:off x="6455539" y="2348821"/>
                <a:ext cx="1585106" cy="5234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F2A1F"/>
                    </a:solidFill>
                    <a:ea typeface="Calibri" pitchFamily="34" charset="-122"/>
                    <a:cs typeface="Calibri" pitchFamily="34" charset="-120"/>
                  </a:rPr>
                  <a:t>D  →  P2</a:t>
                </a:r>
                <a:endParaRPr lang="en-US" sz="1200" dirty="0"/>
              </a:p>
            </p:txBody>
          </p:sp>
          <p:sp>
            <p:nvSpPr>
              <p:cNvPr id="81" name="Text 16">
                <a:extLst>
                  <a:ext uri="{FF2B5EF4-FFF2-40B4-BE49-F238E27FC236}">
                    <a16:creationId xmlns:a16="http://schemas.microsoft.com/office/drawing/2014/main" id="{CF6F9810-8CCB-2712-4F22-738049B0497B}"/>
                  </a:ext>
                </a:extLst>
              </p:cNvPr>
              <p:cNvSpPr/>
              <p:nvPr/>
            </p:nvSpPr>
            <p:spPr>
              <a:xfrm>
                <a:off x="8015942" y="2348821"/>
                <a:ext cx="197624" cy="5234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ea typeface="Calibri" pitchFamily="34" charset="-122"/>
                    <a:cs typeface="Calibri" pitchFamily="34" charset="-120"/>
                  </a:rPr>
                  <a:t>›</a:t>
                </a:r>
                <a:endParaRPr lang="en-US" sz="1200" dirty="0"/>
              </a:p>
            </p:txBody>
          </p:sp>
          <p:sp>
            <p:nvSpPr>
              <p:cNvPr id="83" name="Shape 17">
                <a:extLst>
                  <a:ext uri="{FF2B5EF4-FFF2-40B4-BE49-F238E27FC236}">
                    <a16:creationId xmlns:a16="http://schemas.microsoft.com/office/drawing/2014/main" id="{8AC03448-9802-BC95-665C-29DAD723C9BA}"/>
                  </a:ext>
                </a:extLst>
              </p:cNvPr>
              <p:cNvSpPr/>
              <p:nvPr/>
            </p:nvSpPr>
            <p:spPr>
              <a:xfrm>
                <a:off x="8188863" y="2348821"/>
                <a:ext cx="1585106" cy="523470"/>
              </a:xfrm>
              <a:prstGeom prst="roundRect">
                <a:avLst>
                  <a:gd name="adj" fmla="val 10870"/>
                </a:avLst>
              </a:prstGeom>
              <a:solidFill>
                <a:srgbClr val="76B900"/>
              </a:solidFill>
              <a:ln w="12700">
                <a:solidFill>
                  <a:srgbClr val="2C5F2D"/>
                </a:solidFill>
                <a:prstDash val="solid"/>
              </a:ln>
            </p:spPr>
            <p:txBody>
              <a:bodyPr/>
              <a:lstStyle/>
              <a:p>
                <a:endParaRPr lang="fr-TN" sz="1200"/>
              </a:p>
            </p:txBody>
          </p:sp>
          <p:sp>
            <p:nvSpPr>
              <p:cNvPr id="85" name="Text 18">
                <a:extLst>
                  <a:ext uri="{FF2B5EF4-FFF2-40B4-BE49-F238E27FC236}">
                    <a16:creationId xmlns:a16="http://schemas.microsoft.com/office/drawing/2014/main" id="{7D77E40E-F544-B7AB-D04B-0AE126974CAF}"/>
                  </a:ext>
                </a:extLst>
              </p:cNvPr>
              <p:cNvSpPr/>
              <p:nvPr/>
            </p:nvSpPr>
            <p:spPr>
              <a:xfrm>
                <a:off x="8188863" y="2348821"/>
                <a:ext cx="1585106" cy="5234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ea typeface="Calibri" pitchFamily="34" charset="-122"/>
                    <a:cs typeface="Calibri" pitchFamily="34" charset="-120"/>
                  </a:rPr>
                  <a:t>water</a:t>
                </a:r>
                <a:endParaRPr lang="en-US" sz="1200" dirty="0"/>
              </a:p>
            </p:txBody>
          </p:sp>
          <p:sp>
            <p:nvSpPr>
              <p:cNvPr id="87" name="Text 19">
                <a:extLst>
                  <a:ext uri="{FF2B5EF4-FFF2-40B4-BE49-F238E27FC236}">
                    <a16:creationId xmlns:a16="http://schemas.microsoft.com/office/drawing/2014/main" id="{6D6DC024-1994-246F-2E85-A7D8AF9546F5}"/>
                  </a:ext>
                </a:extLst>
              </p:cNvPr>
              <p:cNvSpPr/>
              <p:nvPr/>
            </p:nvSpPr>
            <p:spPr>
              <a:xfrm>
                <a:off x="9749266" y="2348821"/>
                <a:ext cx="197624" cy="5234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ea typeface="Calibri" pitchFamily="34" charset="-122"/>
                    <a:cs typeface="Calibri" pitchFamily="34" charset="-120"/>
                  </a:rPr>
                  <a:t>›</a:t>
                </a:r>
                <a:endParaRPr lang="en-US" sz="1200" dirty="0"/>
              </a:p>
            </p:txBody>
          </p:sp>
          <p:sp>
            <p:nvSpPr>
              <p:cNvPr id="89" name="Shape 20">
                <a:extLst>
                  <a:ext uri="{FF2B5EF4-FFF2-40B4-BE49-F238E27FC236}">
                    <a16:creationId xmlns:a16="http://schemas.microsoft.com/office/drawing/2014/main" id="{2AFE3D57-0E1F-56E4-C14F-698E55364764}"/>
                  </a:ext>
                </a:extLst>
              </p:cNvPr>
              <p:cNvSpPr/>
              <p:nvPr/>
            </p:nvSpPr>
            <p:spPr>
              <a:xfrm>
                <a:off x="9922188" y="2348821"/>
                <a:ext cx="1585106" cy="523470"/>
              </a:xfrm>
              <a:prstGeom prst="roundRect">
                <a:avLst>
                  <a:gd name="adj" fmla="val 10870"/>
                </a:avLst>
              </a:prstGeom>
              <a:solidFill>
                <a:srgbClr val="FFFFFF"/>
              </a:solidFill>
              <a:ln w="12700">
                <a:solidFill>
                  <a:srgbClr val="D8DEC8"/>
                </a:solidFill>
                <a:prstDash val="solid"/>
              </a:ln>
            </p:spPr>
            <p:txBody>
              <a:bodyPr/>
              <a:lstStyle/>
              <a:p>
                <a:endParaRPr lang="fr-TN" sz="1200"/>
              </a:p>
            </p:txBody>
          </p:sp>
          <p:sp>
            <p:nvSpPr>
              <p:cNvPr id="91" name="Text 21">
                <a:extLst>
                  <a:ext uri="{FF2B5EF4-FFF2-40B4-BE49-F238E27FC236}">
                    <a16:creationId xmlns:a16="http://schemas.microsoft.com/office/drawing/2014/main" id="{32A55717-8C53-48B0-791B-A4EA7E952BDF}"/>
                  </a:ext>
                </a:extLst>
              </p:cNvPr>
              <p:cNvSpPr/>
              <p:nvPr/>
            </p:nvSpPr>
            <p:spPr>
              <a:xfrm>
                <a:off x="9922187" y="2348821"/>
                <a:ext cx="1585106" cy="5234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F2A1F"/>
                    </a:solidFill>
                    <a:ea typeface="Calibri" pitchFamily="34" charset="-122"/>
                    <a:cs typeface="Calibri" pitchFamily="34" charset="-120"/>
                  </a:rPr>
                  <a:t>P2  →  D</a:t>
                </a:r>
                <a:endParaRPr lang="en-US" sz="1200" dirty="0"/>
              </a:p>
            </p:txBody>
          </p:sp>
        </p:grpSp>
        <p:sp>
          <p:nvSpPr>
            <p:cNvPr id="93" name="Text 22">
              <a:extLst>
                <a:ext uri="{FF2B5EF4-FFF2-40B4-BE49-F238E27FC236}">
                  <a16:creationId xmlns:a16="http://schemas.microsoft.com/office/drawing/2014/main" id="{BDCCBB6E-5BB4-492A-5E01-34B9D06EBD8D}"/>
                </a:ext>
              </a:extLst>
            </p:cNvPr>
            <p:cNvSpPr/>
            <p:nvPr/>
          </p:nvSpPr>
          <p:spPr>
            <a:xfrm>
              <a:off x="1255567" y="2974710"/>
              <a:ext cx="10251726" cy="3413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5A6B57"/>
                  </a:solidFill>
                  <a:ea typeface="Calibri" pitchFamily="34" charset="-122"/>
                  <a:cs typeface="Calibri" pitchFamily="34" charset="-120"/>
                </a:rPr>
                <a:t>Watering drops the load, so the last move costs only 10 instead of 15.</a:t>
              </a:r>
              <a:endParaRPr lang="en-US" sz="1600" i="1" dirty="0"/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E912E194-7B5A-EEA1-3887-2344306CC635}"/>
              </a:ext>
            </a:extLst>
          </p:cNvPr>
          <p:cNvGrpSpPr/>
          <p:nvPr/>
        </p:nvGrpSpPr>
        <p:grpSpPr>
          <a:xfrm>
            <a:off x="946780" y="3600598"/>
            <a:ext cx="10869300" cy="2048362"/>
            <a:chOff x="946780" y="3600598"/>
            <a:chExt cx="10869300" cy="2048362"/>
          </a:xfrm>
        </p:grpSpPr>
        <p:sp>
          <p:nvSpPr>
            <p:cNvPr id="95" name="Shape 23">
              <a:extLst>
                <a:ext uri="{FF2B5EF4-FFF2-40B4-BE49-F238E27FC236}">
                  <a16:creationId xmlns:a16="http://schemas.microsoft.com/office/drawing/2014/main" id="{0D68A799-5F19-59B1-F874-2853B8CDBFC3}"/>
                </a:ext>
              </a:extLst>
            </p:cNvPr>
            <p:cNvSpPr/>
            <p:nvPr/>
          </p:nvSpPr>
          <p:spPr>
            <a:xfrm>
              <a:off x="946780" y="3600598"/>
              <a:ext cx="10869300" cy="2048362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>
              <a:solidFill>
                <a:srgbClr val="76B900"/>
              </a:solidFill>
            </a:ln>
            <a:effectLst>
              <a:outerShdw blurRad="88900" dist="38100" dir="54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97" name="Text 24">
              <a:extLst>
                <a:ext uri="{FF2B5EF4-FFF2-40B4-BE49-F238E27FC236}">
                  <a16:creationId xmlns:a16="http://schemas.microsoft.com/office/drawing/2014/main" id="{115DFA16-139A-A77F-3F07-09411C16974B}"/>
                </a:ext>
              </a:extLst>
            </p:cNvPr>
            <p:cNvSpPr/>
            <p:nvPr/>
          </p:nvSpPr>
          <p:spPr>
            <a:xfrm>
              <a:off x="1255567" y="3714396"/>
              <a:ext cx="6175739" cy="398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ea typeface="Cambria" pitchFamily="34" charset="-122"/>
                  <a:cs typeface="Cambria" pitchFamily="34" charset="-120"/>
                </a:rPr>
                <a:t>P2 — recharge required</a:t>
              </a:r>
              <a:endParaRPr lang="en-US" dirty="0"/>
            </a:p>
          </p:txBody>
        </p:sp>
        <p:sp>
          <p:nvSpPr>
            <p:cNvPr id="99" name="Text 25">
              <a:extLst>
                <a:ext uri="{FF2B5EF4-FFF2-40B4-BE49-F238E27FC236}">
                  <a16:creationId xmlns:a16="http://schemas.microsoft.com/office/drawing/2014/main" id="{972AF5A8-08FB-624A-D304-6BBED450BBB3}"/>
                </a:ext>
              </a:extLst>
            </p:cNvPr>
            <p:cNvSpPr/>
            <p:nvPr/>
          </p:nvSpPr>
          <p:spPr>
            <a:xfrm>
              <a:off x="7122519" y="3714396"/>
              <a:ext cx="4446532" cy="398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00" i="1" dirty="0">
                  <a:solidFill>
                    <a:srgbClr val="5A6B5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round trip &gt; 100 · ends 5/100</a:t>
              </a:r>
              <a:endParaRPr lang="en-US" sz="1100" dirty="0"/>
            </a:p>
          </p:txBody>
        </p:sp>
        <p:sp>
          <p:nvSpPr>
            <p:cNvPr id="101" name="Shape 26">
              <a:extLst>
                <a:ext uri="{FF2B5EF4-FFF2-40B4-BE49-F238E27FC236}">
                  <a16:creationId xmlns:a16="http://schemas.microsoft.com/office/drawing/2014/main" id="{5A833F04-2646-37C6-A0DD-71F838312D78}"/>
                </a:ext>
              </a:extLst>
            </p:cNvPr>
            <p:cNvSpPr/>
            <p:nvPr/>
          </p:nvSpPr>
          <p:spPr>
            <a:xfrm>
              <a:off x="1255567" y="4192347"/>
              <a:ext cx="797232" cy="52347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2700">
              <a:solidFill>
                <a:srgbClr val="D8DEC8"/>
              </a:solidFill>
              <a:prstDash val="solid"/>
            </a:ln>
          </p:spPr>
          <p:txBody>
            <a:bodyPr/>
            <a:lstStyle/>
            <a:p>
              <a:endParaRPr lang="fr-TN" sz="1200"/>
            </a:p>
          </p:txBody>
        </p:sp>
        <p:sp>
          <p:nvSpPr>
            <p:cNvPr id="103" name="Text 27">
              <a:extLst>
                <a:ext uri="{FF2B5EF4-FFF2-40B4-BE49-F238E27FC236}">
                  <a16:creationId xmlns:a16="http://schemas.microsoft.com/office/drawing/2014/main" id="{BA28623D-0E74-2CA5-12C6-B5F886034ACF}"/>
                </a:ext>
              </a:extLst>
            </p:cNvPr>
            <p:cNvSpPr/>
            <p:nvPr/>
          </p:nvSpPr>
          <p:spPr>
            <a:xfrm>
              <a:off x="1255567" y="4192347"/>
              <a:ext cx="797232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A1F"/>
                  </a:solidFill>
                  <a:ea typeface="Calibri" pitchFamily="34" charset="-122"/>
                  <a:cs typeface="Calibri" pitchFamily="34" charset="-120"/>
                </a:rPr>
                <a:t>D → P1</a:t>
              </a:r>
              <a:endParaRPr lang="en-US" sz="1200" dirty="0"/>
            </a:p>
          </p:txBody>
        </p:sp>
        <p:sp>
          <p:nvSpPr>
            <p:cNvPr id="105" name="Text 28">
              <a:extLst>
                <a:ext uri="{FF2B5EF4-FFF2-40B4-BE49-F238E27FC236}">
                  <a16:creationId xmlns:a16="http://schemas.microsoft.com/office/drawing/2014/main" id="{4BB31D7A-95C1-097E-AA9C-B58512BAC44A}"/>
                </a:ext>
              </a:extLst>
            </p:cNvPr>
            <p:cNvSpPr/>
            <p:nvPr/>
          </p:nvSpPr>
          <p:spPr>
            <a:xfrm>
              <a:off x="2028096" y="4192347"/>
              <a:ext cx="197624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ea typeface="Calibri" pitchFamily="34" charset="-122"/>
                  <a:cs typeface="Calibri" pitchFamily="34" charset="-120"/>
                </a:rPr>
                <a:t>›</a:t>
              </a:r>
              <a:endParaRPr lang="en-US" sz="1200" dirty="0"/>
            </a:p>
          </p:txBody>
        </p:sp>
        <p:sp>
          <p:nvSpPr>
            <p:cNvPr id="107" name="Shape 29">
              <a:extLst>
                <a:ext uri="{FF2B5EF4-FFF2-40B4-BE49-F238E27FC236}">
                  <a16:creationId xmlns:a16="http://schemas.microsoft.com/office/drawing/2014/main" id="{40CCB567-60FE-AE0B-9DA9-82842868DDC9}"/>
                </a:ext>
              </a:extLst>
            </p:cNvPr>
            <p:cNvSpPr/>
            <p:nvPr/>
          </p:nvSpPr>
          <p:spPr>
            <a:xfrm>
              <a:off x="2201017" y="4192347"/>
              <a:ext cx="797232" cy="52347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2700">
              <a:solidFill>
                <a:srgbClr val="D8DEC8"/>
              </a:solidFill>
              <a:prstDash val="solid"/>
            </a:ln>
          </p:spPr>
          <p:txBody>
            <a:bodyPr/>
            <a:lstStyle/>
            <a:p>
              <a:endParaRPr lang="fr-TN" sz="1200"/>
            </a:p>
          </p:txBody>
        </p:sp>
        <p:sp>
          <p:nvSpPr>
            <p:cNvPr id="109" name="Text 30">
              <a:extLst>
                <a:ext uri="{FF2B5EF4-FFF2-40B4-BE49-F238E27FC236}">
                  <a16:creationId xmlns:a16="http://schemas.microsoft.com/office/drawing/2014/main" id="{7F3C872C-E631-996E-D230-02127B21FFF2}"/>
                </a:ext>
              </a:extLst>
            </p:cNvPr>
            <p:cNvSpPr/>
            <p:nvPr/>
          </p:nvSpPr>
          <p:spPr>
            <a:xfrm>
              <a:off x="2201017" y="4192347"/>
              <a:ext cx="797232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A1F"/>
                  </a:solidFill>
                  <a:ea typeface="Calibri" pitchFamily="34" charset="-122"/>
                  <a:cs typeface="Calibri" pitchFamily="34" charset="-120"/>
                </a:rPr>
                <a:t>P1 → P3</a:t>
              </a:r>
              <a:endParaRPr lang="en-US" sz="1200" dirty="0"/>
            </a:p>
          </p:txBody>
        </p:sp>
        <p:sp>
          <p:nvSpPr>
            <p:cNvPr id="111" name="Text 31">
              <a:extLst>
                <a:ext uri="{FF2B5EF4-FFF2-40B4-BE49-F238E27FC236}">
                  <a16:creationId xmlns:a16="http://schemas.microsoft.com/office/drawing/2014/main" id="{5F8E9E55-F397-D85B-5001-53956E3A7168}"/>
                </a:ext>
              </a:extLst>
            </p:cNvPr>
            <p:cNvSpPr/>
            <p:nvPr/>
          </p:nvSpPr>
          <p:spPr>
            <a:xfrm>
              <a:off x="2973545" y="4192347"/>
              <a:ext cx="197624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ea typeface="Calibri" pitchFamily="34" charset="-122"/>
                  <a:cs typeface="Calibri" pitchFamily="34" charset="-120"/>
                </a:rPr>
                <a:t>›</a:t>
              </a:r>
              <a:endParaRPr lang="en-US" sz="1200" dirty="0"/>
            </a:p>
          </p:txBody>
        </p:sp>
        <p:sp>
          <p:nvSpPr>
            <p:cNvPr id="113" name="Shape 32">
              <a:extLst>
                <a:ext uri="{FF2B5EF4-FFF2-40B4-BE49-F238E27FC236}">
                  <a16:creationId xmlns:a16="http://schemas.microsoft.com/office/drawing/2014/main" id="{0513CE5E-85F5-B4D2-3979-5F36E128F3A4}"/>
                </a:ext>
              </a:extLst>
            </p:cNvPr>
            <p:cNvSpPr/>
            <p:nvPr/>
          </p:nvSpPr>
          <p:spPr>
            <a:xfrm>
              <a:off x="3146465" y="4192347"/>
              <a:ext cx="797232" cy="523470"/>
            </a:xfrm>
            <a:prstGeom prst="roundRect">
              <a:avLst>
                <a:gd name="adj" fmla="val 10870"/>
              </a:avLst>
            </a:prstGeom>
            <a:solidFill>
              <a:srgbClr val="76B900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fr-TN" sz="1200"/>
            </a:p>
          </p:txBody>
        </p:sp>
        <p:sp>
          <p:nvSpPr>
            <p:cNvPr id="115" name="Text 33">
              <a:extLst>
                <a:ext uri="{FF2B5EF4-FFF2-40B4-BE49-F238E27FC236}">
                  <a16:creationId xmlns:a16="http://schemas.microsoft.com/office/drawing/2014/main" id="{1E2E7022-BB87-7C02-B63E-305288C2892C}"/>
                </a:ext>
              </a:extLst>
            </p:cNvPr>
            <p:cNvSpPr/>
            <p:nvPr/>
          </p:nvSpPr>
          <p:spPr>
            <a:xfrm>
              <a:off x="3146465" y="4192347"/>
              <a:ext cx="797232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fertil.</a:t>
              </a:r>
              <a:endParaRPr lang="en-US" sz="1200" dirty="0"/>
            </a:p>
          </p:txBody>
        </p:sp>
        <p:sp>
          <p:nvSpPr>
            <p:cNvPr id="117" name="Text 34">
              <a:extLst>
                <a:ext uri="{FF2B5EF4-FFF2-40B4-BE49-F238E27FC236}">
                  <a16:creationId xmlns:a16="http://schemas.microsoft.com/office/drawing/2014/main" id="{C6FC9F9B-89C9-746F-EA8A-7CE42C9D14A1}"/>
                </a:ext>
              </a:extLst>
            </p:cNvPr>
            <p:cNvSpPr/>
            <p:nvPr/>
          </p:nvSpPr>
          <p:spPr>
            <a:xfrm>
              <a:off x="3918995" y="4192347"/>
              <a:ext cx="197624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ea typeface="Calibri" pitchFamily="34" charset="-122"/>
                  <a:cs typeface="Calibri" pitchFamily="34" charset="-120"/>
                </a:rPr>
                <a:t>›</a:t>
              </a:r>
              <a:endParaRPr lang="en-US" sz="1200" dirty="0"/>
            </a:p>
          </p:txBody>
        </p:sp>
        <p:sp>
          <p:nvSpPr>
            <p:cNvPr id="119" name="Shape 35">
              <a:extLst>
                <a:ext uri="{FF2B5EF4-FFF2-40B4-BE49-F238E27FC236}">
                  <a16:creationId xmlns:a16="http://schemas.microsoft.com/office/drawing/2014/main" id="{B86027A6-C1A6-3CC8-AD33-D53E9F195EF0}"/>
                </a:ext>
              </a:extLst>
            </p:cNvPr>
            <p:cNvSpPr/>
            <p:nvPr/>
          </p:nvSpPr>
          <p:spPr>
            <a:xfrm>
              <a:off x="4091915" y="4192347"/>
              <a:ext cx="797232" cy="52347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2700">
              <a:solidFill>
                <a:srgbClr val="D8DEC8"/>
              </a:solidFill>
              <a:prstDash val="solid"/>
            </a:ln>
          </p:spPr>
          <p:txBody>
            <a:bodyPr/>
            <a:lstStyle/>
            <a:p>
              <a:endParaRPr lang="fr-TN" sz="1200"/>
            </a:p>
          </p:txBody>
        </p:sp>
        <p:sp>
          <p:nvSpPr>
            <p:cNvPr id="121" name="Text 36">
              <a:extLst>
                <a:ext uri="{FF2B5EF4-FFF2-40B4-BE49-F238E27FC236}">
                  <a16:creationId xmlns:a16="http://schemas.microsoft.com/office/drawing/2014/main" id="{052AA47B-2B6F-4AA1-FA62-7AC9AA58AA65}"/>
                </a:ext>
              </a:extLst>
            </p:cNvPr>
            <p:cNvSpPr/>
            <p:nvPr/>
          </p:nvSpPr>
          <p:spPr>
            <a:xfrm>
              <a:off x="4091915" y="4192347"/>
              <a:ext cx="797232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A1F"/>
                  </a:solidFill>
                  <a:ea typeface="Calibri" pitchFamily="34" charset="-122"/>
                  <a:cs typeface="Calibri" pitchFamily="34" charset="-120"/>
                </a:rPr>
                <a:t>P3 → P1</a:t>
              </a:r>
              <a:endParaRPr lang="en-US" sz="1200" dirty="0"/>
            </a:p>
          </p:txBody>
        </p:sp>
        <p:sp>
          <p:nvSpPr>
            <p:cNvPr id="123" name="Text 37">
              <a:extLst>
                <a:ext uri="{FF2B5EF4-FFF2-40B4-BE49-F238E27FC236}">
                  <a16:creationId xmlns:a16="http://schemas.microsoft.com/office/drawing/2014/main" id="{144A4536-775C-D095-57B4-9A33CAA18656}"/>
                </a:ext>
              </a:extLst>
            </p:cNvPr>
            <p:cNvSpPr/>
            <p:nvPr/>
          </p:nvSpPr>
          <p:spPr>
            <a:xfrm>
              <a:off x="4864445" y="4192347"/>
              <a:ext cx="197624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ea typeface="Calibri" pitchFamily="34" charset="-122"/>
                  <a:cs typeface="Calibri" pitchFamily="34" charset="-120"/>
                </a:rPr>
                <a:t>›</a:t>
              </a:r>
              <a:endParaRPr lang="en-US" sz="1200" dirty="0"/>
            </a:p>
          </p:txBody>
        </p:sp>
        <p:sp>
          <p:nvSpPr>
            <p:cNvPr id="125" name="Shape 38">
              <a:extLst>
                <a:ext uri="{FF2B5EF4-FFF2-40B4-BE49-F238E27FC236}">
                  <a16:creationId xmlns:a16="http://schemas.microsoft.com/office/drawing/2014/main" id="{E5D17E59-C453-27D4-8AD8-F4A654CECD5C}"/>
                </a:ext>
              </a:extLst>
            </p:cNvPr>
            <p:cNvSpPr/>
            <p:nvPr/>
          </p:nvSpPr>
          <p:spPr>
            <a:xfrm>
              <a:off x="5037365" y="4192347"/>
              <a:ext cx="797232" cy="52347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2700">
              <a:solidFill>
                <a:srgbClr val="D8DEC8"/>
              </a:solidFill>
              <a:prstDash val="solid"/>
            </a:ln>
          </p:spPr>
          <p:txBody>
            <a:bodyPr/>
            <a:lstStyle/>
            <a:p>
              <a:endParaRPr lang="fr-TN" sz="1200"/>
            </a:p>
          </p:txBody>
        </p:sp>
        <p:sp>
          <p:nvSpPr>
            <p:cNvPr id="127" name="Text 39">
              <a:extLst>
                <a:ext uri="{FF2B5EF4-FFF2-40B4-BE49-F238E27FC236}">
                  <a16:creationId xmlns:a16="http://schemas.microsoft.com/office/drawing/2014/main" id="{A46B2FDA-4ADB-F771-BF65-6777E962F766}"/>
                </a:ext>
              </a:extLst>
            </p:cNvPr>
            <p:cNvSpPr/>
            <p:nvPr/>
          </p:nvSpPr>
          <p:spPr>
            <a:xfrm>
              <a:off x="5037365" y="4192347"/>
              <a:ext cx="797232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A1F"/>
                  </a:solidFill>
                  <a:ea typeface="Calibri" pitchFamily="34" charset="-122"/>
                  <a:cs typeface="Calibri" pitchFamily="34" charset="-120"/>
                </a:rPr>
                <a:t>P1 → D</a:t>
              </a:r>
              <a:endParaRPr lang="en-US" sz="1200" dirty="0"/>
            </a:p>
          </p:txBody>
        </p:sp>
        <p:sp>
          <p:nvSpPr>
            <p:cNvPr id="129" name="Text 40">
              <a:extLst>
                <a:ext uri="{FF2B5EF4-FFF2-40B4-BE49-F238E27FC236}">
                  <a16:creationId xmlns:a16="http://schemas.microsoft.com/office/drawing/2014/main" id="{B1BD2FB7-A7C3-2277-65DC-AC20AA1AB5A2}"/>
                </a:ext>
              </a:extLst>
            </p:cNvPr>
            <p:cNvSpPr/>
            <p:nvPr/>
          </p:nvSpPr>
          <p:spPr>
            <a:xfrm>
              <a:off x="5809893" y="4192347"/>
              <a:ext cx="197624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ea typeface="Calibri" pitchFamily="34" charset="-122"/>
                  <a:cs typeface="Calibri" pitchFamily="34" charset="-120"/>
                </a:rPr>
                <a:t>›</a:t>
              </a:r>
              <a:endParaRPr lang="en-US" sz="1200" dirty="0"/>
            </a:p>
          </p:txBody>
        </p:sp>
        <p:sp>
          <p:nvSpPr>
            <p:cNvPr id="131" name="Shape 41">
              <a:extLst>
                <a:ext uri="{FF2B5EF4-FFF2-40B4-BE49-F238E27FC236}">
                  <a16:creationId xmlns:a16="http://schemas.microsoft.com/office/drawing/2014/main" id="{8FFB2B2E-81A3-FE01-F54C-7773FB373772}"/>
                </a:ext>
              </a:extLst>
            </p:cNvPr>
            <p:cNvSpPr/>
            <p:nvPr/>
          </p:nvSpPr>
          <p:spPr>
            <a:xfrm>
              <a:off x="5982814" y="4192347"/>
              <a:ext cx="797232" cy="523470"/>
            </a:xfrm>
            <a:prstGeom prst="roundRect">
              <a:avLst>
                <a:gd name="adj" fmla="val 10870"/>
              </a:avLst>
            </a:prstGeom>
            <a:solidFill>
              <a:srgbClr val="C0532B"/>
            </a:solidFill>
            <a:ln w="12700">
              <a:solidFill>
                <a:srgbClr val="C0532B"/>
              </a:solidFill>
              <a:prstDash val="solid"/>
            </a:ln>
          </p:spPr>
          <p:txBody>
            <a:bodyPr/>
            <a:lstStyle/>
            <a:p>
              <a:endParaRPr lang="fr-TN" sz="1200" dirty="0"/>
            </a:p>
          </p:txBody>
        </p:sp>
        <p:sp>
          <p:nvSpPr>
            <p:cNvPr id="133" name="Text 42">
              <a:extLst>
                <a:ext uri="{FF2B5EF4-FFF2-40B4-BE49-F238E27FC236}">
                  <a16:creationId xmlns:a16="http://schemas.microsoft.com/office/drawing/2014/main" id="{0AD5D6B5-A276-953F-8BB9-23971FFF201F}"/>
                </a:ext>
              </a:extLst>
            </p:cNvPr>
            <p:cNvSpPr/>
            <p:nvPr/>
          </p:nvSpPr>
          <p:spPr>
            <a:xfrm>
              <a:off x="5982814" y="4192347"/>
              <a:ext cx="797232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Rech .</a:t>
              </a:r>
              <a:endParaRPr lang="en-US" sz="1200" dirty="0"/>
            </a:p>
          </p:txBody>
        </p:sp>
        <p:sp>
          <p:nvSpPr>
            <p:cNvPr id="135" name="Text 43">
              <a:extLst>
                <a:ext uri="{FF2B5EF4-FFF2-40B4-BE49-F238E27FC236}">
                  <a16:creationId xmlns:a16="http://schemas.microsoft.com/office/drawing/2014/main" id="{1348AA09-6C34-DB1A-3AEA-1C08BBFEEF36}"/>
                </a:ext>
              </a:extLst>
            </p:cNvPr>
            <p:cNvSpPr/>
            <p:nvPr/>
          </p:nvSpPr>
          <p:spPr>
            <a:xfrm>
              <a:off x="6755343" y="4192347"/>
              <a:ext cx="197624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ea typeface="Calibri" pitchFamily="34" charset="-122"/>
                  <a:cs typeface="Calibri" pitchFamily="34" charset="-120"/>
                </a:rPr>
                <a:t>›</a:t>
              </a:r>
              <a:endParaRPr lang="en-US" sz="1200" dirty="0"/>
            </a:p>
          </p:txBody>
        </p:sp>
        <p:sp>
          <p:nvSpPr>
            <p:cNvPr id="137" name="Shape 44">
              <a:extLst>
                <a:ext uri="{FF2B5EF4-FFF2-40B4-BE49-F238E27FC236}">
                  <a16:creationId xmlns:a16="http://schemas.microsoft.com/office/drawing/2014/main" id="{11500C62-955F-9F7E-C691-906FC9019A24}"/>
                </a:ext>
              </a:extLst>
            </p:cNvPr>
            <p:cNvSpPr/>
            <p:nvPr/>
          </p:nvSpPr>
          <p:spPr>
            <a:xfrm>
              <a:off x="6928264" y="4192347"/>
              <a:ext cx="797232" cy="52347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2700">
              <a:solidFill>
                <a:srgbClr val="D8DEC8"/>
              </a:solidFill>
              <a:prstDash val="solid"/>
            </a:ln>
          </p:spPr>
          <p:txBody>
            <a:bodyPr/>
            <a:lstStyle/>
            <a:p>
              <a:endParaRPr lang="fr-TN" sz="1200"/>
            </a:p>
          </p:txBody>
        </p:sp>
        <p:sp>
          <p:nvSpPr>
            <p:cNvPr id="139" name="Text 45">
              <a:extLst>
                <a:ext uri="{FF2B5EF4-FFF2-40B4-BE49-F238E27FC236}">
                  <a16:creationId xmlns:a16="http://schemas.microsoft.com/office/drawing/2014/main" id="{CA2C0792-1160-3557-CC75-8D5FAFAEB99F}"/>
                </a:ext>
              </a:extLst>
            </p:cNvPr>
            <p:cNvSpPr/>
            <p:nvPr/>
          </p:nvSpPr>
          <p:spPr>
            <a:xfrm>
              <a:off x="6928264" y="4192347"/>
              <a:ext cx="797232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A1F"/>
                  </a:solidFill>
                  <a:ea typeface="Calibri" pitchFamily="34" charset="-122"/>
                  <a:cs typeface="Calibri" pitchFamily="34" charset="-120"/>
                </a:rPr>
                <a:t>D → P2</a:t>
              </a:r>
              <a:endParaRPr lang="en-US" sz="1200" dirty="0"/>
            </a:p>
          </p:txBody>
        </p:sp>
        <p:sp>
          <p:nvSpPr>
            <p:cNvPr id="141" name="Text 46">
              <a:extLst>
                <a:ext uri="{FF2B5EF4-FFF2-40B4-BE49-F238E27FC236}">
                  <a16:creationId xmlns:a16="http://schemas.microsoft.com/office/drawing/2014/main" id="{59CFE9E2-6C86-B11C-22E0-71B5F56861E4}"/>
                </a:ext>
              </a:extLst>
            </p:cNvPr>
            <p:cNvSpPr/>
            <p:nvPr/>
          </p:nvSpPr>
          <p:spPr>
            <a:xfrm>
              <a:off x="7700792" y="4192347"/>
              <a:ext cx="197624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ea typeface="Calibri" pitchFamily="34" charset="-122"/>
                  <a:cs typeface="Calibri" pitchFamily="34" charset="-120"/>
                </a:rPr>
                <a:t>›</a:t>
              </a:r>
              <a:endParaRPr lang="en-US" sz="1200" dirty="0"/>
            </a:p>
          </p:txBody>
        </p:sp>
        <p:sp>
          <p:nvSpPr>
            <p:cNvPr id="143" name="Shape 47">
              <a:extLst>
                <a:ext uri="{FF2B5EF4-FFF2-40B4-BE49-F238E27FC236}">
                  <a16:creationId xmlns:a16="http://schemas.microsoft.com/office/drawing/2014/main" id="{5FF208F9-8002-233B-3E4D-FD3BA950EC20}"/>
                </a:ext>
              </a:extLst>
            </p:cNvPr>
            <p:cNvSpPr/>
            <p:nvPr/>
          </p:nvSpPr>
          <p:spPr>
            <a:xfrm>
              <a:off x="7873712" y="4192347"/>
              <a:ext cx="797232" cy="52347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2700">
              <a:solidFill>
                <a:srgbClr val="D8DEC8"/>
              </a:solidFill>
              <a:prstDash val="solid"/>
            </a:ln>
          </p:spPr>
          <p:txBody>
            <a:bodyPr/>
            <a:lstStyle/>
            <a:p>
              <a:endParaRPr lang="fr-TN" sz="1200"/>
            </a:p>
          </p:txBody>
        </p:sp>
        <p:sp>
          <p:nvSpPr>
            <p:cNvPr id="145" name="Text 48">
              <a:extLst>
                <a:ext uri="{FF2B5EF4-FFF2-40B4-BE49-F238E27FC236}">
                  <a16:creationId xmlns:a16="http://schemas.microsoft.com/office/drawing/2014/main" id="{431D56FB-F8A7-890F-65E8-3377B9CF3653}"/>
                </a:ext>
              </a:extLst>
            </p:cNvPr>
            <p:cNvSpPr/>
            <p:nvPr/>
          </p:nvSpPr>
          <p:spPr>
            <a:xfrm>
              <a:off x="7873712" y="4192347"/>
              <a:ext cx="797232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A1F"/>
                  </a:solidFill>
                  <a:ea typeface="Calibri" pitchFamily="34" charset="-122"/>
                  <a:cs typeface="Calibri" pitchFamily="34" charset="-120"/>
                </a:rPr>
                <a:t>P2 → P4</a:t>
              </a:r>
              <a:endParaRPr lang="en-US" sz="1200" dirty="0"/>
            </a:p>
          </p:txBody>
        </p:sp>
        <p:sp>
          <p:nvSpPr>
            <p:cNvPr id="147" name="Text 49">
              <a:extLst>
                <a:ext uri="{FF2B5EF4-FFF2-40B4-BE49-F238E27FC236}">
                  <a16:creationId xmlns:a16="http://schemas.microsoft.com/office/drawing/2014/main" id="{D9A99ADA-0325-3419-3495-910F530947A1}"/>
                </a:ext>
              </a:extLst>
            </p:cNvPr>
            <p:cNvSpPr/>
            <p:nvPr/>
          </p:nvSpPr>
          <p:spPr>
            <a:xfrm>
              <a:off x="8646242" y="4192347"/>
              <a:ext cx="197624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ea typeface="Calibri" pitchFamily="34" charset="-122"/>
                  <a:cs typeface="Calibri" pitchFamily="34" charset="-120"/>
                </a:rPr>
                <a:t>›</a:t>
              </a:r>
              <a:endParaRPr lang="en-US" sz="1200" dirty="0"/>
            </a:p>
          </p:txBody>
        </p:sp>
        <p:sp>
          <p:nvSpPr>
            <p:cNvPr id="149" name="Shape 50">
              <a:extLst>
                <a:ext uri="{FF2B5EF4-FFF2-40B4-BE49-F238E27FC236}">
                  <a16:creationId xmlns:a16="http://schemas.microsoft.com/office/drawing/2014/main" id="{908FFC91-83FA-6482-4740-36741C801EA3}"/>
                </a:ext>
              </a:extLst>
            </p:cNvPr>
            <p:cNvSpPr/>
            <p:nvPr/>
          </p:nvSpPr>
          <p:spPr>
            <a:xfrm>
              <a:off x="8819162" y="4192347"/>
              <a:ext cx="797232" cy="523470"/>
            </a:xfrm>
            <a:prstGeom prst="roundRect">
              <a:avLst>
                <a:gd name="adj" fmla="val 10870"/>
              </a:avLst>
            </a:prstGeom>
            <a:solidFill>
              <a:srgbClr val="76B900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fr-TN" sz="1200"/>
            </a:p>
          </p:txBody>
        </p:sp>
        <p:sp>
          <p:nvSpPr>
            <p:cNvPr id="151" name="Text 51">
              <a:extLst>
                <a:ext uri="{FF2B5EF4-FFF2-40B4-BE49-F238E27FC236}">
                  <a16:creationId xmlns:a16="http://schemas.microsoft.com/office/drawing/2014/main" id="{3EDD7C96-442A-1D11-F65C-984A82876E97}"/>
                </a:ext>
              </a:extLst>
            </p:cNvPr>
            <p:cNvSpPr/>
            <p:nvPr/>
          </p:nvSpPr>
          <p:spPr>
            <a:xfrm>
              <a:off x="8819162" y="4192347"/>
              <a:ext cx="797232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harvest</a:t>
              </a:r>
              <a:endParaRPr lang="en-US" sz="1200" dirty="0"/>
            </a:p>
          </p:txBody>
        </p:sp>
        <p:sp>
          <p:nvSpPr>
            <p:cNvPr id="153" name="Text 52">
              <a:extLst>
                <a:ext uri="{FF2B5EF4-FFF2-40B4-BE49-F238E27FC236}">
                  <a16:creationId xmlns:a16="http://schemas.microsoft.com/office/drawing/2014/main" id="{41E9D1A9-FAB3-7620-9523-A3328B358D68}"/>
                </a:ext>
              </a:extLst>
            </p:cNvPr>
            <p:cNvSpPr/>
            <p:nvPr/>
          </p:nvSpPr>
          <p:spPr>
            <a:xfrm>
              <a:off x="9591692" y="4192347"/>
              <a:ext cx="197624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ea typeface="Calibri" pitchFamily="34" charset="-122"/>
                  <a:cs typeface="Calibri" pitchFamily="34" charset="-120"/>
                </a:rPr>
                <a:t>›</a:t>
              </a:r>
              <a:endParaRPr lang="en-US" sz="1200" dirty="0"/>
            </a:p>
          </p:txBody>
        </p:sp>
        <p:sp>
          <p:nvSpPr>
            <p:cNvPr id="155" name="Shape 53">
              <a:extLst>
                <a:ext uri="{FF2B5EF4-FFF2-40B4-BE49-F238E27FC236}">
                  <a16:creationId xmlns:a16="http://schemas.microsoft.com/office/drawing/2014/main" id="{20A4E09F-F7C0-2A09-C41D-51F5DC615274}"/>
                </a:ext>
              </a:extLst>
            </p:cNvPr>
            <p:cNvSpPr/>
            <p:nvPr/>
          </p:nvSpPr>
          <p:spPr>
            <a:xfrm>
              <a:off x="9764612" y="4192347"/>
              <a:ext cx="797232" cy="52347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2700">
              <a:solidFill>
                <a:srgbClr val="D8DEC8"/>
              </a:solidFill>
              <a:prstDash val="solid"/>
            </a:ln>
          </p:spPr>
          <p:txBody>
            <a:bodyPr/>
            <a:lstStyle/>
            <a:p>
              <a:endParaRPr lang="fr-TN" sz="1200"/>
            </a:p>
          </p:txBody>
        </p:sp>
        <p:sp>
          <p:nvSpPr>
            <p:cNvPr id="157" name="Text 54">
              <a:extLst>
                <a:ext uri="{FF2B5EF4-FFF2-40B4-BE49-F238E27FC236}">
                  <a16:creationId xmlns:a16="http://schemas.microsoft.com/office/drawing/2014/main" id="{9F3F6AB1-0DA5-227A-5E12-ABC1FC4829FF}"/>
                </a:ext>
              </a:extLst>
            </p:cNvPr>
            <p:cNvSpPr/>
            <p:nvPr/>
          </p:nvSpPr>
          <p:spPr>
            <a:xfrm>
              <a:off x="9764612" y="4192347"/>
              <a:ext cx="797232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A1F"/>
                  </a:solidFill>
                  <a:ea typeface="Calibri" pitchFamily="34" charset="-122"/>
                  <a:cs typeface="Calibri" pitchFamily="34" charset="-120"/>
                </a:rPr>
                <a:t>P4 → P2</a:t>
              </a:r>
              <a:endParaRPr lang="en-US" sz="1200" dirty="0"/>
            </a:p>
          </p:txBody>
        </p:sp>
        <p:sp>
          <p:nvSpPr>
            <p:cNvPr id="159" name="Text 55">
              <a:extLst>
                <a:ext uri="{FF2B5EF4-FFF2-40B4-BE49-F238E27FC236}">
                  <a16:creationId xmlns:a16="http://schemas.microsoft.com/office/drawing/2014/main" id="{B34E892E-7761-5A0D-BB5A-1B2E5CCFD95B}"/>
                </a:ext>
              </a:extLst>
            </p:cNvPr>
            <p:cNvSpPr/>
            <p:nvPr/>
          </p:nvSpPr>
          <p:spPr>
            <a:xfrm>
              <a:off x="10537140" y="4192347"/>
              <a:ext cx="197624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ea typeface="Calibri" pitchFamily="34" charset="-122"/>
                  <a:cs typeface="Calibri" pitchFamily="34" charset="-120"/>
                </a:rPr>
                <a:t>›</a:t>
              </a:r>
              <a:endParaRPr lang="en-US" sz="1200" dirty="0"/>
            </a:p>
          </p:txBody>
        </p:sp>
        <p:sp>
          <p:nvSpPr>
            <p:cNvPr id="161" name="Shape 56">
              <a:extLst>
                <a:ext uri="{FF2B5EF4-FFF2-40B4-BE49-F238E27FC236}">
                  <a16:creationId xmlns:a16="http://schemas.microsoft.com/office/drawing/2014/main" id="{4FC54CF2-6EB4-B013-4F7E-0B3D2B4C4DB7}"/>
                </a:ext>
              </a:extLst>
            </p:cNvPr>
            <p:cNvSpPr/>
            <p:nvPr/>
          </p:nvSpPr>
          <p:spPr>
            <a:xfrm>
              <a:off x="10710061" y="4192347"/>
              <a:ext cx="797232" cy="52347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2700">
              <a:solidFill>
                <a:srgbClr val="D8DEC8"/>
              </a:solidFill>
              <a:prstDash val="solid"/>
            </a:ln>
          </p:spPr>
          <p:txBody>
            <a:bodyPr/>
            <a:lstStyle/>
            <a:p>
              <a:endParaRPr lang="fr-TN" sz="1200"/>
            </a:p>
          </p:txBody>
        </p:sp>
        <p:sp>
          <p:nvSpPr>
            <p:cNvPr id="163" name="Text 57">
              <a:extLst>
                <a:ext uri="{FF2B5EF4-FFF2-40B4-BE49-F238E27FC236}">
                  <a16:creationId xmlns:a16="http://schemas.microsoft.com/office/drawing/2014/main" id="{CBF7B829-970B-319E-4184-B497FE0AAF0B}"/>
                </a:ext>
              </a:extLst>
            </p:cNvPr>
            <p:cNvSpPr/>
            <p:nvPr/>
          </p:nvSpPr>
          <p:spPr>
            <a:xfrm>
              <a:off x="10710061" y="4192347"/>
              <a:ext cx="797232" cy="523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A1F"/>
                  </a:solidFill>
                  <a:ea typeface="Calibri" pitchFamily="34" charset="-122"/>
                  <a:cs typeface="Calibri" pitchFamily="34" charset="-120"/>
                </a:rPr>
                <a:t>P2 → D</a:t>
              </a:r>
              <a:endParaRPr lang="en-US" sz="1200" dirty="0"/>
            </a:p>
          </p:txBody>
        </p:sp>
        <p:sp>
          <p:nvSpPr>
            <p:cNvPr id="165" name="Text 58">
              <a:extLst>
                <a:ext uri="{FF2B5EF4-FFF2-40B4-BE49-F238E27FC236}">
                  <a16:creationId xmlns:a16="http://schemas.microsoft.com/office/drawing/2014/main" id="{1149403F-B799-BFC1-95E0-982EF5598525}"/>
                </a:ext>
              </a:extLst>
            </p:cNvPr>
            <p:cNvSpPr/>
            <p:nvPr/>
          </p:nvSpPr>
          <p:spPr>
            <a:xfrm>
              <a:off x="1255567" y="4852375"/>
              <a:ext cx="10251726" cy="3413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5A6B57"/>
                  </a:solidFill>
                  <a:ea typeface="Calibri" pitchFamily="34" charset="-122"/>
                  <a:cs typeface="Calibri" pitchFamily="34" charset="-120"/>
                </a:rPr>
                <a:t>The far-plot round trip needs more than 100 energy — the planner inserts the recharge (orange) on its own.</a:t>
              </a:r>
              <a:endParaRPr lang="en-US" sz="1600" i="1" dirty="0"/>
            </a:p>
          </p:txBody>
        </p:sp>
        <p:sp>
          <p:nvSpPr>
            <p:cNvPr id="167" name="Text 59">
              <a:extLst>
                <a:ext uri="{FF2B5EF4-FFF2-40B4-BE49-F238E27FC236}">
                  <a16:creationId xmlns:a16="http://schemas.microsoft.com/office/drawing/2014/main" id="{61407E85-A4D4-E594-BD9A-1D9210CBDF7E}"/>
                </a:ext>
              </a:extLst>
            </p:cNvPr>
            <p:cNvSpPr/>
            <p:nvPr/>
          </p:nvSpPr>
          <p:spPr>
            <a:xfrm>
              <a:off x="1255567" y="5250667"/>
              <a:ext cx="10251726" cy="3413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6B9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■</a:t>
              </a:r>
              <a:r>
                <a:rPr lang="en-US" sz="1600" dirty="0">
                  <a:solidFill>
                    <a:srgbClr val="5A6B5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operation</a:t>
              </a:r>
              <a:r>
                <a:rPr lang="en-US" sz="1600" dirty="0">
                  <a:solidFill>
                    <a:srgbClr val="5A6B5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</a:t>
              </a:r>
              <a:r>
                <a:rPr lang="en-US" sz="1600" dirty="0">
                  <a:solidFill>
                    <a:srgbClr val="C053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■</a:t>
              </a:r>
              <a:r>
                <a:rPr lang="en-US" sz="1600" dirty="0">
                  <a:solidFill>
                    <a:srgbClr val="5A6B5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recharge</a:t>
              </a:r>
              <a:r>
                <a:rPr lang="en-US" sz="1600" dirty="0">
                  <a:solidFill>
                    <a:srgbClr val="5A6B5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□ </a:t>
              </a: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move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0447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339"/>
    </mc:Choice>
    <mc:Fallback xmlns="">
      <p:transition advTm="5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745E0-0A4E-2942-B769-FE3FFA9D8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8F32FD-9091-3DA0-4340-6BB1CFEC1443}"/>
              </a:ext>
            </a:extLst>
          </p:cNvPr>
          <p:cNvSpPr/>
          <p:nvPr/>
        </p:nvSpPr>
        <p:spPr>
          <a:xfrm>
            <a:off x="0" y="0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248" name="Shape 2">
            <a:extLst>
              <a:ext uri="{FF2B5EF4-FFF2-40B4-BE49-F238E27FC236}">
                <a16:creationId xmlns:a16="http://schemas.microsoft.com/office/drawing/2014/main" id="{4B5440E4-AA8E-0596-6C7F-277ADC8901F7}"/>
              </a:ext>
            </a:extLst>
          </p:cNvPr>
          <p:cNvSpPr/>
          <p:nvPr/>
        </p:nvSpPr>
        <p:spPr>
          <a:xfrm>
            <a:off x="7370442" y="1202724"/>
            <a:ext cx="4521719" cy="4627751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>
            <a:solidFill>
              <a:srgbClr val="76B900"/>
            </a:solidFill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188C54-4918-77C5-5327-21EA63563AB4}"/>
              </a:ext>
            </a:extLst>
          </p:cNvPr>
          <p:cNvSpPr txBox="1"/>
          <p:nvPr/>
        </p:nvSpPr>
        <p:spPr>
          <a:xfrm>
            <a:off x="946780" y="999264"/>
            <a:ext cx="4638990" cy="783193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TN" sz="2000" b="1" dirty="0"/>
              <a:t>Q2 </a:t>
            </a:r>
            <a:r>
              <a:rPr lang="fr-TN" sz="2000" b="1" dirty="0" err="1"/>
              <a:t>Problem</a:t>
            </a:r>
            <a:r>
              <a:rPr lang="fr-TN" sz="2000" b="1" dirty="0"/>
              <a:t> 2 : </a:t>
            </a:r>
            <a:r>
              <a:rPr lang="fr-FR" sz="2000" b="1" dirty="0"/>
              <a:t>T</a:t>
            </a:r>
            <a:r>
              <a:rPr lang="fr-TN" sz="2000" b="1" dirty="0" err="1"/>
              <a:t>he</a:t>
            </a:r>
            <a:r>
              <a:rPr lang="fr-TN" sz="2000" b="1" dirty="0"/>
              <a:t> recharge story (</a:t>
            </a:r>
            <a:r>
              <a:rPr lang="fr-TN" sz="2000" b="1" dirty="0" err="1"/>
              <a:t>muddy</a:t>
            </a:r>
            <a:r>
              <a:rPr lang="fr-TN" sz="2000" b="1" dirty="0"/>
              <a:t> mission)</a:t>
            </a:r>
            <a:endParaRPr lang="en-US" sz="2000" b="1" dirty="0"/>
          </a:p>
        </p:txBody>
      </p: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1F4659AD-AD18-FF54-9EA4-4881C14BF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8</a:t>
            </a:r>
          </a:p>
        </p:txBody>
      </p:sp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E2BCBD73-E689-BCEA-AD1D-19C6664E9BAB}"/>
              </a:ext>
            </a:extLst>
          </p:cNvPr>
          <p:cNvSpPr/>
          <p:nvPr/>
        </p:nvSpPr>
        <p:spPr>
          <a:xfrm>
            <a:off x="2724759" y="94647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18" name="Rectangle: Rounded Corners 47">
            <a:extLst>
              <a:ext uri="{FF2B5EF4-FFF2-40B4-BE49-F238E27FC236}">
                <a16:creationId xmlns:a16="http://schemas.microsoft.com/office/drawing/2014/main" id="{60F56838-333D-9C52-3AE1-9C6B8C08346B}"/>
              </a:ext>
            </a:extLst>
          </p:cNvPr>
          <p:cNvSpPr/>
          <p:nvPr/>
        </p:nvSpPr>
        <p:spPr>
          <a:xfrm>
            <a:off x="2724759" y="91064"/>
            <a:ext cx="509907" cy="340519"/>
          </a:xfrm>
          <a:prstGeom prst="round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20" name="Rectangle: Rounded Corners 48">
            <a:extLst>
              <a:ext uri="{FF2B5EF4-FFF2-40B4-BE49-F238E27FC236}">
                <a16:creationId xmlns:a16="http://schemas.microsoft.com/office/drawing/2014/main" id="{90C15D12-D722-E7C3-F077-18FFEF265057}"/>
              </a:ext>
            </a:extLst>
          </p:cNvPr>
          <p:cNvSpPr/>
          <p:nvPr/>
        </p:nvSpPr>
        <p:spPr>
          <a:xfrm>
            <a:off x="3989842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2</a:t>
            </a:r>
          </a:p>
        </p:txBody>
      </p:sp>
      <p:sp>
        <p:nvSpPr>
          <p:cNvPr id="22" name="Rectangle: Rounded Corners 49">
            <a:extLst>
              <a:ext uri="{FF2B5EF4-FFF2-40B4-BE49-F238E27FC236}">
                <a16:creationId xmlns:a16="http://schemas.microsoft.com/office/drawing/2014/main" id="{82A537B2-E7BC-4B3C-7A71-8BF07C0F1F3F}"/>
              </a:ext>
            </a:extLst>
          </p:cNvPr>
          <p:cNvSpPr/>
          <p:nvPr/>
        </p:nvSpPr>
        <p:spPr>
          <a:xfrm>
            <a:off x="5254861" y="89602"/>
            <a:ext cx="509907" cy="340519"/>
          </a:xfrm>
          <a:prstGeom prst="roundRect">
            <a:avLst/>
          </a:prstGeom>
          <a:solidFill>
            <a:srgbClr val="76B9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3</a:t>
            </a:r>
          </a:p>
        </p:txBody>
      </p:sp>
      <p:sp>
        <p:nvSpPr>
          <p:cNvPr id="27" name="Rectangle: Rounded Corners 50">
            <a:extLst>
              <a:ext uri="{FF2B5EF4-FFF2-40B4-BE49-F238E27FC236}">
                <a16:creationId xmlns:a16="http://schemas.microsoft.com/office/drawing/2014/main" id="{0C6B191A-6FF2-ABE5-51B9-51F3766738D1}"/>
              </a:ext>
            </a:extLst>
          </p:cNvPr>
          <p:cNvSpPr/>
          <p:nvPr/>
        </p:nvSpPr>
        <p:spPr>
          <a:xfrm>
            <a:off x="6335017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4</a:t>
            </a:r>
          </a:p>
        </p:txBody>
      </p:sp>
      <p:cxnSp>
        <p:nvCxnSpPr>
          <p:cNvPr id="28" name="Straight Connector 2">
            <a:extLst>
              <a:ext uri="{FF2B5EF4-FFF2-40B4-BE49-F238E27FC236}">
                <a16:creationId xmlns:a16="http://schemas.microsoft.com/office/drawing/2014/main" id="{0D421750-A586-2BCD-0757-BFD420E552B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-13253" y="259862"/>
            <a:ext cx="2738012" cy="14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6">
            <a:extLst>
              <a:ext uri="{FF2B5EF4-FFF2-40B4-BE49-F238E27FC236}">
                <a16:creationId xmlns:a16="http://schemas.microsoft.com/office/drawing/2014/main" id="{0AAEF6B3-A051-C025-36D3-5FB647CFC03E}"/>
              </a:ext>
            </a:extLst>
          </p:cNvPr>
          <p:cNvSpPr txBox="1"/>
          <p:nvPr/>
        </p:nvSpPr>
        <p:spPr>
          <a:xfrm>
            <a:off x="2288150" y="437997"/>
            <a:ext cx="13382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Problem</a:t>
            </a:r>
            <a:r>
              <a:rPr lang="fr-FR" sz="1000" dirty="0"/>
              <a:t> &amp; Domain</a:t>
            </a: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F1813B29-3BCE-B203-42A0-A6BC1688D05E}"/>
              </a:ext>
            </a:extLst>
          </p:cNvPr>
          <p:cNvSpPr txBox="1"/>
          <p:nvPr/>
        </p:nvSpPr>
        <p:spPr>
          <a:xfrm>
            <a:off x="5989739" y="446564"/>
            <a:ext cx="11831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Reflections</a:t>
            </a:r>
            <a:endParaRPr lang="fr-FR" sz="1000" dirty="0"/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519CF42C-A502-BB23-E4DF-462A5B753DEF}"/>
              </a:ext>
            </a:extLst>
          </p:cNvPr>
          <p:cNvSpPr txBox="1"/>
          <p:nvPr/>
        </p:nvSpPr>
        <p:spPr>
          <a:xfrm>
            <a:off x="3626372" y="446564"/>
            <a:ext cx="1083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Design </a:t>
            </a:r>
            <a:r>
              <a:rPr lang="fr-FR" sz="1000" dirty="0" err="1"/>
              <a:t>choices</a:t>
            </a:r>
            <a:r>
              <a:rPr lang="fr-FR" sz="1000" dirty="0"/>
              <a:t> </a:t>
            </a: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7120081D-9B13-CEB2-7D46-EEE4680E89B5}"/>
              </a:ext>
            </a:extLst>
          </p:cNvPr>
          <p:cNvSpPr txBox="1"/>
          <p:nvPr/>
        </p:nvSpPr>
        <p:spPr>
          <a:xfrm>
            <a:off x="4671553" y="446564"/>
            <a:ext cx="15559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Results</a:t>
            </a:r>
            <a:endParaRPr lang="fr-FR" sz="1000" dirty="0"/>
          </a:p>
        </p:txBody>
      </p:sp>
      <p:cxnSp>
        <p:nvCxnSpPr>
          <p:cNvPr id="43" name="Straight Connector 31">
            <a:extLst>
              <a:ext uri="{FF2B5EF4-FFF2-40B4-BE49-F238E27FC236}">
                <a16:creationId xmlns:a16="http://schemas.microsoft.com/office/drawing/2014/main" id="{E881E136-2281-E0FE-D058-521762E20B1D}"/>
              </a:ext>
            </a:extLst>
          </p:cNvPr>
          <p:cNvCxnSpPr>
            <a:cxnSpLocks/>
          </p:cNvCxnSpPr>
          <p:nvPr/>
        </p:nvCxnSpPr>
        <p:spPr>
          <a:xfrm>
            <a:off x="3234666" y="247256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31">
            <a:extLst>
              <a:ext uri="{FF2B5EF4-FFF2-40B4-BE49-F238E27FC236}">
                <a16:creationId xmlns:a16="http://schemas.microsoft.com/office/drawing/2014/main" id="{3C305EFF-F68A-1710-D7BE-82A2701E5143}"/>
              </a:ext>
            </a:extLst>
          </p:cNvPr>
          <p:cNvCxnSpPr>
            <a:cxnSpLocks/>
          </p:cNvCxnSpPr>
          <p:nvPr/>
        </p:nvCxnSpPr>
        <p:spPr>
          <a:xfrm>
            <a:off x="4499685" y="259862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31">
            <a:extLst>
              <a:ext uri="{FF2B5EF4-FFF2-40B4-BE49-F238E27FC236}">
                <a16:creationId xmlns:a16="http://schemas.microsoft.com/office/drawing/2014/main" id="{89E85F6A-1B5D-055C-EEED-7A679EEFF159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764768" y="255658"/>
            <a:ext cx="570249" cy="5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7" name="Groupe 246">
            <a:extLst>
              <a:ext uri="{FF2B5EF4-FFF2-40B4-BE49-F238E27FC236}">
                <a16:creationId xmlns:a16="http://schemas.microsoft.com/office/drawing/2014/main" id="{AFBAE19C-8EF1-BA63-EDC6-8346E99CA0ED}"/>
              </a:ext>
            </a:extLst>
          </p:cNvPr>
          <p:cNvGrpSpPr/>
          <p:nvPr/>
        </p:nvGrpSpPr>
        <p:grpSpPr>
          <a:xfrm>
            <a:off x="876205" y="2179878"/>
            <a:ext cx="6190243" cy="3650597"/>
            <a:chOff x="982597" y="1756984"/>
            <a:chExt cx="6295153" cy="3650597"/>
          </a:xfrm>
        </p:grpSpPr>
        <p:sp>
          <p:nvSpPr>
            <p:cNvPr id="3" name="Shape 2">
              <a:extLst>
                <a:ext uri="{FF2B5EF4-FFF2-40B4-BE49-F238E27FC236}">
                  <a16:creationId xmlns:a16="http://schemas.microsoft.com/office/drawing/2014/main" id="{6762B0B1-BF9F-9090-5036-0230DFF2F1D2}"/>
                </a:ext>
              </a:extLst>
            </p:cNvPr>
            <p:cNvSpPr/>
            <p:nvPr/>
          </p:nvSpPr>
          <p:spPr>
            <a:xfrm>
              <a:off x="982597" y="1756984"/>
              <a:ext cx="6295153" cy="3650597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>
              <a:solidFill>
                <a:srgbClr val="76B900"/>
              </a:solidFill>
            </a:ln>
            <a:effectLst>
              <a:outerShdw blurRad="88900" dist="38100" dir="54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pic>
          <p:nvPicPr>
            <p:cNvPr id="5" name="Image 0" descr="curve_merged.png">
              <a:extLst>
                <a:ext uri="{FF2B5EF4-FFF2-40B4-BE49-F238E27FC236}">
                  <a16:creationId xmlns:a16="http://schemas.microsoft.com/office/drawing/2014/main" id="{6CEEA4A0-334D-4BA1-5B10-76797A642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246" r="1820" b="4049"/>
            <a:stretch>
              <a:fillRect/>
            </a:stretch>
          </p:blipFill>
          <p:spPr>
            <a:xfrm>
              <a:off x="1107393" y="1954211"/>
              <a:ext cx="5793579" cy="3453370"/>
            </a:xfrm>
            <a:prstGeom prst="rect">
              <a:avLst/>
            </a:prstGeom>
          </p:spPr>
        </p:pic>
      </p:grpSp>
      <p:sp>
        <p:nvSpPr>
          <p:cNvPr id="7" name="Text 2">
            <a:extLst>
              <a:ext uri="{FF2B5EF4-FFF2-40B4-BE49-F238E27FC236}">
                <a16:creationId xmlns:a16="http://schemas.microsoft.com/office/drawing/2014/main" id="{009C3392-CB78-99D3-09A9-81288E788783}"/>
              </a:ext>
            </a:extLst>
          </p:cNvPr>
          <p:cNvSpPr/>
          <p:nvPr/>
        </p:nvSpPr>
        <p:spPr>
          <a:xfrm>
            <a:off x="7674003" y="1317687"/>
            <a:ext cx="243348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u="sng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plan, step by step:</a:t>
            </a:r>
            <a:endParaRPr lang="en-US" sz="2000" u="sng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7805DE12-CE33-D239-FD0D-608B959223F3}"/>
              </a:ext>
            </a:extLst>
          </p:cNvPr>
          <p:cNvSpPr/>
          <p:nvPr/>
        </p:nvSpPr>
        <p:spPr>
          <a:xfrm>
            <a:off x="7855992" y="2167151"/>
            <a:ext cx="842356" cy="56083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 sz="12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164EB6C-28F6-1A30-C4FC-F23623354E04}"/>
              </a:ext>
            </a:extLst>
          </p:cNvPr>
          <p:cNvSpPr/>
          <p:nvPr/>
        </p:nvSpPr>
        <p:spPr>
          <a:xfrm>
            <a:off x="7855992" y="2167151"/>
            <a:ext cx="8423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D→P1</a:t>
            </a:r>
            <a:endParaRPr lang="en-US" sz="1200" dirty="0"/>
          </a:p>
        </p:txBody>
      </p:sp>
      <p:sp>
        <p:nvSpPr>
          <p:cNvPr id="90" name="Shape 27">
            <a:extLst>
              <a:ext uri="{FF2B5EF4-FFF2-40B4-BE49-F238E27FC236}">
                <a16:creationId xmlns:a16="http://schemas.microsoft.com/office/drawing/2014/main" id="{548A7969-774B-BA96-55F3-7407004A32EC}"/>
              </a:ext>
            </a:extLst>
          </p:cNvPr>
          <p:cNvSpPr/>
          <p:nvPr/>
        </p:nvSpPr>
        <p:spPr>
          <a:xfrm>
            <a:off x="10530056" y="4103160"/>
            <a:ext cx="842356" cy="560832"/>
          </a:xfrm>
          <a:prstGeom prst="roundRect">
            <a:avLst>
              <a:gd name="adj" fmla="val 10870"/>
            </a:avLst>
          </a:prstGeom>
          <a:solidFill>
            <a:srgbClr val="76B900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94" name="Text 28">
            <a:extLst>
              <a:ext uri="{FF2B5EF4-FFF2-40B4-BE49-F238E27FC236}">
                <a16:creationId xmlns:a16="http://schemas.microsoft.com/office/drawing/2014/main" id="{1D145854-612F-6893-A95D-CCE58866BA63}"/>
              </a:ext>
            </a:extLst>
          </p:cNvPr>
          <p:cNvSpPr/>
          <p:nvPr/>
        </p:nvSpPr>
        <p:spPr>
          <a:xfrm>
            <a:off x="10530056" y="4103160"/>
            <a:ext cx="8423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200" dirty="0"/>
          </a:p>
        </p:txBody>
      </p:sp>
      <p:sp>
        <p:nvSpPr>
          <p:cNvPr id="102" name="Shape 30">
            <a:extLst>
              <a:ext uri="{FF2B5EF4-FFF2-40B4-BE49-F238E27FC236}">
                <a16:creationId xmlns:a16="http://schemas.microsoft.com/office/drawing/2014/main" id="{34BDDDE7-695E-4A38-3EE5-9DC177D504DA}"/>
              </a:ext>
            </a:extLst>
          </p:cNvPr>
          <p:cNvSpPr/>
          <p:nvPr/>
        </p:nvSpPr>
        <p:spPr>
          <a:xfrm>
            <a:off x="7855992" y="5035760"/>
            <a:ext cx="842356" cy="56083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06" name="Text 31">
            <a:extLst>
              <a:ext uri="{FF2B5EF4-FFF2-40B4-BE49-F238E27FC236}">
                <a16:creationId xmlns:a16="http://schemas.microsoft.com/office/drawing/2014/main" id="{02BF6B07-B7CB-A04F-689B-395EFC10768A}"/>
              </a:ext>
            </a:extLst>
          </p:cNvPr>
          <p:cNvSpPr/>
          <p:nvPr/>
        </p:nvSpPr>
        <p:spPr>
          <a:xfrm>
            <a:off x="7855992" y="5035760"/>
            <a:ext cx="8423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→ P2</a:t>
            </a:r>
            <a:endParaRPr lang="en-US" sz="1200" dirty="0"/>
          </a:p>
        </p:txBody>
      </p:sp>
      <p:sp>
        <p:nvSpPr>
          <p:cNvPr id="114" name="Shape 33">
            <a:extLst>
              <a:ext uri="{FF2B5EF4-FFF2-40B4-BE49-F238E27FC236}">
                <a16:creationId xmlns:a16="http://schemas.microsoft.com/office/drawing/2014/main" id="{B619816B-2D3E-FBC7-7F2A-696E983C287C}"/>
              </a:ext>
            </a:extLst>
          </p:cNvPr>
          <p:cNvSpPr/>
          <p:nvPr/>
        </p:nvSpPr>
        <p:spPr>
          <a:xfrm>
            <a:off x="9265133" y="5043976"/>
            <a:ext cx="842356" cy="56083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18" name="Text 34">
            <a:extLst>
              <a:ext uri="{FF2B5EF4-FFF2-40B4-BE49-F238E27FC236}">
                <a16:creationId xmlns:a16="http://schemas.microsoft.com/office/drawing/2014/main" id="{9FAE8EBC-365B-07BC-0C84-8932A0BC15A2}"/>
              </a:ext>
            </a:extLst>
          </p:cNvPr>
          <p:cNvSpPr/>
          <p:nvPr/>
        </p:nvSpPr>
        <p:spPr>
          <a:xfrm>
            <a:off x="9265133" y="5043976"/>
            <a:ext cx="8423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→ D</a:t>
            </a:r>
            <a:endParaRPr lang="en-US" sz="1200" dirty="0"/>
          </a:p>
        </p:txBody>
      </p:sp>
      <p:sp>
        <p:nvSpPr>
          <p:cNvPr id="138" name="Shape 3">
            <a:extLst>
              <a:ext uri="{FF2B5EF4-FFF2-40B4-BE49-F238E27FC236}">
                <a16:creationId xmlns:a16="http://schemas.microsoft.com/office/drawing/2014/main" id="{64FCB8FC-4F46-919B-90E3-47DD5CD24FEA}"/>
              </a:ext>
            </a:extLst>
          </p:cNvPr>
          <p:cNvSpPr/>
          <p:nvPr/>
        </p:nvSpPr>
        <p:spPr>
          <a:xfrm>
            <a:off x="9181178" y="2167151"/>
            <a:ext cx="842356" cy="56083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 sz="1200" dirty="0"/>
          </a:p>
        </p:txBody>
      </p:sp>
      <p:sp>
        <p:nvSpPr>
          <p:cNvPr id="142" name="Text 4">
            <a:extLst>
              <a:ext uri="{FF2B5EF4-FFF2-40B4-BE49-F238E27FC236}">
                <a16:creationId xmlns:a16="http://schemas.microsoft.com/office/drawing/2014/main" id="{8049DADF-71B3-3B60-4C9B-23F53CE60F13}"/>
              </a:ext>
            </a:extLst>
          </p:cNvPr>
          <p:cNvSpPr/>
          <p:nvPr/>
        </p:nvSpPr>
        <p:spPr>
          <a:xfrm>
            <a:off x="9181178" y="2167151"/>
            <a:ext cx="8423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P1→P3</a:t>
            </a:r>
            <a:endParaRPr lang="en-US" sz="1200" dirty="0"/>
          </a:p>
        </p:txBody>
      </p:sp>
      <p:sp>
        <p:nvSpPr>
          <p:cNvPr id="166" name="Shape 27">
            <a:extLst>
              <a:ext uri="{FF2B5EF4-FFF2-40B4-BE49-F238E27FC236}">
                <a16:creationId xmlns:a16="http://schemas.microsoft.com/office/drawing/2014/main" id="{32E65A3C-66CF-1218-6516-FDCF379BA4D1}"/>
              </a:ext>
            </a:extLst>
          </p:cNvPr>
          <p:cNvSpPr/>
          <p:nvPr/>
        </p:nvSpPr>
        <p:spPr>
          <a:xfrm>
            <a:off x="10511444" y="2154770"/>
            <a:ext cx="842356" cy="560832"/>
          </a:xfrm>
          <a:prstGeom prst="roundRect">
            <a:avLst>
              <a:gd name="adj" fmla="val 10870"/>
            </a:avLst>
          </a:prstGeom>
          <a:solidFill>
            <a:srgbClr val="76B900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69" name="Text 28">
            <a:extLst>
              <a:ext uri="{FF2B5EF4-FFF2-40B4-BE49-F238E27FC236}">
                <a16:creationId xmlns:a16="http://schemas.microsoft.com/office/drawing/2014/main" id="{E4E19BA0-2A47-C28D-3393-FAE238480F95}"/>
              </a:ext>
            </a:extLst>
          </p:cNvPr>
          <p:cNvSpPr/>
          <p:nvPr/>
        </p:nvSpPr>
        <p:spPr>
          <a:xfrm>
            <a:off x="10511444" y="2154770"/>
            <a:ext cx="8423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</a:t>
            </a:r>
            <a:endParaRPr lang="en-US" sz="1200" dirty="0"/>
          </a:p>
        </p:txBody>
      </p:sp>
      <p:sp>
        <p:nvSpPr>
          <p:cNvPr id="174" name="Shape 12">
            <a:extLst>
              <a:ext uri="{FF2B5EF4-FFF2-40B4-BE49-F238E27FC236}">
                <a16:creationId xmlns:a16="http://schemas.microsoft.com/office/drawing/2014/main" id="{3540E00B-11E7-E8B0-F9D3-A7B523A6B94D}"/>
              </a:ext>
            </a:extLst>
          </p:cNvPr>
          <p:cNvSpPr/>
          <p:nvPr/>
        </p:nvSpPr>
        <p:spPr>
          <a:xfrm>
            <a:off x="7855992" y="3162344"/>
            <a:ext cx="842356" cy="56083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76" name="Text 13">
            <a:extLst>
              <a:ext uri="{FF2B5EF4-FFF2-40B4-BE49-F238E27FC236}">
                <a16:creationId xmlns:a16="http://schemas.microsoft.com/office/drawing/2014/main" id="{422476D9-995D-287A-21DE-9C05E99F723C}"/>
              </a:ext>
            </a:extLst>
          </p:cNvPr>
          <p:cNvSpPr/>
          <p:nvPr/>
        </p:nvSpPr>
        <p:spPr>
          <a:xfrm>
            <a:off x="7890192" y="3162344"/>
            <a:ext cx="8423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→ P1</a:t>
            </a:r>
            <a:endParaRPr lang="en-US" sz="1200" dirty="0"/>
          </a:p>
        </p:txBody>
      </p:sp>
      <p:sp>
        <p:nvSpPr>
          <p:cNvPr id="180" name="Shape 12">
            <a:extLst>
              <a:ext uri="{FF2B5EF4-FFF2-40B4-BE49-F238E27FC236}">
                <a16:creationId xmlns:a16="http://schemas.microsoft.com/office/drawing/2014/main" id="{19762407-94C3-AF03-9D4D-1F763401D668}"/>
              </a:ext>
            </a:extLst>
          </p:cNvPr>
          <p:cNvSpPr/>
          <p:nvPr/>
        </p:nvSpPr>
        <p:spPr>
          <a:xfrm>
            <a:off x="9181178" y="3162344"/>
            <a:ext cx="842356" cy="56083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82" name="Text 13">
            <a:extLst>
              <a:ext uri="{FF2B5EF4-FFF2-40B4-BE49-F238E27FC236}">
                <a16:creationId xmlns:a16="http://schemas.microsoft.com/office/drawing/2014/main" id="{2D3DBF16-4E27-19D6-C75C-E7CCF013F5E8}"/>
              </a:ext>
            </a:extLst>
          </p:cNvPr>
          <p:cNvSpPr/>
          <p:nvPr/>
        </p:nvSpPr>
        <p:spPr>
          <a:xfrm>
            <a:off x="9181178" y="3162344"/>
            <a:ext cx="8423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→ D</a:t>
            </a:r>
            <a:endParaRPr lang="en-US" sz="1200" dirty="0"/>
          </a:p>
        </p:txBody>
      </p:sp>
      <p:sp>
        <p:nvSpPr>
          <p:cNvPr id="186" name="Shape 18">
            <a:extLst>
              <a:ext uri="{FF2B5EF4-FFF2-40B4-BE49-F238E27FC236}">
                <a16:creationId xmlns:a16="http://schemas.microsoft.com/office/drawing/2014/main" id="{63A1C699-C0F3-0CA7-1382-637A734A43C6}"/>
              </a:ext>
            </a:extLst>
          </p:cNvPr>
          <p:cNvSpPr/>
          <p:nvPr/>
        </p:nvSpPr>
        <p:spPr>
          <a:xfrm>
            <a:off x="10530056" y="3162344"/>
            <a:ext cx="842356" cy="560832"/>
          </a:xfrm>
          <a:prstGeom prst="roundRect">
            <a:avLst>
              <a:gd name="adj" fmla="val 10870"/>
            </a:avLst>
          </a:prstGeom>
          <a:solidFill>
            <a:srgbClr val="EDE3D0"/>
          </a:solidFill>
          <a:ln w="12700">
            <a:solidFill>
              <a:srgbClr val="E0C9A0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88" name="Text 19">
            <a:extLst>
              <a:ext uri="{FF2B5EF4-FFF2-40B4-BE49-F238E27FC236}">
                <a16:creationId xmlns:a16="http://schemas.microsoft.com/office/drawing/2014/main" id="{406AD3C4-2A4F-05E0-57A6-8417213942A3}"/>
              </a:ext>
            </a:extLst>
          </p:cNvPr>
          <p:cNvSpPr/>
          <p:nvPr/>
        </p:nvSpPr>
        <p:spPr>
          <a:xfrm>
            <a:off x="10530056" y="3162344"/>
            <a:ext cx="8423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C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WAIT/charge</a:t>
            </a:r>
            <a:endParaRPr lang="en-US" sz="1200" dirty="0"/>
          </a:p>
        </p:txBody>
      </p:sp>
      <p:sp>
        <p:nvSpPr>
          <p:cNvPr id="192" name="Shape 12">
            <a:extLst>
              <a:ext uri="{FF2B5EF4-FFF2-40B4-BE49-F238E27FC236}">
                <a16:creationId xmlns:a16="http://schemas.microsoft.com/office/drawing/2014/main" id="{BFA3EF68-BF0D-4059-DA52-4D94150887E2}"/>
              </a:ext>
            </a:extLst>
          </p:cNvPr>
          <p:cNvSpPr/>
          <p:nvPr/>
        </p:nvSpPr>
        <p:spPr>
          <a:xfrm>
            <a:off x="7855992" y="4109803"/>
            <a:ext cx="842356" cy="56083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94" name="Text 13">
            <a:extLst>
              <a:ext uri="{FF2B5EF4-FFF2-40B4-BE49-F238E27FC236}">
                <a16:creationId xmlns:a16="http://schemas.microsoft.com/office/drawing/2014/main" id="{1FDC21DB-7110-3F3E-F0E8-DA3F02F82B37}"/>
              </a:ext>
            </a:extLst>
          </p:cNvPr>
          <p:cNvSpPr/>
          <p:nvPr/>
        </p:nvSpPr>
        <p:spPr>
          <a:xfrm>
            <a:off x="7890192" y="4099052"/>
            <a:ext cx="8423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→ P2</a:t>
            </a:r>
            <a:endParaRPr lang="en-US" sz="1200" dirty="0"/>
          </a:p>
        </p:txBody>
      </p:sp>
      <p:sp>
        <p:nvSpPr>
          <p:cNvPr id="198" name="Shape 12">
            <a:extLst>
              <a:ext uri="{FF2B5EF4-FFF2-40B4-BE49-F238E27FC236}">
                <a16:creationId xmlns:a16="http://schemas.microsoft.com/office/drawing/2014/main" id="{4AA8B0CA-3AD5-F26D-DDE1-AEF728F15592}"/>
              </a:ext>
            </a:extLst>
          </p:cNvPr>
          <p:cNvSpPr/>
          <p:nvPr/>
        </p:nvSpPr>
        <p:spPr>
          <a:xfrm>
            <a:off x="9210124" y="4099052"/>
            <a:ext cx="842356" cy="56083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200" name="Text 13">
            <a:extLst>
              <a:ext uri="{FF2B5EF4-FFF2-40B4-BE49-F238E27FC236}">
                <a16:creationId xmlns:a16="http://schemas.microsoft.com/office/drawing/2014/main" id="{7E497BC9-2A5B-E8E6-73A4-5DE9C4F2BBB7}"/>
              </a:ext>
            </a:extLst>
          </p:cNvPr>
          <p:cNvSpPr/>
          <p:nvPr/>
        </p:nvSpPr>
        <p:spPr>
          <a:xfrm>
            <a:off x="9210124" y="4099052"/>
            <a:ext cx="8423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→ P4</a:t>
            </a:r>
            <a:endParaRPr lang="en-US" sz="1200" dirty="0"/>
          </a:p>
        </p:txBody>
      </p:sp>
      <p:cxnSp>
        <p:nvCxnSpPr>
          <p:cNvPr id="204" name="Connecteur droit avec flèche 203">
            <a:extLst>
              <a:ext uri="{FF2B5EF4-FFF2-40B4-BE49-F238E27FC236}">
                <a16:creationId xmlns:a16="http://schemas.microsoft.com/office/drawing/2014/main" id="{C4960F53-EA22-1D14-85B0-4CA7D4B4A972}"/>
              </a:ext>
            </a:extLst>
          </p:cNvPr>
          <p:cNvCxnSpPr>
            <a:stCxn id="12" idx="3"/>
            <a:endCxn id="138" idx="1"/>
          </p:cNvCxnSpPr>
          <p:nvPr/>
        </p:nvCxnSpPr>
        <p:spPr>
          <a:xfrm>
            <a:off x="8698348" y="2447567"/>
            <a:ext cx="48283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5" name="Connecteur droit avec flèche 204">
            <a:extLst>
              <a:ext uri="{FF2B5EF4-FFF2-40B4-BE49-F238E27FC236}">
                <a16:creationId xmlns:a16="http://schemas.microsoft.com/office/drawing/2014/main" id="{22932D1A-0E5C-70B7-931A-34657284AB26}"/>
              </a:ext>
            </a:extLst>
          </p:cNvPr>
          <p:cNvCxnSpPr/>
          <p:nvPr/>
        </p:nvCxnSpPr>
        <p:spPr>
          <a:xfrm>
            <a:off x="10023534" y="2448308"/>
            <a:ext cx="48283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8" name="Connecteur droit avec flèche 217">
            <a:extLst>
              <a:ext uri="{FF2B5EF4-FFF2-40B4-BE49-F238E27FC236}">
                <a16:creationId xmlns:a16="http://schemas.microsoft.com/office/drawing/2014/main" id="{CD1C0F18-278A-4F3C-6A04-ACA368C758B2}"/>
              </a:ext>
            </a:extLst>
          </p:cNvPr>
          <p:cNvCxnSpPr>
            <a:cxnSpLocks/>
            <a:stCxn id="174" idx="3"/>
            <a:endCxn id="180" idx="1"/>
          </p:cNvCxnSpPr>
          <p:nvPr/>
        </p:nvCxnSpPr>
        <p:spPr>
          <a:xfrm>
            <a:off x="8698348" y="3442760"/>
            <a:ext cx="48283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0" name="Connecteur droit avec flèche 219">
            <a:extLst>
              <a:ext uri="{FF2B5EF4-FFF2-40B4-BE49-F238E27FC236}">
                <a16:creationId xmlns:a16="http://schemas.microsoft.com/office/drawing/2014/main" id="{DE29744A-1FE7-AB69-EB27-2AEC185FF5A1}"/>
              </a:ext>
            </a:extLst>
          </p:cNvPr>
          <p:cNvCxnSpPr>
            <a:stCxn id="182" idx="3"/>
            <a:endCxn id="188" idx="1"/>
          </p:cNvCxnSpPr>
          <p:nvPr/>
        </p:nvCxnSpPr>
        <p:spPr>
          <a:xfrm>
            <a:off x="10023534" y="3442760"/>
            <a:ext cx="50652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7" name="Connecteur droit avec flèche 226">
            <a:extLst>
              <a:ext uri="{FF2B5EF4-FFF2-40B4-BE49-F238E27FC236}">
                <a16:creationId xmlns:a16="http://schemas.microsoft.com/office/drawing/2014/main" id="{C493BDE6-DF93-6139-3C67-E14B1E51ACBB}"/>
              </a:ext>
            </a:extLst>
          </p:cNvPr>
          <p:cNvCxnSpPr>
            <a:cxnSpLocks/>
            <a:stCxn id="192" idx="3"/>
            <a:endCxn id="198" idx="1"/>
          </p:cNvCxnSpPr>
          <p:nvPr/>
        </p:nvCxnSpPr>
        <p:spPr>
          <a:xfrm flipV="1">
            <a:off x="8698348" y="4379468"/>
            <a:ext cx="511776" cy="1075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1" name="Connecteur droit avec flèche 230">
            <a:extLst>
              <a:ext uri="{FF2B5EF4-FFF2-40B4-BE49-F238E27FC236}">
                <a16:creationId xmlns:a16="http://schemas.microsoft.com/office/drawing/2014/main" id="{7C34B2D5-19FB-0F8D-0E86-B8F898347B1C}"/>
              </a:ext>
            </a:extLst>
          </p:cNvPr>
          <p:cNvCxnSpPr>
            <a:cxnSpLocks/>
          </p:cNvCxnSpPr>
          <p:nvPr/>
        </p:nvCxnSpPr>
        <p:spPr>
          <a:xfrm>
            <a:off x="10035380" y="4410793"/>
            <a:ext cx="48283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3" name="Connecteur : en angle 232">
            <a:extLst>
              <a:ext uri="{FF2B5EF4-FFF2-40B4-BE49-F238E27FC236}">
                <a16:creationId xmlns:a16="http://schemas.microsoft.com/office/drawing/2014/main" id="{E9F86C19-BCB4-C28C-DDE8-5A0D0CC3FF89}"/>
              </a:ext>
            </a:extLst>
          </p:cNvPr>
          <p:cNvCxnSpPr>
            <a:cxnSpLocks/>
            <a:stCxn id="166" idx="3"/>
            <a:endCxn id="176" idx="1"/>
          </p:cNvCxnSpPr>
          <p:nvPr/>
        </p:nvCxnSpPr>
        <p:spPr>
          <a:xfrm flipH="1">
            <a:off x="7890192" y="2435186"/>
            <a:ext cx="3463608" cy="1007574"/>
          </a:xfrm>
          <a:prstGeom prst="bentConnector5">
            <a:avLst>
              <a:gd name="adj1" fmla="val -6600"/>
              <a:gd name="adj2" fmla="val 50000"/>
              <a:gd name="adj3" fmla="val 106600"/>
            </a:avLst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6" name="Connecteur : en angle 235">
            <a:extLst>
              <a:ext uri="{FF2B5EF4-FFF2-40B4-BE49-F238E27FC236}">
                <a16:creationId xmlns:a16="http://schemas.microsoft.com/office/drawing/2014/main" id="{4D62D7FE-8CA0-C0AC-8CC9-52811CB08932}"/>
              </a:ext>
            </a:extLst>
          </p:cNvPr>
          <p:cNvCxnSpPr>
            <a:cxnSpLocks/>
            <a:stCxn id="186" idx="3"/>
            <a:endCxn id="192" idx="1"/>
          </p:cNvCxnSpPr>
          <p:nvPr/>
        </p:nvCxnSpPr>
        <p:spPr>
          <a:xfrm flipH="1">
            <a:off x="7855992" y="3442760"/>
            <a:ext cx="3516420" cy="947459"/>
          </a:xfrm>
          <a:prstGeom prst="bentConnector5">
            <a:avLst>
              <a:gd name="adj1" fmla="val -6501"/>
              <a:gd name="adj2" fmla="val 50000"/>
              <a:gd name="adj3" fmla="val 106501"/>
            </a:avLst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9" name="Connecteur : en angle 238">
            <a:extLst>
              <a:ext uri="{FF2B5EF4-FFF2-40B4-BE49-F238E27FC236}">
                <a16:creationId xmlns:a16="http://schemas.microsoft.com/office/drawing/2014/main" id="{EE1A587E-2113-09FA-42D5-AA1638373FA3}"/>
              </a:ext>
            </a:extLst>
          </p:cNvPr>
          <p:cNvCxnSpPr>
            <a:stCxn id="94" idx="3"/>
            <a:endCxn id="102" idx="1"/>
          </p:cNvCxnSpPr>
          <p:nvPr/>
        </p:nvCxnSpPr>
        <p:spPr>
          <a:xfrm flipH="1">
            <a:off x="7855992" y="4383576"/>
            <a:ext cx="3516420" cy="932600"/>
          </a:xfrm>
          <a:prstGeom prst="bentConnector5">
            <a:avLst>
              <a:gd name="adj1" fmla="val -6501"/>
              <a:gd name="adj2" fmla="val 50000"/>
              <a:gd name="adj3" fmla="val 106501"/>
            </a:avLst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5" name="Connecteur droit avec flèche 244">
            <a:extLst>
              <a:ext uri="{FF2B5EF4-FFF2-40B4-BE49-F238E27FC236}">
                <a16:creationId xmlns:a16="http://schemas.microsoft.com/office/drawing/2014/main" id="{30F41B7C-7B9F-E9F0-B3E3-C350A617AD2B}"/>
              </a:ext>
            </a:extLst>
          </p:cNvPr>
          <p:cNvCxnSpPr>
            <a:cxnSpLocks/>
            <a:stCxn id="106" idx="3"/>
            <a:endCxn id="114" idx="1"/>
          </p:cNvCxnSpPr>
          <p:nvPr/>
        </p:nvCxnSpPr>
        <p:spPr>
          <a:xfrm>
            <a:off x="8698348" y="5316176"/>
            <a:ext cx="566785" cy="821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75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339"/>
    </mc:Choice>
    <mc:Fallback xmlns="">
      <p:transition advTm="5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" grpId="0" animBg="1"/>
      <p:bldP spid="13" grpId="0" animBg="1"/>
      <p:bldP spid="7" grpId="0" animBg="1"/>
      <p:bldP spid="10" grpId="0" animBg="1"/>
      <p:bldP spid="12" grpId="0" animBg="1"/>
      <p:bldP spid="90" grpId="0" animBg="1"/>
      <p:bldP spid="94" grpId="0" animBg="1"/>
      <p:bldP spid="102" grpId="0" animBg="1"/>
      <p:bldP spid="106" grpId="0" animBg="1"/>
      <p:bldP spid="114" grpId="0" animBg="1"/>
      <p:bldP spid="118" grpId="0" animBg="1"/>
      <p:bldP spid="138" grpId="0" animBg="1"/>
      <p:bldP spid="142" grpId="0" animBg="1"/>
      <p:bldP spid="166" grpId="0" animBg="1"/>
      <p:bldP spid="169" grpId="0" animBg="1"/>
      <p:bldP spid="174" grpId="0" animBg="1"/>
      <p:bldP spid="176" grpId="0" animBg="1"/>
      <p:bldP spid="180" grpId="0" animBg="1"/>
      <p:bldP spid="182" grpId="0" animBg="1"/>
      <p:bldP spid="186" grpId="0" animBg="1"/>
      <p:bldP spid="188" grpId="0" animBg="1"/>
      <p:bldP spid="192" grpId="0" animBg="1"/>
      <p:bldP spid="194" grpId="0" animBg="1"/>
      <p:bldP spid="198" grpId="0" animBg="1"/>
      <p:bldP spid="20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59FBF-1492-A6E2-B497-5F8C92DDD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385FE0-EE59-EE51-3944-7288314EA3DD}"/>
              </a:ext>
            </a:extLst>
          </p:cNvPr>
          <p:cNvSpPr/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258" name="Shape 2">
            <a:extLst>
              <a:ext uri="{FF2B5EF4-FFF2-40B4-BE49-F238E27FC236}">
                <a16:creationId xmlns:a16="http://schemas.microsoft.com/office/drawing/2014/main" id="{EFF9BA2A-4933-F8AC-8B45-69CAE7695E52}"/>
              </a:ext>
            </a:extLst>
          </p:cNvPr>
          <p:cNvSpPr/>
          <p:nvPr/>
        </p:nvSpPr>
        <p:spPr>
          <a:xfrm>
            <a:off x="4735618" y="2104824"/>
            <a:ext cx="7029662" cy="2927975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>
            <a:solidFill>
              <a:srgbClr val="76B900"/>
            </a:solidFill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5D095B-CB06-8132-9F05-5373796FB2D7}"/>
              </a:ext>
            </a:extLst>
          </p:cNvPr>
          <p:cNvSpPr txBox="1"/>
          <p:nvPr/>
        </p:nvSpPr>
        <p:spPr>
          <a:xfrm>
            <a:off x="946780" y="999264"/>
            <a:ext cx="4459398" cy="442674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TN" sz="2000" b="1" dirty="0"/>
              <a:t>Q2 </a:t>
            </a:r>
            <a:r>
              <a:rPr lang="fr-TN" sz="2000" b="1" dirty="0" err="1"/>
              <a:t>Problem</a:t>
            </a:r>
            <a:r>
              <a:rPr lang="fr-TN" sz="2000" b="1" dirty="0"/>
              <a:t> 3 : </a:t>
            </a:r>
            <a:r>
              <a:rPr lang="fr-FR" sz="2000" b="1" dirty="0"/>
              <a:t>L</a:t>
            </a:r>
            <a:r>
              <a:rPr lang="fr-TN" sz="2000" b="1" dirty="0" err="1"/>
              <a:t>oad-dependent</a:t>
            </a:r>
            <a:r>
              <a:rPr lang="fr-TN" sz="2000" b="1" dirty="0"/>
              <a:t> </a:t>
            </a:r>
            <a:r>
              <a:rPr lang="fr-TN" sz="2000" b="1" dirty="0" err="1"/>
              <a:t>routing</a:t>
            </a:r>
            <a:endParaRPr lang="en-US" sz="2000" b="1" dirty="0"/>
          </a:p>
        </p:txBody>
      </p: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901C9F55-08B7-8136-A17E-F8A89C98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8</a:t>
            </a:r>
          </a:p>
        </p:txBody>
      </p:sp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35D13A32-805B-37A3-1CFC-508FC5D40D60}"/>
              </a:ext>
            </a:extLst>
          </p:cNvPr>
          <p:cNvSpPr/>
          <p:nvPr/>
        </p:nvSpPr>
        <p:spPr>
          <a:xfrm>
            <a:off x="2724759" y="94647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18" name="Rectangle: Rounded Corners 47">
            <a:extLst>
              <a:ext uri="{FF2B5EF4-FFF2-40B4-BE49-F238E27FC236}">
                <a16:creationId xmlns:a16="http://schemas.microsoft.com/office/drawing/2014/main" id="{219B423C-39BC-95EE-F86F-41185A8EB612}"/>
              </a:ext>
            </a:extLst>
          </p:cNvPr>
          <p:cNvSpPr/>
          <p:nvPr/>
        </p:nvSpPr>
        <p:spPr>
          <a:xfrm>
            <a:off x="2724759" y="91064"/>
            <a:ext cx="509907" cy="340519"/>
          </a:xfrm>
          <a:prstGeom prst="round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20" name="Rectangle: Rounded Corners 48">
            <a:extLst>
              <a:ext uri="{FF2B5EF4-FFF2-40B4-BE49-F238E27FC236}">
                <a16:creationId xmlns:a16="http://schemas.microsoft.com/office/drawing/2014/main" id="{EB293452-1B0E-BC9B-1C2C-23CB22A2AA3F}"/>
              </a:ext>
            </a:extLst>
          </p:cNvPr>
          <p:cNvSpPr/>
          <p:nvPr/>
        </p:nvSpPr>
        <p:spPr>
          <a:xfrm>
            <a:off x="3989842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2</a:t>
            </a:r>
          </a:p>
        </p:txBody>
      </p:sp>
      <p:sp>
        <p:nvSpPr>
          <p:cNvPr id="22" name="Rectangle: Rounded Corners 49">
            <a:extLst>
              <a:ext uri="{FF2B5EF4-FFF2-40B4-BE49-F238E27FC236}">
                <a16:creationId xmlns:a16="http://schemas.microsoft.com/office/drawing/2014/main" id="{A0ECC50E-9CC5-1E78-B2F9-37053116A0EF}"/>
              </a:ext>
            </a:extLst>
          </p:cNvPr>
          <p:cNvSpPr/>
          <p:nvPr/>
        </p:nvSpPr>
        <p:spPr>
          <a:xfrm>
            <a:off x="5254861" y="89602"/>
            <a:ext cx="509907" cy="340519"/>
          </a:xfrm>
          <a:prstGeom prst="roundRect">
            <a:avLst/>
          </a:prstGeom>
          <a:solidFill>
            <a:srgbClr val="76B9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3</a:t>
            </a:r>
          </a:p>
        </p:txBody>
      </p:sp>
      <p:sp>
        <p:nvSpPr>
          <p:cNvPr id="27" name="Rectangle: Rounded Corners 50">
            <a:extLst>
              <a:ext uri="{FF2B5EF4-FFF2-40B4-BE49-F238E27FC236}">
                <a16:creationId xmlns:a16="http://schemas.microsoft.com/office/drawing/2014/main" id="{1BC93544-75EB-7A7C-CE15-D51A456D8DE9}"/>
              </a:ext>
            </a:extLst>
          </p:cNvPr>
          <p:cNvSpPr/>
          <p:nvPr/>
        </p:nvSpPr>
        <p:spPr>
          <a:xfrm>
            <a:off x="6335017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4</a:t>
            </a:r>
          </a:p>
        </p:txBody>
      </p:sp>
      <p:cxnSp>
        <p:nvCxnSpPr>
          <p:cNvPr id="28" name="Straight Connector 2">
            <a:extLst>
              <a:ext uri="{FF2B5EF4-FFF2-40B4-BE49-F238E27FC236}">
                <a16:creationId xmlns:a16="http://schemas.microsoft.com/office/drawing/2014/main" id="{ACBB97B7-8D98-516F-DDE2-858B639C4F5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-13253" y="259862"/>
            <a:ext cx="2738012" cy="14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6">
            <a:extLst>
              <a:ext uri="{FF2B5EF4-FFF2-40B4-BE49-F238E27FC236}">
                <a16:creationId xmlns:a16="http://schemas.microsoft.com/office/drawing/2014/main" id="{D38A1CAB-9903-A814-4921-0951C8B82655}"/>
              </a:ext>
            </a:extLst>
          </p:cNvPr>
          <p:cNvSpPr txBox="1"/>
          <p:nvPr/>
        </p:nvSpPr>
        <p:spPr>
          <a:xfrm>
            <a:off x="2288150" y="437997"/>
            <a:ext cx="13382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Problem</a:t>
            </a:r>
            <a:r>
              <a:rPr lang="fr-FR" sz="1000" dirty="0"/>
              <a:t> &amp; Domain</a:t>
            </a: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BAFE6C45-DE5B-DFE7-802E-D24FA17E1698}"/>
              </a:ext>
            </a:extLst>
          </p:cNvPr>
          <p:cNvSpPr txBox="1"/>
          <p:nvPr/>
        </p:nvSpPr>
        <p:spPr>
          <a:xfrm>
            <a:off x="5989739" y="446564"/>
            <a:ext cx="11831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Reflections</a:t>
            </a:r>
            <a:endParaRPr lang="fr-FR" sz="1000" dirty="0"/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00075D8F-7B9A-4295-52E0-DDF1F657D97F}"/>
              </a:ext>
            </a:extLst>
          </p:cNvPr>
          <p:cNvSpPr txBox="1"/>
          <p:nvPr/>
        </p:nvSpPr>
        <p:spPr>
          <a:xfrm>
            <a:off x="3626372" y="446564"/>
            <a:ext cx="1083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Design </a:t>
            </a:r>
            <a:r>
              <a:rPr lang="fr-FR" sz="1000" dirty="0" err="1"/>
              <a:t>choices</a:t>
            </a:r>
            <a:r>
              <a:rPr lang="fr-FR" sz="1000" dirty="0"/>
              <a:t> </a:t>
            </a: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E74A7D91-FEE1-841C-1A37-6F4640CFCC84}"/>
              </a:ext>
            </a:extLst>
          </p:cNvPr>
          <p:cNvSpPr txBox="1"/>
          <p:nvPr/>
        </p:nvSpPr>
        <p:spPr>
          <a:xfrm>
            <a:off x="4671553" y="446564"/>
            <a:ext cx="15559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Results</a:t>
            </a:r>
            <a:endParaRPr lang="fr-FR" sz="1000" dirty="0"/>
          </a:p>
        </p:txBody>
      </p:sp>
      <p:cxnSp>
        <p:nvCxnSpPr>
          <p:cNvPr id="43" name="Straight Connector 31">
            <a:extLst>
              <a:ext uri="{FF2B5EF4-FFF2-40B4-BE49-F238E27FC236}">
                <a16:creationId xmlns:a16="http://schemas.microsoft.com/office/drawing/2014/main" id="{D8093AAA-65F4-5869-DF00-7E19B71DA939}"/>
              </a:ext>
            </a:extLst>
          </p:cNvPr>
          <p:cNvCxnSpPr>
            <a:cxnSpLocks/>
          </p:cNvCxnSpPr>
          <p:nvPr/>
        </p:nvCxnSpPr>
        <p:spPr>
          <a:xfrm>
            <a:off x="3234666" y="247256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31">
            <a:extLst>
              <a:ext uri="{FF2B5EF4-FFF2-40B4-BE49-F238E27FC236}">
                <a16:creationId xmlns:a16="http://schemas.microsoft.com/office/drawing/2014/main" id="{5156F9EA-3BBF-107C-C8A5-0B9498045C86}"/>
              </a:ext>
            </a:extLst>
          </p:cNvPr>
          <p:cNvCxnSpPr>
            <a:cxnSpLocks/>
          </p:cNvCxnSpPr>
          <p:nvPr/>
        </p:nvCxnSpPr>
        <p:spPr>
          <a:xfrm>
            <a:off x="4499685" y="259862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31">
            <a:extLst>
              <a:ext uri="{FF2B5EF4-FFF2-40B4-BE49-F238E27FC236}">
                <a16:creationId xmlns:a16="http://schemas.microsoft.com/office/drawing/2014/main" id="{0474F1A7-26E1-AC00-A09C-A37883754282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764768" y="255658"/>
            <a:ext cx="570249" cy="5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hape 2">
            <a:extLst>
              <a:ext uri="{FF2B5EF4-FFF2-40B4-BE49-F238E27FC236}">
                <a16:creationId xmlns:a16="http://schemas.microsoft.com/office/drawing/2014/main" id="{9BED4A6D-BCDA-0DFB-C8AA-A1DC190426B2}"/>
              </a:ext>
            </a:extLst>
          </p:cNvPr>
          <p:cNvSpPr/>
          <p:nvPr/>
        </p:nvSpPr>
        <p:spPr>
          <a:xfrm>
            <a:off x="956662" y="2103972"/>
            <a:ext cx="3543023" cy="294291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>
            <a:solidFill>
              <a:srgbClr val="76B900"/>
            </a:solidFill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252" name="Image 0" descr="img/fig_q2_topology.png">
            <a:extLst>
              <a:ext uri="{FF2B5EF4-FFF2-40B4-BE49-F238E27FC236}">
                <a16:creationId xmlns:a16="http://schemas.microsoft.com/office/drawing/2014/main" id="{932E1EA8-5AC4-823F-E7AF-AC03917D5F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23"/>
          <a:stretch>
            <a:fillRect/>
          </a:stretch>
        </p:blipFill>
        <p:spPr>
          <a:xfrm>
            <a:off x="995705" y="2083107"/>
            <a:ext cx="3546873" cy="2720578"/>
          </a:xfrm>
          <a:prstGeom prst="rect">
            <a:avLst/>
          </a:prstGeom>
        </p:spPr>
      </p:pic>
      <p:sp>
        <p:nvSpPr>
          <p:cNvPr id="254" name="Text 2">
            <a:extLst>
              <a:ext uri="{FF2B5EF4-FFF2-40B4-BE49-F238E27FC236}">
                <a16:creationId xmlns:a16="http://schemas.microsoft.com/office/drawing/2014/main" id="{C64DF10E-0BB1-9326-DDF9-1B3EE8A4A2DF}"/>
              </a:ext>
            </a:extLst>
          </p:cNvPr>
          <p:cNvSpPr/>
          <p:nvPr/>
        </p:nvSpPr>
        <p:spPr>
          <a:xfrm>
            <a:off x="946780" y="1474735"/>
            <a:ext cx="933513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P1, then return to dock. Two ways back: a short muddy edge, or a longer flat detour via W1.</a:t>
            </a:r>
            <a:endParaRPr lang="en-US" sz="1667" dirty="0"/>
          </a:p>
        </p:txBody>
      </p:sp>
      <p:pic>
        <p:nvPicPr>
          <p:cNvPr id="256" name="Image 255">
            <a:extLst>
              <a:ext uri="{FF2B5EF4-FFF2-40B4-BE49-F238E27FC236}">
                <a16:creationId xmlns:a16="http://schemas.microsoft.com/office/drawing/2014/main" id="{5F693653-F087-813D-CD73-EEBCEE4C07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680" y="2234950"/>
            <a:ext cx="4507081" cy="2589599"/>
          </a:xfrm>
          <a:prstGeom prst="rect">
            <a:avLst/>
          </a:prstGeom>
        </p:spPr>
      </p:pic>
      <p:sp>
        <p:nvSpPr>
          <p:cNvPr id="260" name="Text 3">
            <a:extLst>
              <a:ext uri="{FF2B5EF4-FFF2-40B4-BE49-F238E27FC236}">
                <a16:creationId xmlns:a16="http://schemas.microsoft.com/office/drawing/2014/main" id="{08E24954-52BB-5438-A310-0E52B9667C62}"/>
              </a:ext>
            </a:extLst>
          </p:cNvPr>
          <p:cNvSpPr/>
          <p:nvPr/>
        </p:nvSpPr>
        <p:spPr>
          <a:xfrm>
            <a:off x="596539" y="4674081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i="1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— muddy edge vs flat W1 detour (inset).</a:t>
            </a:r>
            <a:endParaRPr lang="en-US" sz="1267" dirty="0"/>
          </a:p>
        </p:txBody>
      </p:sp>
      <p:sp>
        <p:nvSpPr>
          <p:cNvPr id="266" name="Text 6">
            <a:extLst>
              <a:ext uri="{FF2B5EF4-FFF2-40B4-BE49-F238E27FC236}">
                <a16:creationId xmlns:a16="http://schemas.microsoft.com/office/drawing/2014/main" id="{E5F468EC-F53D-F2A3-F3CE-8527889EE84B}"/>
              </a:ext>
            </a:extLst>
          </p:cNvPr>
          <p:cNvSpPr/>
          <p:nvPr/>
        </p:nvSpPr>
        <p:spPr>
          <a:xfrm>
            <a:off x="9794240" y="2294709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clever bit</a:t>
            </a:r>
            <a:endParaRPr lang="en-US" sz="1733" dirty="0"/>
          </a:p>
        </p:txBody>
      </p:sp>
      <p:sp>
        <p:nvSpPr>
          <p:cNvPr id="268" name="Text 7">
            <a:extLst>
              <a:ext uri="{FF2B5EF4-FFF2-40B4-BE49-F238E27FC236}">
                <a16:creationId xmlns:a16="http://schemas.microsoft.com/office/drawing/2014/main" id="{B84964F3-9165-9211-041D-BA976311E722}"/>
              </a:ext>
            </a:extLst>
          </p:cNvPr>
          <p:cNvSpPr/>
          <p:nvPr/>
        </p:nvSpPr>
        <p:spPr>
          <a:xfrm>
            <a:off x="9698841" y="2381927"/>
            <a:ext cx="1922577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spcAft>
                <a:spcPts val="933"/>
              </a:spcAft>
              <a:buSzPct val="100000"/>
              <a:buChar char="•"/>
            </a:pPr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Mud INBOUND while light (load 5).</a:t>
            </a:r>
            <a:endParaRPr lang="en-US" sz="1267" dirty="0"/>
          </a:p>
          <a:p>
            <a:pPr marL="457189" indent="-457189">
              <a:spcAft>
                <a:spcPts val="933"/>
              </a:spcAft>
              <a:buSzPct val="100000"/>
              <a:buChar char="•"/>
            </a:pPr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Harvest → load 10.</a:t>
            </a:r>
            <a:endParaRPr lang="en-US" sz="1267" dirty="0"/>
          </a:p>
          <a:p>
            <a:pPr marL="457189" indent="-457189">
              <a:spcAft>
                <a:spcPts val="933"/>
              </a:spcAft>
              <a:buSzPct val="100000"/>
              <a:buChar char="•"/>
            </a:pPr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Flat detour OUTBOUND now that mud would cost too much.</a:t>
            </a:r>
            <a:endParaRPr lang="en-US" sz="1267" dirty="0"/>
          </a:p>
        </p:txBody>
      </p:sp>
      <p:sp>
        <p:nvSpPr>
          <p:cNvPr id="270" name="Text 4">
            <a:extLst>
              <a:ext uri="{FF2B5EF4-FFF2-40B4-BE49-F238E27FC236}">
                <a16:creationId xmlns:a16="http://schemas.microsoft.com/office/drawing/2014/main" id="{8481E9E4-533A-9A7D-7B35-FA5A4BDF49BC}"/>
              </a:ext>
            </a:extLst>
          </p:cNvPr>
          <p:cNvSpPr/>
          <p:nvPr/>
        </p:nvSpPr>
        <p:spPr>
          <a:xfrm>
            <a:off x="5406178" y="468112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i="1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battery ends at 5.</a:t>
            </a:r>
            <a:endParaRPr lang="en-US" sz="1267" dirty="0"/>
          </a:p>
        </p:txBody>
      </p:sp>
      <p:sp>
        <p:nvSpPr>
          <p:cNvPr id="272" name="Shape 8">
            <a:extLst>
              <a:ext uri="{FF2B5EF4-FFF2-40B4-BE49-F238E27FC236}">
                <a16:creationId xmlns:a16="http://schemas.microsoft.com/office/drawing/2014/main" id="{C611EE6D-0C04-3471-537B-7C7716AABAF9}"/>
              </a:ext>
            </a:extLst>
          </p:cNvPr>
          <p:cNvSpPr/>
          <p:nvPr/>
        </p:nvSpPr>
        <p:spPr>
          <a:xfrm>
            <a:off x="995705" y="5323977"/>
            <a:ext cx="1331068" cy="53070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 sz="2400"/>
          </a:p>
        </p:txBody>
      </p:sp>
      <p:sp>
        <p:nvSpPr>
          <p:cNvPr id="274" name="Text 9">
            <a:extLst>
              <a:ext uri="{FF2B5EF4-FFF2-40B4-BE49-F238E27FC236}">
                <a16:creationId xmlns:a16="http://schemas.microsoft.com/office/drawing/2014/main" id="{7497684E-4D16-A54B-FB27-0FB37B4FF3BC}"/>
              </a:ext>
            </a:extLst>
          </p:cNvPr>
          <p:cNvSpPr/>
          <p:nvPr/>
        </p:nvSpPr>
        <p:spPr>
          <a:xfrm>
            <a:off x="995705" y="5323977"/>
            <a:ext cx="1331068" cy="530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D→P1 (muddy, light)</a:t>
            </a:r>
            <a:endParaRPr lang="en-US" sz="1133" dirty="0"/>
          </a:p>
        </p:txBody>
      </p:sp>
      <p:sp>
        <p:nvSpPr>
          <p:cNvPr id="278" name="Shape 11">
            <a:extLst>
              <a:ext uri="{FF2B5EF4-FFF2-40B4-BE49-F238E27FC236}">
                <a16:creationId xmlns:a16="http://schemas.microsoft.com/office/drawing/2014/main" id="{07A5A760-7FDE-D726-C99A-74C04F00A891}"/>
              </a:ext>
            </a:extLst>
          </p:cNvPr>
          <p:cNvSpPr/>
          <p:nvPr/>
        </p:nvSpPr>
        <p:spPr>
          <a:xfrm>
            <a:off x="2987040" y="5320507"/>
            <a:ext cx="1331068" cy="530709"/>
          </a:xfrm>
          <a:prstGeom prst="roundRect">
            <a:avLst>
              <a:gd name="adj" fmla="val 10870"/>
            </a:avLst>
          </a:prstGeom>
          <a:solidFill>
            <a:srgbClr val="76B900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TN" sz="2400"/>
          </a:p>
        </p:txBody>
      </p:sp>
      <p:sp>
        <p:nvSpPr>
          <p:cNvPr id="280" name="Text 12">
            <a:extLst>
              <a:ext uri="{FF2B5EF4-FFF2-40B4-BE49-F238E27FC236}">
                <a16:creationId xmlns:a16="http://schemas.microsoft.com/office/drawing/2014/main" id="{4BE705A7-C8F5-382E-970E-5358B8BCB420}"/>
              </a:ext>
            </a:extLst>
          </p:cNvPr>
          <p:cNvSpPr/>
          <p:nvPr/>
        </p:nvSpPr>
        <p:spPr>
          <a:xfrm>
            <a:off x="2987040" y="5320504"/>
            <a:ext cx="1331068" cy="530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P1</a:t>
            </a:r>
            <a:endParaRPr lang="en-US" sz="1133" dirty="0"/>
          </a:p>
        </p:txBody>
      </p:sp>
      <p:sp>
        <p:nvSpPr>
          <p:cNvPr id="284" name="Shape 14">
            <a:extLst>
              <a:ext uri="{FF2B5EF4-FFF2-40B4-BE49-F238E27FC236}">
                <a16:creationId xmlns:a16="http://schemas.microsoft.com/office/drawing/2014/main" id="{7A9C6309-3B43-C45E-7FDB-03EAFB42365F}"/>
              </a:ext>
            </a:extLst>
          </p:cNvPr>
          <p:cNvSpPr/>
          <p:nvPr/>
        </p:nvSpPr>
        <p:spPr>
          <a:xfrm>
            <a:off x="4978375" y="5320504"/>
            <a:ext cx="1331068" cy="53070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 sz="2400"/>
          </a:p>
        </p:txBody>
      </p:sp>
      <p:sp>
        <p:nvSpPr>
          <p:cNvPr id="286" name="Text 15">
            <a:extLst>
              <a:ext uri="{FF2B5EF4-FFF2-40B4-BE49-F238E27FC236}">
                <a16:creationId xmlns:a16="http://schemas.microsoft.com/office/drawing/2014/main" id="{76FAB59B-56AE-1E8C-61D9-6DCDEAC70F8A}"/>
              </a:ext>
            </a:extLst>
          </p:cNvPr>
          <p:cNvSpPr/>
          <p:nvPr/>
        </p:nvSpPr>
        <p:spPr>
          <a:xfrm>
            <a:off x="4978375" y="5320504"/>
            <a:ext cx="1331068" cy="530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P1→W1 (flat)</a:t>
            </a:r>
            <a:endParaRPr lang="en-US" sz="1133" dirty="0"/>
          </a:p>
        </p:txBody>
      </p:sp>
      <p:sp>
        <p:nvSpPr>
          <p:cNvPr id="290" name="Shape 17">
            <a:extLst>
              <a:ext uri="{FF2B5EF4-FFF2-40B4-BE49-F238E27FC236}">
                <a16:creationId xmlns:a16="http://schemas.microsoft.com/office/drawing/2014/main" id="{5330FB5A-0F1C-C782-017D-E590D4189193}"/>
              </a:ext>
            </a:extLst>
          </p:cNvPr>
          <p:cNvSpPr/>
          <p:nvPr/>
        </p:nvSpPr>
        <p:spPr>
          <a:xfrm>
            <a:off x="6969710" y="5320504"/>
            <a:ext cx="1331068" cy="53070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 sz="2400"/>
          </a:p>
        </p:txBody>
      </p:sp>
      <p:sp>
        <p:nvSpPr>
          <p:cNvPr id="292" name="Text 18">
            <a:extLst>
              <a:ext uri="{FF2B5EF4-FFF2-40B4-BE49-F238E27FC236}">
                <a16:creationId xmlns:a16="http://schemas.microsoft.com/office/drawing/2014/main" id="{97B95F53-223B-943F-C52B-F4078E947B5D}"/>
              </a:ext>
            </a:extLst>
          </p:cNvPr>
          <p:cNvSpPr/>
          <p:nvPr/>
        </p:nvSpPr>
        <p:spPr>
          <a:xfrm>
            <a:off x="6969710" y="5320504"/>
            <a:ext cx="1331068" cy="530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W1→D (flat)</a:t>
            </a:r>
            <a:endParaRPr lang="en-US" sz="1133" dirty="0"/>
          </a:p>
        </p:txBody>
      </p:sp>
      <p:cxnSp>
        <p:nvCxnSpPr>
          <p:cNvPr id="293" name="Connecteur droit avec flèche 292">
            <a:extLst>
              <a:ext uri="{FF2B5EF4-FFF2-40B4-BE49-F238E27FC236}">
                <a16:creationId xmlns:a16="http://schemas.microsoft.com/office/drawing/2014/main" id="{6785FB20-B954-D412-7F88-50A37B340F7D}"/>
              </a:ext>
            </a:extLst>
          </p:cNvPr>
          <p:cNvCxnSpPr>
            <a:cxnSpLocks/>
          </p:cNvCxnSpPr>
          <p:nvPr/>
        </p:nvCxnSpPr>
        <p:spPr>
          <a:xfrm flipV="1">
            <a:off x="2326773" y="5585862"/>
            <a:ext cx="660267" cy="694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7" name="Text 19">
            <a:extLst>
              <a:ext uri="{FF2B5EF4-FFF2-40B4-BE49-F238E27FC236}">
                <a16:creationId xmlns:a16="http://schemas.microsoft.com/office/drawing/2014/main" id="{AFC8B165-B372-337B-97BB-1E9F48A45FC3}"/>
              </a:ext>
            </a:extLst>
          </p:cNvPr>
          <p:cNvSpPr/>
          <p:nvPr/>
        </p:nvSpPr>
        <p:spPr>
          <a:xfrm>
            <a:off x="1084219" y="5953572"/>
            <a:ext cx="762290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the key result:  </a:t>
            </a: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is not chosen by distance , the same muddy edge is worth taking while light and worth avoiding while loaded. Routing and energy are one decision.</a:t>
            </a:r>
            <a:endParaRPr lang="en-US" sz="1400" dirty="0"/>
          </a:p>
        </p:txBody>
      </p:sp>
      <p:cxnSp>
        <p:nvCxnSpPr>
          <p:cNvPr id="308" name="Connecteur droit avec flèche 307">
            <a:extLst>
              <a:ext uri="{FF2B5EF4-FFF2-40B4-BE49-F238E27FC236}">
                <a16:creationId xmlns:a16="http://schemas.microsoft.com/office/drawing/2014/main" id="{C4404DC0-2F32-FFF2-4D85-60C352DD6A5E}"/>
              </a:ext>
            </a:extLst>
          </p:cNvPr>
          <p:cNvCxnSpPr>
            <a:cxnSpLocks/>
            <a:stCxn id="278" idx="3"/>
            <a:endCxn id="284" idx="1"/>
          </p:cNvCxnSpPr>
          <p:nvPr/>
        </p:nvCxnSpPr>
        <p:spPr>
          <a:xfrm flipV="1">
            <a:off x="4318108" y="5585859"/>
            <a:ext cx="660267" cy="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1" name="Connecteur droit avec flèche 310">
            <a:extLst>
              <a:ext uri="{FF2B5EF4-FFF2-40B4-BE49-F238E27FC236}">
                <a16:creationId xmlns:a16="http://schemas.microsoft.com/office/drawing/2014/main" id="{925C75BB-1150-B1D0-7D2B-0C732F2BA733}"/>
              </a:ext>
            </a:extLst>
          </p:cNvPr>
          <p:cNvCxnSpPr>
            <a:cxnSpLocks/>
          </p:cNvCxnSpPr>
          <p:nvPr/>
        </p:nvCxnSpPr>
        <p:spPr>
          <a:xfrm flipV="1">
            <a:off x="6319603" y="5592802"/>
            <a:ext cx="660267" cy="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06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339"/>
    </mc:Choice>
    <mc:Fallback xmlns="">
      <p:transition advTm="5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0" animBg="1"/>
      <p:bldP spid="13" grpId="0" animBg="1"/>
      <p:bldP spid="3" grpId="0" animBg="1"/>
      <p:bldP spid="254" grpId="0" animBg="1"/>
      <p:bldP spid="260" grpId="0" animBg="1"/>
      <p:bldP spid="266" grpId="0" animBg="1"/>
      <p:bldP spid="268" grpId="0" animBg="1"/>
      <p:bldP spid="270" grpId="0" animBg="1"/>
      <p:bldP spid="272" grpId="0" animBg="1"/>
      <p:bldP spid="274" grpId="0" animBg="1"/>
      <p:bldP spid="278" grpId="0" animBg="1"/>
      <p:bldP spid="280" grpId="0" animBg="1"/>
      <p:bldP spid="284" grpId="0" animBg="1"/>
      <p:bldP spid="286" grpId="0" animBg="1"/>
      <p:bldP spid="290" grpId="0" animBg="1"/>
      <p:bldP spid="292" grpId="0" animBg="1"/>
      <p:bldP spid="30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22819-75AB-5244-4C02-66835FE9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E9BADD86-5B85-008C-4C67-AEAD93E7324E}"/>
              </a:ext>
            </a:extLst>
          </p:cNvPr>
          <p:cNvSpPr/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123" name="TextBox 12">
            <a:extLst>
              <a:ext uri="{FF2B5EF4-FFF2-40B4-BE49-F238E27FC236}">
                <a16:creationId xmlns:a16="http://schemas.microsoft.com/office/drawing/2014/main" id="{6B7A5684-A74E-0B7D-BB54-934505263560}"/>
              </a:ext>
            </a:extLst>
          </p:cNvPr>
          <p:cNvSpPr txBox="1"/>
          <p:nvPr/>
        </p:nvSpPr>
        <p:spPr>
          <a:xfrm>
            <a:off x="1099179" y="1068800"/>
            <a:ext cx="4155681" cy="442674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F2A1F"/>
                </a:solidFill>
                <a:ea typeface="Cambria" pitchFamily="34" charset="-122"/>
                <a:cs typeface="Cambria" pitchFamily="34" charset="-120"/>
              </a:rPr>
              <a:t>Every problem behaved as expected</a:t>
            </a:r>
            <a:endParaRPr lang="en-US" sz="2000" dirty="0"/>
          </a:p>
        </p:txBody>
      </p: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648EE009-064D-CA88-A91E-6C1A1E0D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10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DD1EC2C1-D3BE-C618-2212-1DB6FA6355D9}"/>
              </a:ext>
            </a:extLst>
          </p:cNvPr>
          <p:cNvSpPr/>
          <p:nvPr/>
        </p:nvSpPr>
        <p:spPr>
          <a:xfrm>
            <a:off x="978157" y="1674493"/>
            <a:ext cx="10653191" cy="77352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83A58A19-C4CC-0016-48B5-DC55B26FFA97}"/>
              </a:ext>
            </a:extLst>
          </p:cNvPr>
          <p:cNvSpPr/>
          <p:nvPr/>
        </p:nvSpPr>
        <p:spPr>
          <a:xfrm>
            <a:off x="1220275" y="1717466"/>
            <a:ext cx="2844886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ea typeface="Cambria" pitchFamily="34" charset="-122"/>
                <a:cs typeface="Cambria" pitchFamily="34" charset="-120"/>
              </a:rPr>
              <a:t>Q1 P2 — far plots</a:t>
            </a:r>
            <a:endParaRPr lang="en-US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B58B99A3-5358-8D41-9E07-6E45F9D51C66}"/>
              </a:ext>
            </a:extLst>
          </p:cNvPr>
          <p:cNvSpPr/>
          <p:nvPr/>
        </p:nvSpPr>
        <p:spPr>
          <a:xfrm>
            <a:off x="4125691" y="1717466"/>
            <a:ext cx="3571240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1F"/>
                </a:solidFill>
                <a:ea typeface="Calibri" pitchFamily="34" charset="-122"/>
                <a:cs typeface="Calibri" pitchFamily="34" charset="-120"/>
              </a:rPr>
              <a:t>recharge inserted mid-mission</a:t>
            </a:r>
            <a:endParaRPr lang="en-US" dirty="0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24595741-B0C9-8578-FAD7-D5555A95199E}"/>
              </a:ext>
            </a:extLst>
          </p:cNvPr>
          <p:cNvSpPr/>
          <p:nvPr/>
        </p:nvSpPr>
        <p:spPr>
          <a:xfrm>
            <a:off x="7999578" y="1953820"/>
            <a:ext cx="2421180" cy="21486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71EF9ED8-B5EE-3587-D17B-0A0534173588}"/>
              </a:ext>
            </a:extLst>
          </p:cNvPr>
          <p:cNvSpPr/>
          <p:nvPr/>
        </p:nvSpPr>
        <p:spPr>
          <a:xfrm>
            <a:off x="7999578" y="1953820"/>
            <a:ext cx="121059" cy="214867"/>
          </a:xfrm>
          <a:prstGeom prst="roundRect">
            <a:avLst/>
          </a:prstGeom>
          <a:solidFill>
            <a:srgbClr val="76B90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3FC3CA5D-628F-0F46-FD6F-F734923FF660}"/>
              </a:ext>
            </a:extLst>
          </p:cNvPr>
          <p:cNvSpPr/>
          <p:nvPr/>
        </p:nvSpPr>
        <p:spPr>
          <a:xfrm>
            <a:off x="10541817" y="1717466"/>
            <a:ext cx="1150060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ea typeface="Calibri" pitchFamily="34" charset="-122"/>
                <a:cs typeface="Calibri" pitchFamily="34" charset="-120"/>
              </a:rPr>
              <a:t>ends 5</a:t>
            </a:r>
            <a:endParaRPr lang="en-US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0498225D-6495-7765-B103-034B6DDE8925}"/>
              </a:ext>
            </a:extLst>
          </p:cNvPr>
          <p:cNvSpPr/>
          <p:nvPr/>
        </p:nvSpPr>
        <p:spPr>
          <a:xfrm>
            <a:off x="11207641" y="1717466"/>
            <a:ext cx="363177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5F2D"/>
                </a:solidFill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2FF55D9B-9386-E7F3-2CFB-1DBF1F59B3D3}"/>
              </a:ext>
            </a:extLst>
          </p:cNvPr>
          <p:cNvSpPr/>
          <p:nvPr/>
        </p:nvSpPr>
        <p:spPr>
          <a:xfrm>
            <a:off x="978157" y="2555449"/>
            <a:ext cx="10653191" cy="77352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D3A0EB34-F999-7752-D7CF-D12EB94E07FF}"/>
              </a:ext>
            </a:extLst>
          </p:cNvPr>
          <p:cNvSpPr/>
          <p:nvPr/>
        </p:nvSpPr>
        <p:spPr>
          <a:xfrm>
            <a:off x="1220275" y="2598422"/>
            <a:ext cx="2844886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ea typeface="Cambria" pitchFamily="34" charset="-122"/>
                <a:cs typeface="Cambria" pitchFamily="34" charset="-120"/>
              </a:rPr>
              <a:t>Q2 P1 — all flat</a:t>
            </a:r>
            <a:endParaRPr lang="en-US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C0F6070C-AB4A-5F57-C335-7CA9C43E9D16}"/>
              </a:ext>
            </a:extLst>
          </p:cNvPr>
          <p:cNvSpPr/>
          <p:nvPr/>
        </p:nvSpPr>
        <p:spPr>
          <a:xfrm>
            <a:off x="4125691" y="2598422"/>
            <a:ext cx="3571240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1F"/>
                </a:solidFill>
                <a:ea typeface="Calibri" pitchFamily="34" charset="-122"/>
                <a:cs typeface="Calibri" pitchFamily="34" charset="-120"/>
              </a:rPr>
              <a:t>feasible on one charge</a:t>
            </a:r>
            <a:endParaRPr lang="en-US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23616B22-842E-9CD0-32F6-3A865868C9F3}"/>
              </a:ext>
            </a:extLst>
          </p:cNvPr>
          <p:cNvSpPr/>
          <p:nvPr/>
        </p:nvSpPr>
        <p:spPr>
          <a:xfrm>
            <a:off x="7999578" y="2834776"/>
            <a:ext cx="2421180" cy="21486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47D2A985-CC97-FF9E-4208-6AAA77BC59F7}"/>
              </a:ext>
            </a:extLst>
          </p:cNvPr>
          <p:cNvSpPr/>
          <p:nvPr/>
        </p:nvSpPr>
        <p:spPr>
          <a:xfrm>
            <a:off x="7999578" y="2834776"/>
            <a:ext cx="1089531" cy="214867"/>
          </a:xfrm>
          <a:prstGeom prst="roundRect">
            <a:avLst/>
          </a:prstGeom>
          <a:solidFill>
            <a:srgbClr val="76B900"/>
          </a:solidFill>
          <a:ln/>
        </p:spPr>
        <p:txBody>
          <a:bodyPr/>
          <a:lstStyle/>
          <a:p>
            <a:endParaRPr lang="fr-TN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2F42E97C-EE6D-C730-BC1C-9AA3153B3B8D}"/>
              </a:ext>
            </a:extLst>
          </p:cNvPr>
          <p:cNvSpPr/>
          <p:nvPr/>
        </p:nvSpPr>
        <p:spPr>
          <a:xfrm>
            <a:off x="10541817" y="2598422"/>
            <a:ext cx="1150060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ea typeface="Calibri" pitchFamily="34" charset="-122"/>
                <a:cs typeface="Calibri" pitchFamily="34" charset="-120"/>
              </a:rPr>
              <a:t>ends 45</a:t>
            </a:r>
            <a:endParaRPr lang="en-US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52B9A52C-8595-BAD5-B47A-4E6310C70F45}"/>
              </a:ext>
            </a:extLst>
          </p:cNvPr>
          <p:cNvSpPr/>
          <p:nvPr/>
        </p:nvSpPr>
        <p:spPr>
          <a:xfrm>
            <a:off x="11207641" y="2598422"/>
            <a:ext cx="363177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5F2D"/>
                </a:solidFill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148C3660-5F23-870E-E69B-40D17F1DE59F}"/>
              </a:ext>
            </a:extLst>
          </p:cNvPr>
          <p:cNvSpPr/>
          <p:nvPr/>
        </p:nvSpPr>
        <p:spPr>
          <a:xfrm>
            <a:off x="978157" y="3436404"/>
            <a:ext cx="10653191" cy="77352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89E56052-50CA-C9C2-5B21-F276140CC279}"/>
              </a:ext>
            </a:extLst>
          </p:cNvPr>
          <p:cNvSpPr/>
          <p:nvPr/>
        </p:nvSpPr>
        <p:spPr>
          <a:xfrm>
            <a:off x="1220275" y="3479378"/>
            <a:ext cx="2844886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ea typeface="Cambria" pitchFamily="34" charset="-122"/>
                <a:cs typeface="Cambria" pitchFamily="34" charset="-120"/>
              </a:rPr>
              <a:t>Q2 P2 — muddy</a:t>
            </a:r>
            <a:endParaRPr lang="en-US" dirty="0"/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B940F8F6-6ED1-01FD-F292-C407590C5CB1}"/>
              </a:ext>
            </a:extLst>
          </p:cNvPr>
          <p:cNvSpPr/>
          <p:nvPr/>
        </p:nvSpPr>
        <p:spPr>
          <a:xfrm>
            <a:off x="4125691" y="3479378"/>
            <a:ext cx="3571240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1F"/>
                </a:solidFill>
                <a:ea typeface="Calibri" pitchFamily="34" charset="-122"/>
                <a:cs typeface="Calibri" pitchFamily="34" charset="-120"/>
              </a:rPr>
              <a:t>dock wait, then finishes</a:t>
            </a:r>
            <a:endParaRPr lang="en-US" dirty="0"/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79F44368-E382-8C84-6551-D52A7DE9E1AC}"/>
              </a:ext>
            </a:extLst>
          </p:cNvPr>
          <p:cNvSpPr/>
          <p:nvPr/>
        </p:nvSpPr>
        <p:spPr>
          <a:xfrm>
            <a:off x="7999578" y="3715731"/>
            <a:ext cx="2421180" cy="21486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4B7F8402-BEF2-D93F-80F8-5CC88E13C630}"/>
              </a:ext>
            </a:extLst>
          </p:cNvPr>
          <p:cNvSpPr/>
          <p:nvPr/>
        </p:nvSpPr>
        <p:spPr>
          <a:xfrm>
            <a:off x="7999578" y="3715731"/>
            <a:ext cx="121059" cy="214867"/>
          </a:xfrm>
          <a:prstGeom prst="roundRect">
            <a:avLst/>
          </a:prstGeom>
          <a:solidFill>
            <a:srgbClr val="76B90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1A8C183F-1223-A43A-F4B7-72031F77445C}"/>
              </a:ext>
            </a:extLst>
          </p:cNvPr>
          <p:cNvSpPr/>
          <p:nvPr/>
        </p:nvSpPr>
        <p:spPr>
          <a:xfrm>
            <a:off x="10541817" y="3479378"/>
            <a:ext cx="1150060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ea typeface="Calibri" pitchFamily="34" charset="-122"/>
                <a:cs typeface="Calibri" pitchFamily="34" charset="-120"/>
              </a:rPr>
              <a:t>ends 5</a:t>
            </a:r>
            <a:endParaRPr lang="en-US" dirty="0"/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759F4708-A7D9-F444-E030-898032BB8626}"/>
              </a:ext>
            </a:extLst>
          </p:cNvPr>
          <p:cNvSpPr/>
          <p:nvPr/>
        </p:nvSpPr>
        <p:spPr>
          <a:xfrm>
            <a:off x="11207641" y="3479378"/>
            <a:ext cx="363177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5F2D"/>
                </a:solidFill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66" name="Shape 23">
            <a:extLst>
              <a:ext uri="{FF2B5EF4-FFF2-40B4-BE49-F238E27FC236}">
                <a16:creationId xmlns:a16="http://schemas.microsoft.com/office/drawing/2014/main" id="{96E63ADE-340A-027F-B6AE-66E924F78D8F}"/>
              </a:ext>
            </a:extLst>
          </p:cNvPr>
          <p:cNvSpPr/>
          <p:nvPr/>
        </p:nvSpPr>
        <p:spPr>
          <a:xfrm>
            <a:off x="978157" y="4317360"/>
            <a:ext cx="10653191" cy="77352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82A99B44-C39A-C790-44FA-B298D6475A99}"/>
              </a:ext>
            </a:extLst>
          </p:cNvPr>
          <p:cNvSpPr/>
          <p:nvPr/>
        </p:nvSpPr>
        <p:spPr>
          <a:xfrm>
            <a:off x="1220275" y="4360333"/>
            <a:ext cx="2844886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ea typeface="Cambria" pitchFamily="34" charset="-122"/>
                <a:cs typeface="Cambria" pitchFamily="34" charset="-120"/>
              </a:rPr>
              <a:t>Q2 P3 — routing</a:t>
            </a:r>
            <a:endParaRPr lang="en-US" dirty="0"/>
          </a:p>
        </p:txBody>
      </p:sp>
      <p:sp>
        <p:nvSpPr>
          <p:cNvPr id="70" name="Text 25">
            <a:extLst>
              <a:ext uri="{FF2B5EF4-FFF2-40B4-BE49-F238E27FC236}">
                <a16:creationId xmlns:a16="http://schemas.microsoft.com/office/drawing/2014/main" id="{35ACF589-784C-CF46-E38D-21511C49CA6C}"/>
              </a:ext>
            </a:extLst>
          </p:cNvPr>
          <p:cNvSpPr/>
          <p:nvPr/>
        </p:nvSpPr>
        <p:spPr>
          <a:xfrm>
            <a:off x="4125691" y="4360333"/>
            <a:ext cx="3571240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1F"/>
                </a:solidFill>
                <a:ea typeface="Calibri" pitchFamily="34" charset="-122"/>
                <a:cs typeface="Calibri" pitchFamily="34" charset="-120"/>
              </a:rPr>
              <a:t>mud in (light), detour out</a:t>
            </a:r>
            <a:endParaRPr lang="en-US" dirty="0"/>
          </a:p>
        </p:txBody>
      </p:sp>
      <p:sp>
        <p:nvSpPr>
          <p:cNvPr id="73" name="Shape 26">
            <a:extLst>
              <a:ext uri="{FF2B5EF4-FFF2-40B4-BE49-F238E27FC236}">
                <a16:creationId xmlns:a16="http://schemas.microsoft.com/office/drawing/2014/main" id="{18E6B7F4-852C-5CB3-A71D-5529DD3054BB}"/>
              </a:ext>
            </a:extLst>
          </p:cNvPr>
          <p:cNvSpPr/>
          <p:nvPr/>
        </p:nvSpPr>
        <p:spPr>
          <a:xfrm>
            <a:off x="7999578" y="4596687"/>
            <a:ext cx="2421180" cy="21486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D8DEC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6" name="Shape 27">
            <a:extLst>
              <a:ext uri="{FF2B5EF4-FFF2-40B4-BE49-F238E27FC236}">
                <a16:creationId xmlns:a16="http://schemas.microsoft.com/office/drawing/2014/main" id="{483A9271-A8DC-08B1-CBCA-2233341A0360}"/>
              </a:ext>
            </a:extLst>
          </p:cNvPr>
          <p:cNvSpPr/>
          <p:nvPr/>
        </p:nvSpPr>
        <p:spPr>
          <a:xfrm>
            <a:off x="7999578" y="4596687"/>
            <a:ext cx="121059" cy="214867"/>
          </a:xfrm>
          <a:prstGeom prst="roundRect">
            <a:avLst/>
          </a:prstGeom>
          <a:solidFill>
            <a:srgbClr val="76B90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0" name="Text 28">
            <a:extLst>
              <a:ext uri="{FF2B5EF4-FFF2-40B4-BE49-F238E27FC236}">
                <a16:creationId xmlns:a16="http://schemas.microsoft.com/office/drawing/2014/main" id="{76D8A60A-A8E5-BB5F-A596-6BCA8B132E72}"/>
              </a:ext>
            </a:extLst>
          </p:cNvPr>
          <p:cNvSpPr/>
          <p:nvPr/>
        </p:nvSpPr>
        <p:spPr>
          <a:xfrm>
            <a:off x="10541817" y="4360333"/>
            <a:ext cx="1150060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ea typeface="Calibri" pitchFamily="34" charset="-122"/>
                <a:cs typeface="Calibri" pitchFamily="34" charset="-120"/>
              </a:rPr>
              <a:t>ends 5</a:t>
            </a:r>
            <a:endParaRPr lang="en-US" dirty="0"/>
          </a:p>
        </p:txBody>
      </p:sp>
      <p:sp>
        <p:nvSpPr>
          <p:cNvPr id="84" name="Text 29">
            <a:extLst>
              <a:ext uri="{FF2B5EF4-FFF2-40B4-BE49-F238E27FC236}">
                <a16:creationId xmlns:a16="http://schemas.microsoft.com/office/drawing/2014/main" id="{6EC77CCB-DEDA-527D-9B7C-2F94FC2A4CB2}"/>
              </a:ext>
            </a:extLst>
          </p:cNvPr>
          <p:cNvSpPr/>
          <p:nvPr/>
        </p:nvSpPr>
        <p:spPr>
          <a:xfrm>
            <a:off x="11207641" y="4360333"/>
            <a:ext cx="363177" cy="68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5F2D"/>
                </a:solidFill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86" name="Text 30">
            <a:extLst>
              <a:ext uri="{FF2B5EF4-FFF2-40B4-BE49-F238E27FC236}">
                <a16:creationId xmlns:a16="http://schemas.microsoft.com/office/drawing/2014/main" id="{725038E4-1FDC-72F6-B0CD-8D70EFCC0C6E}"/>
              </a:ext>
            </a:extLst>
          </p:cNvPr>
          <p:cNvSpPr/>
          <p:nvPr/>
        </p:nvSpPr>
        <p:spPr>
          <a:xfrm>
            <a:off x="978157" y="5252032"/>
            <a:ext cx="10653191" cy="53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ea typeface="Calibri" pitchFamily="34" charset="-122"/>
                <a:cs typeface="Calibri" pitchFamily="34" charset="-120"/>
              </a:rPr>
              <a:t>Both Q1 plans validated with VAL; every continuous run matched the hand-computed energy trace.  Bars show end-of-mission battery — three of four land near empty, by design.</a:t>
            </a:r>
            <a:endParaRPr lang="en-US" dirty="0"/>
          </a:p>
        </p:txBody>
      </p:sp>
      <p:sp>
        <p:nvSpPr>
          <p:cNvPr id="132" name="Rectangle: Rounded Corners 5">
            <a:extLst>
              <a:ext uri="{FF2B5EF4-FFF2-40B4-BE49-F238E27FC236}">
                <a16:creationId xmlns:a16="http://schemas.microsoft.com/office/drawing/2014/main" id="{B7C6C98C-F0D8-95BF-9E98-958B1CF4690F}"/>
              </a:ext>
            </a:extLst>
          </p:cNvPr>
          <p:cNvSpPr/>
          <p:nvPr/>
        </p:nvSpPr>
        <p:spPr>
          <a:xfrm>
            <a:off x="2724759" y="94647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133" name="Rectangle: Rounded Corners 47">
            <a:extLst>
              <a:ext uri="{FF2B5EF4-FFF2-40B4-BE49-F238E27FC236}">
                <a16:creationId xmlns:a16="http://schemas.microsoft.com/office/drawing/2014/main" id="{9A29933E-5041-9847-B7E7-6ACAE0784286}"/>
              </a:ext>
            </a:extLst>
          </p:cNvPr>
          <p:cNvSpPr/>
          <p:nvPr/>
        </p:nvSpPr>
        <p:spPr>
          <a:xfrm>
            <a:off x="2724759" y="91064"/>
            <a:ext cx="509907" cy="340519"/>
          </a:xfrm>
          <a:prstGeom prst="round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134" name="Rectangle: Rounded Corners 48">
            <a:extLst>
              <a:ext uri="{FF2B5EF4-FFF2-40B4-BE49-F238E27FC236}">
                <a16:creationId xmlns:a16="http://schemas.microsoft.com/office/drawing/2014/main" id="{AEA75289-CEFA-1911-D44E-FA6681D08E6D}"/>
              </a:ext>
            </a:extLst>
          </p:cNvPr>
          <p:cNvSpPr/>
          <p:nvPr/>
        </p:nvSpPr>
        <p:spPr>
          <a:xfrm>
            <a:off x="3989842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2</a:t>
            </a:r>
          </a:p>
        </p:txBody>
      </p:sp>
      <p:sp>
        <p:nvSpPr>
          <p:cNvPr id="135" name="Rectangle: Rounded Corners 49">
            <a:extLst>
              <a:ext uri="{FF2B5EF4-FFF2-40B4-BE49-F238E27FC236}">
                <a16:creationId xmlns:a16="http://schemas.microsoft.com/office/drawing/2014/main" id="{BD8C8636-A1AA-7A48-6364-81A4815F4773}"/>
              </a:ext>
            </a:extLst>
          </p:cNvPr>
          <p:cNvSpPr/>
          <p:nvPr/>
        </p:nvSpPr>
        <p:spPr>
          <a:xfrm>
            <a:off x="5254861" y="89602"/>
            <a:ext cx="509907" cy="340519"/>
          </a:xfrm>
          <a:prstGeom prst="roundRect">
            <a:avLst/>
          </a:prstGeom>
          <a:solidFill>
            <a:srgbClr val="76B9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3</a:t>
            </a:r>
          </a:p>
        </p:txBody>
      </p:sp>
      <p:sp>
        <p:nvSpPr>
          <p:cNvPr id="136" name="Rectangle: Rounded Corners 50">
            <a:extLst>
              <a:ext uri="{FF2B5EF4-FFF2-40B4-BE49-F238E27FC236}">
                <a16:creationId xmlns:a16="http://schemas.microsoft.com/office/drawing/2014/main" id="{04CA5E41-290D-827C-FBD6-4BB5EB8828F9}"/>
              </a:ext>
            </a:extLst>
          </p:cNvPr>
          <p:cNvSpPr/>
          <p:nvPr/>
        </p:nvSpPr>
        <p:spPr>
          <a:xfrm>
            <a:off x="6335017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4</a:t>
            </a:r>
          </a:p>
        </p:txBody>
      </p:sp>
      <p:cxnSp>
        <p:nvCxnSpPr>
          <p:cNvPr id="138" name="Straight Connector 2">
            <a:extLst>
              <a:ext uri="{FF2B5EF4-FFF2-40B4-BE49-F238E27FC236}">
                <a16:creationId xmlns:a16="http://schemas.microsoft.com/office/drawing/2014/main" id="{F905765C-DD56-F969-E55C-AB8C88D49983}"/>
              </a:ext>
            </a:extLst>
          </p:cNvPr>
          <p:cNvCxnSpPr>
            <a:cxnSpLocks/>
            <a:endCxn id="133" idx="1"/>
          </p:cNvCxnSpPr>
          <p:nvPr/>
        </p:nvCxnSpPr>
        <p:spPr>
          <a:xfrm>
            <a:off x="-13253" y="259862"/>
            <a:ext cx="2738012" cy="14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TextBox 6">
            <a:extLst>
              <a:ext uri="{FF2B5EF4-FFF2-40B4-BE49-F238E27FC236}">
                <a16:creationId xmlns:a16="http://schemas.microsoft.com/office/drawing/2014/main" id="{82CF771E-29A4-4FF1-EF65-867F5ECD7B7E}"/>
              </a:ext>
            </a:extLst>
          </p:cNvPr>
          <p:cNvSpPr txBox="1"/>
          <p:nvPr/>
        </p:nvSpPr>
        <p:spPr>
          <a:xfrm>
            <a:off x="2288150" y="437997"/>
            <a:ext cx="13382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Problem</a:t>
            </a:r>
            <a:r>
              <a:rPr lang="fr-FR" sz="1000" dirty="0"/>
              <a:t> &amp; Domain</a:t>
            </a:r>
          </a:p>
        </p:txBody>
      </p:sp>
      <p:sp>
        <p:nvSpPr>
          <p:cNvPr id="141" name="TextBox 7">
            <a:extLst>
              <a:ext uri="{FF2B5EF4-FFF2-40B4-BE49-F238E27FC236}">
                <a16:creationId xmlns:a16="http://schemas.microsoft.com/office/drawing/2014/main" id="{7056DE30-2F9F-9D24-5EBC-DFFCAE208BF5}"/>
              </a:ext>
            </a:extLst>
          </p:cNvPr>
          <p:cNvSpPr txBox="1"/>
          <p:nvPr/>
        </p:nvSpPr>
        <p:spPr>
          <a:xfrm>
            <a:off x="5989739" y="446564"/>
            <a:ext cx="11831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Reflections</a:t>
            </a:r>
            <a:endParaRPr lang="fr-FR" sz="1000" dirty="0"/>
          </a:p>
        </p:txBody>
      </p:sp>
      <p:sp>
        <p:nvSpPr>
          <p:cNvPr id="142" name="TextBox 11">
            <a:extLst>
              <a:ext uri="{FF2B5EF4-FFF2-40B4-BE49-F238E27FC236}">
                <a16:creationId xmlns:a16="http://schemas.microsoft.com/office/drawing/2014/main" id="{CC294429-BBC3-5489-8551-88FE001D7EC4}"/>
              </a:ext>
            </a:extLst>
          </p:cNvPr>
          <p:cNvSpPr txBox="1"/>
          <p:nvPr/>
        </p:nvSpPr>
        <p:spPr>
          <a:xfrm>
            <a:off x="3626372" y="446564"/>
            <a:ext cx="1083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Design </a:t>
            </a:r>
            <a:r>
              <a:rPr lang="fr-FR" sz="1000" dirty="0" err="1"/>
              <a:t>choices</a:t>
            </a:r>
            <a:r>
              <a:rPr lang="fr-FR" sz="1000" dirty="0"/>
              <a:t> </a:t>
            </a:r>
          </a:p>
        </p:txBody>
      </p:sp>
      <p:sp>
        <p:nvSpPr>
          <p:cNvPr id="144" name="TextBox 13">
            <a:extLst>
              <a:ext uri="{FF2B5EF4-FFF2-40B4-BE49-F238E27FC236}">
                <a16:creationId xmlns:a16="http://schemas.microsoft.com/office/drawing/2014/main" id="{A8115F3F-152F-D82F-2F51-34AC45C68503}"/>
              </a:ext>
            </a:extLst>
          </p:cNvPr>
          <p:cNvSpPr txBox="1"/>
          <p:nvPr/>
        </p:nvSpPr>
        <p:spPr>
          <a:xfrm>
            <a:off x="4671553" y="446564"/>
            <a:ext cx="15559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Results</a:t>
            </a:r>
            <a:endParaRPr lang="fr-FR" sz="1000" dirty="0"/>
          </a:p>
        </p:txBody>
      </p:sp>
      <p:cxnSp>
        <p:nvCxnSpPr>
          <p:cNvPr id="145" name="Straight Connector 31">
            <a:extLst>
              <a:ext uri="{FF2B5EF4-FFF2-40B4-BE49-F238E27FC236}">
                <a16:creationId xmlns:a16="http://schemas.microsoft.com/office/drawing/2014/main" id="{527253F0-A1DF-2ED3-D456-97D90AEA58F4}"/>
              </a:ext>
            </a:extLst>
          </p:cNvPr>
          <p:cNvCxnSpPr>
            <a:cxnSpLocks/>
          </p:cNvCxnSpPr>
          <p:nvPr/>
        </p:nvCxnSpPr>
        <p:spPr>
          <a:xfrm>
            <a:off x="3234666" y="247256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31">
            <a:extLst>
              <a:ext uri="{FF2B5EF4-FFF2-40B4-BE49-F238E27FC236}">
                <a16:creationId xmlns:a16="http://schemas.microsoft.com/office/drawing/2014/main" id="{A06357F4-72C7-964F-08B4-1F932ADF286B}"/>
              </a:ext>
            </a:extLst>
          </p:cNvPr>
          <p:cNvCxnSpPr>
            <a:cxnSpLocks/>
          </p:cNvCxnSpPr>
          <p:nvPr/>
        </p:nvCxnSpPr>
        <p:spPr>
          <a:xfrm>
            <a:off x="4499685" y="259862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31">
            <a:extLst>
              <a:ext uri="{FF2B5EF4-FFF2-40B4-BE49-F238E27FC236}">
                <a16:creationId xmlns:a16="http://schemas.microsoft.com/office/drawing/2014/main" id="{87A6B287-F6E7-09AA-143A-A4C613AB6CE4}"/>
              </a:ext>
            </a:extLst>
          </p:cNvPr>
          <p:cNvCxnSpPr>
            <a:cxnSpLocks/>
            <a:endCxn id="136" idx="1"/>
          </p:cNvCxnSpPr>
          <p:nvPr/>
        </p:nvCxnSpPr>
        <p:spPr>
          <a:xfrm>
            <a:off x="5764768" y="255658"/>
            <a:ext cx="570249" cy="5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0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339"/>
    </mc:Choice>
    <mc:Fallback xmlns="">
      <p:transition advTm="5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  <p:bldP spid="16" grpId="0" animBg="1"/>
      <p:bldP spid="18" grpId="0" animBg="1"/>
      <p:bldP spid="20" grpId="0" animBg="1"/>
      <p:bldP spid="22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6" grpId="0" animBg="1"/>
      <p:bldP spid="38" grpId="0" animBg="1"/>
      <p:bldP spid="40" grpId="0" animBg="1"/>
      <p:bldP spid="42" grpId="0" animBg="1"/>
      <p:bldP spid="44" grpId="0" animBg="1"/>
      <p:bldP spid="46" grpId="0" animBg="1"/>
      <p:bldP spid="54" grpId="0" animBg="1"/>
      <p:bldP spid="56" grpId="0" animBg="1"/>
      <p:bldP spid="58" grpId="0" animBg="1"/>
      <p:bldP spid="60" grpId="0" animBg="1"/>
      <p:bldP spid="62" grpId="0" animBg="1"/>
      <p:bldP spid="64" grpId="0" animBg="1"/>
      <p:bldP spid="66" grpId="0" animBg="1"/>
      <p:bldP spid="68" grpId="0" animBg="1"/>
      <p:bldP spid="70" grpId="0" animBg="1"/>
      <p:bldP spid="73" grpId="0" animBg="1"/>
      <p:bldP spid="76" grpId="0" animBg="1"/>
      <p:bldP spid="80" grpId="0" animBg="1"/>
      <p:bldP spid="84" grpId="0" animBg="1"/>
      <p:bldP spid="8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988B-4FB9-82FF-5857-DA70751D5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DA93C1-49EA-903A-5E3D-6ECB38DCC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4FC847-FF3C-451C-E9E6-C9BD737E8413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REFLECTIONS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1734A-F5DB-D5E7-A40F-2D50149CEE35}"/>
              </a:ext>
            </a:extLst>
          </p:cNvPr>
          <p:cNvSpPr txBox="1"/>
          <p:nvPr/>
        </p:nvSpPr>
        <p:spPr>
          <a:xfrm>
            <a:off x="5565131" y="1851645"/>
            <a:ext cx="1287532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900" dirty="0">
                <a:latin typeface="Bahnschrift SemiBold Condensed" panose="020B0502040204020203" pitchFamily="34" charset="0"/>
              </a:rPr>
              <a:t>4</a:t>
            </a:r>
          </a:p>
        </p:txBody>
      </p:sp>
      <p:sp>
        <p:nvSpPr>
          <p:cNvPr id="11" name="Espace réservé du numéro de diapositive 2">
            <a:extLst>
              <a:ext uri="{FF2B5EF4-FFF2-40B4-BE49-F238E27FC236}">
                <a16:creationId xmlns:a16="http://schemas.microsoft.com/office/drawing/2014/main" id="{1398804B-5A41-962D-5452-613BAAC6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604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7494">
        <p14:flythrough/>
      </p:transition>
    </mc:Choice>
    <mc:Fallback xmlns="">
      <p:transition spd="slow" advTm="749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FFAF-D574-4497-3679-484D2CDE0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A2FB9B-F6D7-9982-AF8A-205907253EE1}"/>
              </a:ext>
            </a:extLst>
          </p:cNvPr>
          <p:cNvSpPr/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52AEABC2-E759-78C2-9AFD-87CA4C55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12</a:t>
            </a:r>
          </a:p>
        </p:txBody>
      </p:sp>
      <p:sp>
        <p:nvSpPr>
          <p:cNvPr id="90" name="Rectangle: Rounded Corners 5">
            <a:extLst>
              <a:ext uri="{FF2B5EF4-FFF2-40B4-BE49-F238E27FC236}">
                <a16:creationId xmlns:a16="http://schemas.microsoft.com/office/drawing/2014/main" id="{34887895-5FBC-EF89-02C7-A418D45844F1}"/>
              </a:ext>
            </a:extLst>
          </p:cNvPr>
          <p:cNvSpPr/>
          <p:nvPr/>
        </p:nvSpPr>
        <p:spPr>
          <a:xfrm>
            <a:off x="2724759" y="94647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92" name="Rectangle: Rounded Corners 47">
            <a:extLst>
              <a:ext uri="{FF2B5EF4-FFF2-40B4-BE49-F238E27FC236}">
                <a16:creationId xmlns:a16="http://schemas.microsoft.com/office/drawing/2014/main" id="{CC4DA7EB-A88D-9304-221A-AED1A059A638}"/>
              </a:ext>
            </a:extLst>
          </p:cNvPr>
          <p:cNvSpPr/>
          <p:nvPr/>
        </p:nvSpPr>
        <p:spPr>
          <a:xfrm>
            <a:off x="2724759" y="91064"/>
            <a:ext cx="509907" cy="340519"/>
          </a:xfrm>
          <a:prstGeom prst="round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Bahnschrift SemiBold Condensed" panose="020B0502040204020203" pitchFamily="34" charset="0"/>
                <a:cs typeface="72 Condensed" panose="020B0506030000000003" pitchFamily="34" charset="0"/>
              </a:rPr>
              <a:t>1</a:t>
            </a:r>
          </a:p>
        </p:txBody>
      </p:sp>
      <p:sp>
        <p:nvSpPr>
          <p:cNvPr id="94" name="Rectangle: Rounded Corners 48">
            <a:extLst>
              <a:ext uri="{FF2B5EF4-FFF2-40B4-BE49-F238E27FC236}">
                <a16:creationId xmlns:a16="http://schemas.microsoft.com/office/drawing/2014/main" id="{7D314D94-C9E3-4E20-340F-E1CD491968C8}"/>
              </a:ext>
            </a:extLst>
          </p:cNvPr>
          <p:cNvSpPr/>
          <p:nvPr/>
        </p:nvSpPr>
        <p:spPr>
          <a:xfrm>
            <a:off x="3989842" y="91064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2</a:t>
            </a:r>
          </a:p>
        </p:txBody>
      </p:sp>
      <p:sp>
        <p:nvSpPr>
          <p:cNvPr id="95" name="Rectangle: Rounded Corners 49">
            <a:extLst>
              <a:ext uri="{FF2B5EF4-FFF2-40B4-BE49-F238E27FC236}">
                <a16:creationId xmlns:a16="http://schemas.microsoft.com/office/drawing/2014/main" id="{470AD702-FCF3-6BE4-B08F-5F3BCC870661}"/>
              </a:ext>
            </a:extLst>
          </p:cNvPr>
          <p:cNvSpPr/>
          <p:nvPr/>
        </p:nvSpPr>
        <p:spPr>
          <a:xfrm>
            <a:off x="5254861" y="89602"/>
            <a:ext cx="509907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3</a:t>
            </a:r>
          </a:p>
        </p:txBody>
      </p:sp>
      <p:sp>
        <p:nvSpPr>
          <p:cNvPr id="96" name="Rectangle: Rounded Corners 50">
            <a:extLst>
              <a:ext uri="{FF2B5EF4-FFF2-40B4-BE49-F238E27FC236}">
                <a16:creationId xmlns:a16="http://schemas.microsoft.com/office/drawing/2014/main" id="{CB08C71F-2341-B0C5-0288-BB5DB7614117}"/>
              </a:ext>
            </a:extLst>
          </p:cNvPr>
          <p:cNvSpPr/>
          <p:nvPr/>
        </p:nvSpPr>
        <p:spPr>
          <a:xfrm>
            <a:off x="6335017" y="91064"/>
            <a:ext cx="509907" cy="340519"/>
          </a:xfrm>
          <a:prstGeom prst="roundRect">
            <a:avLst/>
          </a:prstGeom>
          <a:solidFill>
            <a:srgbClr val="76B9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  <a:cs typeface="72 Condensed" panose="020B0506030000000003" pitchFamily="34" charset="0"/>
              </a:rPr>
              <a:t>4</a:t>
            </a:r>
          </a:p>
        </p:txBody>
      </p:sp>
      <p:cxnSp>
        <p:nvCxnSpPr>
          <p:cNvPr id="98" name="Straight Connector 2">
            <a:extLst>
              <a:ext uri="{FF2B5EF4-FFF2-40B4-BE49-F238E27FC236}">
                <a16:creationId xmlns:a16="http://schemas.microsoft.com/office/drawing/2014/main" id="{E499C7C0-C24C-783A-BDD1-43141CABBE68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-13253" y="259862"/>
            <a:ext cx="2738012" cy="14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6">
            <a:extLst>
              <a:ext uri="{FF2B5EF4-FFF2-40B4-BE49-F238E27FC236}">
                <a16:creationId xmlns:a16="http://schemas.microsoft.com/office/drawing/2014/main" id="{8B87C20C-CC25-3BE7-9876-510ABBD1CA42}"/>
              </a:ext>
            </a:extLst>
          </p:cNvPr>
          <p:cNvSpPr txBox="1"/>
          <p:nvPr/>
        </p:nvSpPr>
        <p:spPr>
          <a:xfrm>
            <a:off x="2288150" y="437997"/>
            <a:ext cx="13382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Problem</a:t>
            </a:r>
            <a:r>
              <a:rPr lang="fr-FR" sz="1000" dirty="0"/>
              <a:t> &amp; Domain</a:t>
            </a:r>
          </a:p>
        </p:txBody>
      </p:sp>
      <p:sp>
        <p:nvSpPr>
          <p:cNvPr id="101" name="TextBox 7">
            <a:extLst>
              <a:ext uri="{FF2B5EF4-FFF2-40B4-BE49-F238E27FC236}">
                <a16:creationId xmlns:a16="http://schemas.microsoft.com/office/drawing/2014/main" id="{C65A1602-0550-91A2-FBF8-D5104D5859CE}"/>
              </a:ext>
            </a:extLst>
          </p:cNvPr>
          <p:cNvSpPr txBox="1"/>
          <p:nvPr/>
        </p:nvSpPr>
        <p:spPr>
          <a:xfrm>
            <a:off x="5989739" y="446564"/>
            <a:ext cx="11831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Reflections</a:t>
            </a:r>
            <a:endParaRPr lang="fr-FR" sz="1000" dirty="0"/>
          </a:p>
        </p:txBody>
      </p:sp>
      <p:sp>
        <p:nvSpPr>
          <p:cNvPr id="102" name="TextBox 11">
            <a:extLst>
              <a:ext uri="{FF2B5EF4-FFF2-40B4-BE49-F238E27FC236}">
                <a16:creationId xmlns:a16="http://schemas.microsoft.com/office/drawing/2014/main" id="{E6A77D8A-8E0C-8CA6-99CA-77AF3EFF030A}"/>
              </a:ext>
            </a:extLst>
          </p:cNvPr>
          <p:cNvSpPr txBox="1"/>
          <p:nvPr/>
        </p:nvSpPr>
        <p:spPr>
          <a:xfrm>
            <a:off x="3626372" y="446564"/>
            <a:ext cx="1083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Design </a:t>
            </a:r>
            <a:r>
              <a:rPr lang="fr-FR" sz="1000" dirty="0" err="1"/>
              <a:t>choices</a:t>
            </a:r>
            <a:r>
              <a:rPr lang="fr-FR" sz="1000" dirty="0"/>
              <a:t> </a:t>
            </a:r>
          </a:p>
        </p:txBody>
      </p:sp>
      <p:sp>
        <p:nvSpPr>
          <p:cNvPr id="104" name="TextBox 13">
            <a:extLst>
              <a:ext uri="{FF2B5EF4-FFF2-40B4-BE49-F238E27FC236}">
                <a16:creationId xmlns:a16="http://schemas.microsoft.com/office/drawing/2014/main" id="{A01EFC73-A633-ED35-9E32-BCB4FD7A0680}"/>
              </a:ext>
            </a:extLst>
          </p:cNvPr>
          <p:cNvSpPr txBox="1"/>
          <p:nvPr/>
        </p:nvSpPr>
        <p:spPr>
          <a:xfrm>
            <a:off x="4671553" y="446564"/>
            <a:ext cx="15559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 err="1"/>
              <a:t>Results</a:t>
            </a:r>
            <a:endParaRPr lang="fr-FR" sz="1000" dirty="0"/>
          </a:p>
        </p:txBody>
      </p:sp>
      <p:cxnSp>
        <p:nvCxnSpPr>
          <p:cNvPr id="106" name="Straight Connector 31">
            <a:extLst>
              <a:ext uri="{FF2B5EF4-FFF2-40B4-BE49-F238E27FC236}">
                <a16:creationId xmlns:a16="http://schemas.microsoft.com/office/drawing/2014/main" id="{60AC269D-B180-5E99-A883-A4FB30C9D9A9}"/>
              </a:ext>
            </a:extLst>
          </p:cNvPr>
          <p:cNvCxnSpPr>
            <a:cxnSpLocks/>
          </p:cNvCxnSpPr>
          <p:nvPr/>
        </p:nvCxnSpPr>
        <p:spPr>
          <a:xfrm>
            <a:off x="3234666" y="247256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31">
            <a:extLst>
              <a:ext uri="{FF2B5EF4-FFF2-40B4-BE49-F238E27FC236}">
                <a16:creationId xmlns:a16="http://schemas.microsoft.com/office/drawing/2014/main" id="{28D4D166-9AFD-AC22-C1CD-EFE1E7A02D7A}"/>
              </a:ext>
            </a:extLst>
          </p:cNvPr>
          <p:cNvCxnSpPr>
            <a:cxnSpLocks/>
          </p:cNvCxnSpPr>
          <p:nvPr/>
        </p:nvCxnSpPr>
        <p:spPr>
          <a:xfrm>
            <a:off x="4499685" y="259862"/>
            <a:ext cx="755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31">
            <a:extLst>
              <a:ext uri="{FF2B5EF4-FFF2-40B4-BE49-F238E27FC236}">
                <a16:creationId xmlns:a16="http://schemas.microsoft.com/office/drawing/2014/main" id="{C8E8BF9C-8426-EBAA-D9B9-5816E08FDF1E}"/>
              </a:ext>
            </a:extLst>
          </p:cNvPr>
          <p:cNvCxnSpPr>
            <a:cxnSpLocks/>
            <a:endCxn id="96" idx="1"/>
          </p:cNvCxnSpPr>
          <p:nvPr/>
        </p:nvCxnSpPr>
        <p:spPr>
          <a:xfrm>
            <a:off x="5764768" y="255658"/>
            <a:ext cx="570249" cy="5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7BC2EEBF-E478-DC40-9985-6EBCE564B0F0}"/>
              </a:ext>
            </a:extLst>
          </p:cNvPr>
          <p:cNvGrpSpPr/>
          <p:nvPr/>
        </p:nvGrpSpPr>
        <p:grpSpPr>
          <a:xfrm>
            <a:off x="1337672" y="2256732"/>
            <a:ext cx="2774174" cy="2491719"/>
            <a:chOff x="1215668" y="2296768"/>
            <a:chExt cx="2774174" cy="2244752"/>
          </a:xfrm>
        </p:grpSpPr>
        <p:sp>
          <p:nvSpPr>
            <p:cNvPr id="28" name="Shape 14">
              <a:extLst>
                <a:ext uri="{FF2B5EF4-FFF2-40B4-BE49-F238E27FC236}">
                  <a16:creationId xmlns:a16="http://schemas.microsoft.com/office/drawing/2014/main" id="{0CDAB7E1-C5AE-55D2-7D61-803BA9FC36A7}"/>
                </a:ext>
              </a:extLst>
            </p:cNvPr>
            <p:cNvSpPr/>
            <p:nvPr/>
          </p:nvSpPr>
          <p:spPr>
            <a:xfrm>
              <a:off x="1215668" y="2296768"/>
              <a:ext cx="2774174" cy="2244752"/>
            </a:xfrm>
            <a:prstGeom prst="roundRect">
              <a:avLst>
                <a:gd name="adj" fmla="val 1449"/>
              </a:avLst>
            </a:prstGeom>
            <a:solidFill>
              <a:srgbClr val="F6F8F2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fr-TN" dirty="0"/>
            </a:p>
          </p:txBody>
        </p:sp>
        <p:sp>
          <p:nvSpPr>
            <p:cNvPr id="30" name="Shape 15">
              <a:extLst>
                <a:ext uri="{FF2B5EF4-FFF2-40B4-BE49-F238E27FC236}">
                  <a16:creationId xmlns:a16="http://schemas.microsoft.com/office/drawing/2014/main" id="{9A3B202A-6D53-3127-CC8D-0AB138262344}"/>
                </a:ext>
              </a:extLst>
            </p:cNvPr>
            <p:cNvSpPr/>
            <p:nvPr/>
          </p:nvSpPr>
          <p:spPr>
            <a:xfrm>
              <a:off x="1215668" y="2296768"/>
              <a:ext cx="2774174" cy="45719"/>
            </a:xfrm>
            <a:prstGeom prst="rect">
              <a:avLst/>
            </a:prstGeom>
            <a:solidFill>
              <a:srgbClr val="76B900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fr-TN"/>
            </a:p>
          </p:txBody>
        </p:sp>
        <p:sp>
          <p:nvSpPr>
            <p:cNvPr id="32" name="Shape 18">
              <a:extLst>
                <a:ext uri="{FF2B5EF4-FFF2-40B4-BE49-F238E27FC236}">
                  <a16:creationId xmlns:a16="http://schemas.microsoft.com/office/drawing/2014/main" id="{73545470-AA1E-1EB2-E022-93FCD6F29CDE}"/>
                </a:ext>
              </a:extLst>
            </p:cNvPr>
            <p:cNvSpPr/>
            <p:nvPr/>
          </p:nvSpPr>
          <p:spPr>
            <a:xfrm>
              <a:off x="1352852" y="2918905"/>
              <a:ext cx="2499805" cy="0"/>
            </a:xfrm>
            <a:prstGeom prst="line">
              <a:avLst/>
            </a:prstGeom>
            <a:noFill/>
            <a:ln w="12700">
              <a:solidFill>
                <a:srgbClr val="E2E2E2"/>
              </a:solidFill>
              <a:prstDash val="solid"/>
            </a:ln>
          </p:spPr>
          <p:txBody>
            <a:bodyPr/>
            <a:lstStyle/>
            <a:p>
              <a:endParaRPr lang="fr-TN"/>
            </a:p>
          </p:txBody>
        </p:sp>
      </p:grpSp>
      <p:sp>
        <p:nvSpPr>
          <p:cNvPr id="34" name="TextBox 7">
            <a:extLst>
              <a:ext uri="{FF2B5EF4-FFF2-40B4-BE49-F238E27FC236}">
                <a16:creationId xmlns:a16="http://schemas.microsoft.com/office/drawing/2014/main" id="{120E4499-0695-5E77-6C98-45B79D57FB29}"/>
              </a:ext>
            </a:extLst>
          </p:cNvPr>
          <p:cNvSpPr txBox="1"/>
          <p:nvPr/>
        </p:nvSpPr>
        <p:spPr>
          <a:xfrm>
            <a:off x="1466079" y="3052739"/>
            <a:ext cx="27836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continuous processes. PDDL+ has no durative actions here, so I used a start/stop + timer pattern to force each task to run its full time.</a:t>
            </a:r>
            <a:endParaRPr lang="fr-FR" sz="1600" dirty="0"/>
          </a:p>
          <a:p>
            <a:endParaRPr lang="fr-FR" sz="1600" dirty="0"/>
          </a:p>
        </p:txBody>
      </p:sp>
      <p:sp>
        <p:nvSpPr>
          <p:cNvPr id="41" name="TextBox 19">
            <a:extLst>
              <a:ext uri="{FF2B5EF4-FFF2-40B4-BE49-F238E27FC236}">
                <a16:creationId xmlns:a16="http://schemas.microsoft.com/office/drawing/2014/main" id="{5AB11985-CB93-8DB0-200C-DD09A9B53F3B}"/>
              </a:ext>
            </a:extLst>
          </p:cNvPr>
          <p:cNvSpPr txBox="1"/>
          <p:nvPr/>
        </p:nvSpPr>
        <p:spPr>
          <a:xfrm>
            <a:off x="1956894" y="2450242"/>
            <a:ext cx="182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6B900"/>
                </a:solidFill>
                <a:ea typeface="Cambria" pitchFamily="34" charset="-122"/>
                <a:cs typeface="Cambria" pitchFamily="34" charset="-120"/>
              </a:rPr>
              <a:t>Hardest part</a:t>
            </a:r>
            <a:endParaRPr lang="en-US" dirty="0">
              <a:solidFill>
                <a:srgbClr val="76B900"/>
              </a:solidFill>
            </a:endParaRP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DFB9BAB3-B38E-6759-8C69-03BBADBC3F0E}"/>
              </a:ext>
            </a:extLst>
          </p:cNvPr>
          <p:cNvSpPr txBox="1"/>
          <p:nvPr/>
        </p:nvSpPr>
        <p:spPr>
          <a:xfrm>
            <a:off x="1099179" y="1068800"/>
            <a:ext cx="4155681" cy="442674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F2A1F"/>
                </a:solidFill>
                <a:ea typeface="Cambria" pitchFamily="34" charset="-122"/>
                <a:cs typeface="Cambria" pitchFamily="34" charset="-120"/>
              </a:rPr>
              <a:t>Challenges, limits, next steps</a:t>
            </a:r>
            <a:endParaRPr lang="en-US" sz="2000" dirty="0"/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67A9665D-08B2-7F42-DD86-1948B484B7DA}"/>
              </a:ext>
            </a:extLst>
          </p:cNvPr>
          <p:cNvGrpSpPr/>
          <p:nvPr/>
        </p:nvGrpSpPr>
        <p:grpSpPr>
          <a:xfrm>
            <a:off x="4947930" y="2256732"/>
            <a:ext cx="2774174" cy="2491719"/>
            <a:chOff x="1215668" y="2296768"/>
            <a:chExt cx="2774174" cy="2244752"/>
          </a:xfrm>
        </p:grpSpPr>
        <p:sp>
          <p:nvSpPr>
            <p:cNvPr id="47" name="Shape 14">
              <a:extLst>
                <a:ext uri="{FF2B5EF4-FFF2-40B4-BE49-F238E27FC236}">
                  <a16:creationId xmlns:a16="http://schemas.microsoft.com/office/drawing/2014/main" id="{97286E3E-764A-181F-E7D1-D852C72BAA71}"/>
                </a:ext>
              </a:extLst>
            </p:cNvPr>
            <p:cNvSpPr/>
            <p:nvPr/>
          </p:nvSpPr>
          <p:spPr>
            <a:xfrm>
              <a:off x="1215668" y="2296768"/>
              <a:ext cx="2774174" cy="2244752"/>
            </a:xfrm>
            <a:prstGeom prst="roundRect">
              <a:avLst>
                <a:gd name="adj" fmla="val 1449"/>
              </a:avLst>
            </a:prstGeom>
            <a:solidFill>
              <a:srgbClr val="F6F8F2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fr-TN" dirty="0"/>
            </a:p>
          </p:txBody>
        </p:sp>
        <p:sp>
          <p:nvSpPr>
            <p:cNvPr id="48" name="Shape 15">
              <a:extLst>
                <a:ext uri="{FF2B5EF4-FFF2-40B4-BE49-F238E27FC236}">
                  <a16:creationId xmlns:a16="http://schemas.microsoft.com/office/drawing/2014/main" id="{5AEBBFE6-80D2-2EFA-8103-62479C13493D}"/>
                </a:ext>
              </a:extLst>
            </p:cNvPr>
            <p:cNvSpPr/>
            <p:nvPr/>
          </p:nvSpPr>
          <p:spPr>
            <a:xfrm>
              <a:off x="1215668" y="2296768"/>
              <a:ext cx="2774174" cy="45719"/>
            </a:xfrm>
            <a:prstGeom prst="rect">
              <a:avLst/>
            </a:prstGeom>
            <a:solidFill>
              <a:srgbClr val="76B900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fr-TN"/>
            </a:p>
          </p:txBody>
        </p:sp>
        <p:sp>
          <p:nvSpPr>
            <p:cNvPr id="49" name="Shape 18">
              <a:extLst>
                <a:ext uri="{FF2B5EF4-FFF2-40B4-BE49-F238E27FC236}">
                  <a16:creationId xmlns:a16="http://schemas.microsoft.com/office/drawing/2014/main" id="{3470CFC9-8D48-F3BD-126C-23B5B1C32A49}"/>
                </a:ext>
              </a:extLst>
            </p:cNvPr>
            <p:cNvSpPr/>
            <p:nvPr/>
          </p:nvSpPr>
          <p:spPr>
            <a:xfrm>
              <a:off x="1352852" y="2918905"/>
              <a:ext cx="2499805" cy="0"/>
            </a:xfrm>
            <a:prstGeom prst="line">
              <a:avLst/>
            </a:prstGeom>
            <a:noFill/>
            <a:ln w="12700">
              <a:solidFill>
                <a:srgbClr val="E2E2E2"/>
              </a:solidFill>
              <a:prstDash val="solid"/>
            </a:ln>
          </p:spPr>
          <p:txBody>
            <a:bodyPr/>
            <a:lstStyle/>
            <a:p>
              <a:endParaRPr lang="fr-TN"/>
            </a:p>
          </p:txBody>
        </p:sp>
      </p:grpSp>
      <p:sp>
        <p:nvSpPr>
          <p:cNvPr id="50" name="TextBox 7">
            <a:extLst>
              <a:ext uri="{FF2B5EF4-FFF2-40B4-BE49-F238E27FC236}">
                <a16:creationId xmlns:a16="http://schemas.microsoft.com/office/drawing/2014/main" id="{67367698-E193-490A-F07C-2E106A7F4B3A}"/>
              </a:ext>
            </a:extLst>
          </p:cNvPr>
          <p:cNvSpPr txBox="1"/>
          <p:nvPr/>
        </p:nvSpPr>
        <p:spPr>
          <a:xfrm>
            <a:off x="5120275" y="3052739"/>
            <a:ext cx="27836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field (5 nodes)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discretized by the planner's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robot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terrain is two fixed rates.</a:t>
            </a:r>
            <a:endParaRPr lang="en-US" sz="1600" dirty="0"/>
          </a:p>
          <a:p>
            <a:endParaRPr lang="fr-FR" sz="1600" dirty="0"/>
          </a:p>
        </p:txBody>
      </p:sp>
      <p:sp>
        <p:nvSpPr>
          <p:cNvPr id="51" name="TextBox 19">
            <a:extLst>
              <a:ext uri="{FF2B5EF4-FFF2-40B4-BE49-F238E27FC236}">
                <a16:creationId xmlns:a16="http://schemas.microsoft.com/office/drawing/2014/main" id="{124FA230-D114-EEC4-7D92-B5A59F5EFD52}"/>
              </a:ext>
            </a:extLst>
          </p:cNvPr>
          <p:cNvSpPr txBox="1"/>
          <p:nvPr/>
        </p:nvSpPr>
        <p:spPr>
          <a:xfrm>
            <a:off x="5567152" y="2450242"/>
            <a:ext cx="182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6B900"/>
                </a:solidFill>
                <a:ea typeface="Cambria" pitchFamily="34" charset="-122"/>
                <a:cs typeface="Cambria" pitchFamily="34" charset="-120"/>
              </a:rPr>
              <a:t>Limitations</a:t>
            </a:r>
            <a:endParaRPr lang="en-US" dirty="0">
              <a:solidFill>
                <a:srgbClr val="76B900"/>
              </a:solidFill>
            </a:endParaRPr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0AEFC1AA-691C-852D-812F-433CA3E41CE6}"/>
              </a:ext>
            </a:extLst>
          </p:cNvPr>
          <p:cNvGrpSpPr/>
          <p:nvPr/>
        </p:nvGrpSpPr>
        <p:grpSpPr>
          <a:xfrm>
            <a:off x="8437699" y="2231219"/>
            <a:ext cx="2774174" cy="2491719"/>
            <a:chOff x="1215668" y="2296768"/>
            <a:chExt cx="2774174" cy="2244752"/>
          </a:xfrm>
        </p:grpSpPr>
        <p:sp>
          <p:nvSpPr>
            <p:cNvPr id="53" name="Shape 14">
              <a:extLst>
                <a:ext uri="{FF2B5EF4-FFF2-40B4-BE49-F238E27FC236}">
                  <a16:creationId xmlns:a16="http://schemas.microsoft.com/office/drawing/2014/main" id="{E3D270C9-C367-9CE3-061E-C31FAF1295F5}"/>
                </a:ext>
              </a:extLst>
            </p:cNvPr>
            <p:cNvSpPr/>
            <p:nvPr/>
          </p:nvSpPr>
          <p:spPr>
            <a:xfrm>
              <a:off x="1215668" y="2296768"/>
              <a:ext cx="2774174" cy="2244752"/>
            </a:xfrm>
            <a:prstGeom prst="roundRect">
              <a:avLst>
                <a:gd name="adj" fmla="val 1449"/>
              </a:avLst>
            </a:prstGeom>
            <a:solidFill>
              <a:srgbClr val="F6F8F2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fr-TN" dirty="0"/>
            </a:p>
          </p:txBody>
        </p:sp>
        <p:sp>
          <p:nvSpPr>
            <p:cNvPr id="55" name="Shape 15">
              <a:extLst>
                <a:ext uri="{FF2B5EF4-FFF2-40B4-BE49-F238E27FC236}">
                  <a16:creationId xmlns:a16="http://schemas.microsoft.com/office/drawing/2014/main" id="{15465A2C-165B-60C0-3396-CE57B7BFBF5A}"/>
                </a:ext>
              </a:extLst>
            </p:cNvPr>
            <p:cNvSpPr/>
            <p:nvPr/>
          </p:nvSpPr>
          <p:spPr>
            <a:xfrm>
              <a:off x="1215668" y="2296768"/>
              <a:ext cx="2774174" cy="45719"/>
            </a:xfrm>
            <a:prstGeom prst="rect">
              <a:avLst/>
            </a:prstGeom>
            <a:solidFill>
              <a:srgbClr val="76B900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fr-TN"/>
            </a:p>
          </p:txBody>
        </p:sp>
        <p:sp>
          <p:nvSpPr>
            <p:cNvPr id="57" name="Shape 18">
              <a:extLst>
                <a:ext uri="{FF2B5EF4-FFF2-40B4-BE49-F238E27FC236}">
                  <a16:creationId xmlns:a16="http://schemas.microsoft.com/office/drawing/2014/main" id="{FE4BFC6F-F6B1-14FD-F44D-B583B19A7372}"/>
                </a:ext>
              </a:extLst>
            </p:cNvPr>
            <p:cNvSpPr/>
            <p:nvPr/>
          </p:nvSpPr>
          <p:spPr>
            <a:xfrm>
              <a:off x="1352852" y="2918905"/>
              <a:ext cx="2499805" cy="0"/>
            </a:xfrm>
            <a:prstGeom prst="line">
              <a:avLst/>
            </a:prstGeom>
            <a:noFill/>
            <a:ln w="12700">
              <a:solidFill>
                <a:srgbClr val="E2E2E2"/>
              </a:solidFill>
              <a:prstDash val="solid"/>
            </a:ln>
          </p:spPr>
          <p:txBody>
            <a:bodyPr/>
            <a:lstStyle/>
            <a:p>
              <a:endParaRPr lang="fr-TN"/>
            </a:p>
          </p:txBody>
        </p:sp>
      </p:grpSp>
      <p:sp>
        <p:nvSpPr>
          <p:cNvPr id="59" name="TextBox 7">
            <a:extLst>
              <a:ext uri="{FF2B5EF4-FFF2-40B4-BE49-F238E27FC236}">
                <a16:creationId xmlns:a16="http://schemas.microsoft.com/office/drawing/2014/main" id="{1ABEFB4C-26C1-2A55-96C3-54F2A265B65B}"/>
              </a:ext>
            </a:extLst>
          </p:cNvPr>
          <p:cNvSpPr txBox="1"/>
          <p:nvPr/>
        </p:nvSpPr>
        <p:spPr>
          <a:xfrm>
            <a:off x="8548740" y="3033597"/>
            <a:ext cx="24998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continuous solar/idle drain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Multiple robots sharing one dock, and a smarter heuristic for larger fields.</a:t>
            </a:r>
            <a:endParaRPr lang="en-US" sz="1600" dirty="0"/>
          </a:p>
          <a:p>
            <a:endParaRPr lang="fr-FR" sz="1600" dirty="0"/>
          </a:p>
        </p:txBody>
      </p:sp>
      <p:sp>
        <p:nvSpPr>
          <p:cNvPr id="61" name="TextBox 19">
            <a:extLst>
              <a:ext uri="{FF2B5EF4-FFF2-40B4-BE49-F238E27FC236}">
                <a16:creationId xmlns:a16="http://schemas.microsoft.com/office/drawing/2014/main" id="{D328BC81-2298-903D-09CF-05AFE01A1441}"/>
              </a:ext>
            </a:extLst>
          </p:cNvPr>
          <p:cNvSpPr txBox="1"/>
          <p:nvPr/>
        </p:nvSpPr>
        <p:spPr>
          <a:xfrm>
            <a:off x="8904724" y="2387664"/>
            <a:ext cx="215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6B900"/>
                </a:solidFill>
                <a:ea typeface="Cambria" pitchFamily="34" charset="-122"/>
                <a:cs typeface="Cambria" pitchFamily="34" charset="-120"/>
              </a:rPr>
              <a:t>What I'd change</a:t>
            </a:r>
            <a:endParaRPr lang="en-US" dirty="0">
              <a:solidFill>
                <a:srgbClr val="76B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12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339"/>
    </mc:Choice>
    <mc:Fallback xmlns="">
      <p:transition advTm="5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1" grpId="0"/>
      <p:bldP spid="43" grpId="0" animBg="1"/>
      <p:bldP spid="50" grpId="0"/>
      <p:bldP spid="51" grpId="0"/>
      <p:bldP spid="59" grpId="0"/>
      <p:bldP spid="6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0A64A06-43CE-B076-8265-0EB8BA384053}"/>
              </a:ext>
            </a:extLst>
          </p:cNvPr>
          <p:cNvSpPr/>
          <p:nvPr/>
        </p:nvSpPr>
        <p:spPr>
          <a:xfrm>
            <a:off x="0" y="447"/>
            <a:ext cx="12192000" cy="6857553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54"/>
            <a:endParaRPr kumimoji="0" lang="en-US" sz="2700" dirty="0">
              <a:solidFill>
                <a:srgbClr val="2F5597"/>
              </a:solidFill>
              <a:latin typeface="Calibri" panose="020F0502020204030204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DAE73CA-91BE-C6CF-AC0F-84527F06F24A}"/>
              </a:ext>
            </a:extLst>
          </p:cNvPr>
          <p:cNvSpPr txBox="1">
            <a:spLocks/>
          </p:cNvSpPr>
          <p:nvPr/>
        </p:nvSpPr>
        <p:spPr>
          <a:xfrm>
            <a:off x="1595176" y="1604297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5400" dirty="0" err="1">
                <a:solidFill>
                  <a:srgbClr val="76B900"/>
                </a:solidFill>
                <a:latin typeface="Bahnschrift SemiBold Condensed" panose="020B0502040204020203" pitchFamily="34" charset="0"/>
                <a:ea typeface="+mn-ea"/>
                <a:cs typeface="+mn-cs"/>
              </a:rPr>
              <a:t>Thank</a:t>
            </a:r>
            <a:r>
              <a:rPr lang="fr-FR" sz="5400" dirty="0">
                <a:solidFill>
                  <a:srgbClr val="76B900"/>
                </a:solidFill>
                <a:latin typeface="Bahnschrift SemiBold Condensed" panose="020B0502040204020203" pitchFamily="34" charset="0"/>
                <a:ea typeface="+mn-ea"/>
                <a:cs typeface="+mn-cs"/>
              </a:rPr>
              <a:t> </a:t>
            </a:r>
            <a:r>
              <a:rPr lang="fr-FR" sz="5400" dirty="0" err="1">
                <a:solidFill>
                  <a:srgbClr val="76B900"/>
                </a:solidFill>
                <a:latin typeface="Bahnschrift SemiBold Condensed" panose="020B0502040204020203" pitchFamily="34" charset="0"/>
                <a:ea typeface="+mn-ea"/>
                <a:cs typeface="+mn-cs"/>
              </a:rPr>
              <a:t>you</a:t>
            </a:r>
            <a:r>
              <a:rPr lang="fr-FR" sz="5400" dirty="0">
                <a:solidFill>
                  <a:srgbClr val="76B900"/>
                </a:solidFill>
                <a:latin typeface="Bahnschrift SemiBold Condensed" panose="020B0502040204020203" pitchFamily="34" charset="0"/>
                <a:ea typeface="+mn-ea"/>
                <a:cs typeface="+mn-cs"/>
              </a:rPr>
              <a:t> for </a:t>
            </a:r>
            <a:r>
              <a:rPr lang="fr-FR" sz="5400" dirty="0" err="1">
                <a:solidFill>
                  <a:srgbClr val="76B900"/>
                </a:solidFill>
                <a:latin typeface="Bahnschrift SemiBold Condensed" panose="020B0502040204020203" pitchFamily="34" charset="0"/>
                <a:ea typeface="+mn-ea"/>
                <a:cs typeface="+mn-cs"/>
              </a:rPr>
              <a:t>your</a:t>
            </a:r>
            <a:r>
              <a:rPr lang="fr-FR" sz="5400" dirty="0">
                <a:solidFill>
                  <a:srgbClr val="76B900"/>
                </a:solidFill>
                <a:latin typeface="Bahnschrift SemiBold Condensed" panose="020B0502040204020203" pitchFamily="34" charset="0"/>
                <a:ea typeface="+mn-ea"/>
                <a:cs typeface="+mn-cs"/>
              </a:rPr>
              <a:t> attention !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58B158-3D9A-C9B1-C69F-D0B725649F3E}"/>
              </a:ext>
            </a:extLst>
          </p:cNvPr>
          <p:cNvCxnSpPr>
            <a:cxnSpLocks/>
          </p:cNvCxnSpPr>
          <p:nvPr/>
        </p:nvCxnSpPr>
        <p:spPr>
          <a:xfrm>
            <a:off x="0" y="276038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53">
            <a:extLst>
              <a:ext uri="{FF2B5EF4-FFF2-40B4-BE49-F238E27FC236}">
                <a16:creationId xmlns:a16="http://schemas.microsoft.com/office/drawing/2014/main" id="{DA56EB73-7171-03F5-963D-10742F3D6DED}"/>
              </a:ext>
            </a:extLst>
          </p:cNvPr>
          <p:cNvSpPr/>
          <p:nvPr/>
        </p:nvSpPr>
        <p:spPr>
          <a:xfrm>
            <a:off x="3614593" y="3429000"/>
            <a:ext cx="3238383" cy="547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400" b="1" i="1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FCAEEE6-13B7-1460-AB10-3CB0394B07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920" y="160429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8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9B73DFC4B5B544799DAC96FC8281CCD" ma:contentTypeVersion="2" ma:contentTypeDescription="Creare un nuovo documento." ma:contentTypeScope="" ma:versionID="595696c5e44f31174200a1b507e7794a">
  <xsd:schema xmlns:xsd="http://www.w3.org/2001/XMLSchema" xmlns:xs="http://www.w3.org/2001/XMLSchema" xmlns:p="http://schemas.microsoft.com/office/2006/metadata/properties" xmlns:ns3="0728565c-1a42-40c4-aa8d-89136335aaae" targetNamespace="http://schemas.microsoft.com/office/2006/metadata/properties" ma:root="true" ma:fieldsID="2011166fcdaef8638c03a4ebdfab4cfe" ns3:_="">
    <xsd:import namespace="0728565c-1a42-40c4-aa8d-89136335aaa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28565c-1a42-40c4-aa8d-89136335aaa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28565c-1a42-40c4-aa8d-89136335aaae" xsi:nil="true"/>
  </documentManagement>
</p:properties>
</file>

<file path=customXml/itemProps1.xml><?xml version="1.0" encoding="utf-8"?>
<ds:datastoreItem xmlns:ds="http://schemas.openxmlformats.org/officeDocument/2006/customXml" ds:itemID="{8F3B559D-A982-4A91-8816-DA53A55B00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28565c-1a42-40c4-aa8d-89136335aa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90B97A-3763-4DA4-B166-7A3D2CB551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13A363-1977-4708-983E-4A63D672EC33}">
  <ds:schemaRefs>
    <ds:schemaRef ds:uri="http://schemas.microsoft.com/office/2006/documentManagement/types"/>
    <ds:schemaRef ds:uri="http://purl.org/dc/terms/"/>
    <ds:schemaRef ds:uri="http://www.w3.org/XML/1998/namespace"/>
    <ds:schemaRef ds:uri="0728565c-1a42-40c4-aa8d-89136335aaae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Energy-Constrained Field Operations</Template>
  <TotalTime>203</TotalTime>
  <Words>1179</Words>
  <Application>Microsoft Office PowerPoint</Application>
  <PresentationFormat>Grand écran</PresentationFormat>
  <Paragraphs>290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7" baseType="lpstr">
      <vt:lpstr>Arial</vt:lpstr>
      <vt:lpstr>Bahnschrift SemiBold Condensed</vt:lpstr>
      <vt:lpstr>Bahnschrift SemiCondensed</vt:lpstr>
      <vt:lpstr>Calibri</vt:lpstr>
      <vt:lpstr>Calibri (Corps)</vt:lpstr>
      <vt:lpstr>Calibri Light</vt:lpstr>
      <vt:lpstr>Cambria</vt:lpstr>
      <vt:lpstr>Consolas</vt:lpstr>
      <vt:lpstr>Courier New</vt:lpstr>
      <vt:lpstr>Georgia</vt:lpstr>
      <vt:lpstr>Route 159 UltraLight</vt:lpstr>
      <vt:lpstr>Thème Office</vt:lpstr>
      <vt:lpstr>Energy-Constrained Field Operations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riadh bahri</dc:creator>
  <cp:lastModifiedBy>riadh bahri</cp:lastModifiedBy>
  <cp:revision>6</cp:revision>
  <dcterms:created xsi:type="dcterms:W3CDTF">2026-06-26T13:23:39Z</dcterms:created>
  <dcterms:modified xsi:type="dcterms:W3CDTF">2026-06-27T09:59:03Z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0x01010089B73DFC4B5B544799DAC96FC8281CCD</vt:lpwstr>
  </property>
</Properties>
</file>